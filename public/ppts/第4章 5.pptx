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  <p:sldMasterId id="2147483672" r:id="rId3"/>
  </p:sldMasterIdLst>
  <p:notesMasterIdLst>
    <p:notesMasterId r:id="rId55"/>
  </p:notesMasterIdLst>
  <p:sldIdLst>
    <p:sldId id="2866" r:id="rId4"/>
    <p:sldId id="2999" r:id="rId5"/>
    <p:sldId id="2870" r:id="rId6"/>
    <p:sldId id="3006" r:id="rId7"/>
    <p:sldId id="3004" r:id="rId8"/>
    <p:sldId id="3005" r:id="rId9"/>
    <p:sldId id="3007" r:id="rId10"/>
    <p:sldId id="3009" r:id="rId11"/>
    <p:sldId id="3010" r:id="rId12"/>
    <p:sldId id="3019" r:id="rId13"/>
    <p:sldId id="3034" r:id="rId14"/>
    <p:sldId id="3035" r:id="rId15"/>
    <p:sldId id="3080" r:id="rId16"/>
    <p:sldId id="3036" r:id="rId17"/>
    <p:sldId id="3037" r:id="rId18"/>
    <p:sldId id="3039" r:id="rId19"/>
    <p:sldId id="3040" r:id="rId20"/>
    <p:sldId id="3041" r:id="rId21"/>
    <p:sldId id="3042" r:id="rId22"/>
    <p:sldId id="3081" r:id="rId23"/>
    <p:sldId id="3082" r:id="rId24"/>
    <p:sldId id="3043" r:id="rId25"/>
    <p:sldId id="3083" r:id="rId26"/>
    <p:sldId id="3044" r:id="rId27"/>
    <p:sldId id="3045" r:id="rId28"/>
    <p:sldId id="3047" r:id="rId29"/>
    <p:sldId id="3046" r:id="rId30"/>
    <p:sldId id="3020" r:id="rId31"/>
    <p:sldId id="3084" r:id="rId32"/>
    <p:sldId id="3026" r:id="rId33"/>
    <p:sldId id="3022" r:id="rId34"/>
    <p:sldId id="3085" r:id="rId35"/>
    <p:sldId id="3086" r:id="rId36"/>
    <p:sldId id="3023" r:id="rId37"/>
    <p:sldId id="3088" r:id="rId38"/>
    <p:sldId id="3033" r:id="rId39"/>
    <p:sldId id="2872" r:id="rId40"/>
    <p:sldId id="2987" r:id="rId41"/>
    <p:sldId id="2922" r:id="rId42"/>
    <p:sldId id="3076" r:id="rId43"/>
    <p:sldId id="2876" r:id="rId44"/>
    <p:sldId id="3087" r:id="rId45"/>
    <p:sldId id="2988" r:id="rId46"/>
    <p:sldId id="2989" r:id="rId47"/>
    <p:sldId id="2990" r:id="rId48"/>
    <p:sldId id="2991" r:id="rId49"/>
    <p:sldId id="3089" r:id="rId50"/>
    <p:sldId id="2992" r:id="rId51"/>
    <p:sldId id="3078" r:id="rId52"/>
    <p:sldId id="2867" r:id="rId53"/>
    <p:sldId id="3090" r:id="rId54"/>
  </p:sldIdLst>
  <p:sldSz cx="12190413" cy="6858000"/>
  <p:notesSz cx="6858000" cy="9144000"/>
  <p:defaultTextStyle>
    <a:defPPr>
      <a:defRPr lang="zh-CN"/>
    </a:defPPr>
    <a:lvl1pPr algn="ctr" rtl="0" eaLnBrk="0" fontAlgn="base" hangingPunct="0">
      <a:spcBef>
        <a:spcPct val="0"/>
      </a:spcBef>
      <a:spcAft>
        <a:spcPct val="0"/>
      </a:spcAft>
      <a:defRPr sz="2800" kern="1200">
        <a:solidFill>
          <a:srgbClr val="FF0000"/>
        </a:solidFill>
        <a:latin typeface="Times New Roman" pitchFamily="18" charset="0"/>
        <a:ea typeface="宋体" charset="-122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800" kern="1200">
        <a:solidFill>
          <a:srgbClr val="FF0000"/>
        </a:solidFill>
        <a:latin typeface="Times New Roman" pitchFamily="18" charset="0"/>
        <a:ea typeface="宋体" charset="-122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800" kern="1200">
        <a:solidFill>
          <a:srgbClr val="FF0000"/>
        </a:solidFill>
        <a:latin typeface="Times New Roman" pitchFamily="18" charset="0"/>
        <a:ea typeface="宋体" charset="-122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800" kern="1200">
        <a:solidFill>
          <a:srgbClr val="FF0000"/>
        </a:solidFill>
        <a:latin typeface="Times New Roman" pitchFamily="18" charset="0"/>
        <a:ea typeface="宋体" charset="-122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800" kern="1200">
        <a:solidFill>
          <a:srgbClr val="FF0000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2800" kern="1200">
        <a:solidFill>
          <a:srgbClr val="FF0000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2800" kern="1200">
        <a:solidFill>
          <a:srgbClr val="FF0000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2800" kern="1200">
        <a:solidFill>
          <a:srgbClr val="FF0000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2800" kern="1200">
        <a:solidFill>
          <a:srgbClr val="FF0000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5F5F5F"/>
    <a:srgbClr val="808080"/>
    <a:srgbClr val="FFFF00"/>
    <a:srgbClr val="FF6600"/>
    <a:srgbClr val="0066CC"/>
    <a:srgbClr val="FF00FF"/>
    <a:srgbClr val="007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7" autoAdjust="0"/>
    <p:restoredTop sz="96872" autoAdjust="0"/>
  </p:normalViewPr>
  <p:slideViewPr>
    <p:cSldViewPr>
      <p:cViewPr>
        <p:scale>
          <a:sx n="90" d="100"/>
          <a:sy n="90" d="100"/>
        </p:scale>
        <p:origin x="-1434" y="-660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6" name="Rectangle 4"/>
          <p:cNvSpPr>
            <a:spLocks noRot="1" noChangeArrowheads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3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817670AF-E10C-49EB-B970-4CFCCC2B54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20675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powerpoint/" TargetMode="External"/><Relationship Id="rId13" Type="http://schemas.openxmlformats.org/officeDocument/2006/relationships/hyperlink" Target="http://www.1ppt.com/jianli/" TargetMode="External"/><Relationship Id="rId18" Type="http://schemas.openxmlformats.org/officeDocument/2006/relationships/hyperlink" Target="http://www.1ppt.com/kejian/meishu/" TargetMode="External"/><Relationship Id="rId3" Type="http://schemas.openxmlformats.org/officeDocument/2006/relationships/hyperlink" Target="http://www.1ppt.com/moban/" TargetMode="External"/><Relationship Id="rId21" Type="http://schemas.openxmlformats.org/officeDocument/2006/relationships/hyperlink" Target="http://www.1ppt.com/kejian/huaxue/" TargetMode="External"/><Relationship Id="rId7" Type="http://schemas.openxmlformats.org/officeDocument/2006/relationships/hyperlink" Target="http://www.1ppt.com/xiazai/" TargetMode="External"/><Relationship Id="rId12" Type="http://schemas.openxmlformats.org/officeDocument/2006/relationships/hyperlink" Target="http://www.1ppt.com/jiaoan/" TargetMode="External"/><Relationship Id="rId17" Type="http://schemas.openxmlformats.org/officeDocument/2006/relationships/hyperlink" Target="http://www.1ppt.com/kejian/yingyu/" TargetMode="External"/><Relationship Id="rId2" Type="http://schemas.openxmlformats.org/officeDocument/2006/relationships/slide" Target="../slides/slide21.xml"/><Relationship Id="rId16" Type="http://schemas.openxmlformats.org/officeDocument/2006/relationships/hyperlink" Target="http://www.1ppt.com/kejian/shuxue/" TargetMode="External"/><Relationship Id="rId20" Type="http://schemas.openxmlformats.org/officeDocument/2006/relationships/hyperlink" Target="http://www.1ppt.com/kejian/wuli/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1ppt.com/tubiao/" TargetMode="External"/><Relationship Id="rId11" Type="http://schemas.openxmlformats.org/officeDocument/2006/relationships/hyperlink" Target="http://www.1ppt.com/shiti/" TargetMode="External"/><Relationship Id="rId24" Type="http://schemas.openxmlformats.org/officeDocument/2006/relationships/hyperlink" Target="http://www.1ppt.com/kejian/lishi/" TargetMode="External"/><Relationship Id="rId5" Type="http://schemas.openxmlformats.org/officeDocument/2006/relationships/hyperlink" Target="http://www.1ppt.com/beijing/" TargetMode="External"/><Relationship Id="rId15" Type="http://schemas.openxmlformats.org/officeDocument/2006/relationships/hyperlink" Target="http://www.1ppt.com/kejian/yuwen/" TargetMode="External"/><Relationship Id="rId23" Type="http://schemas.openxmlformats.org/officeDocument/2006/relationships/hyperlink" Target="http://www.1ppt.com/kejian/dili/" TargetMode="External"/><Relationship Id="rId10" Type="http://schemas.openxmlformats.org/officeDocument/2006/relationships/hyperlink" Target="http://www.1ppt.com/excel/" TargetMode="External"/><Relationship Id="rId19" Type="http://schemas.openxmlformats.org/officeDocument/2006/relationships/hyperlink" Target="http://www.1ppt.com/kejian/kexue/" TargetMode="External"/><Relationship Id="rId4" Type="http://schemas.openxmlformats.org/officeDocument/2006/relationships/hyperlink" Target="http://www.1ppt.com/sucai/" TargetMode="External"/><Relationship Id="rId9" Type="http://schemas.openxmlformats.org/officeDocument/2006/relationships/hyperlink" Target="http://www.1ppt.com/word/" TargetMode="External"/><Relationship Id="rId14" Type="http://schemas.openxmlformats.org/officeDocument/2006/relationships/hyperlink" Target="http://www.1ppt.com/kejian/" TargetMode="External"/><Relationship Id="rId22" Type="http://schemas.openxmlformats.org/officeDocument/2006/relationships/hyperlink" Target="http://www.1ppt.com/kejian/shengwu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模板：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3"/>
              </a:rPr>
              <a:t>www.1ppt.com/moban/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素材：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4"/>
              </a:rPr>
              <a:t>www.1ppt.com/sucai/</a:t>
            </a:r>
            <a:endParaRPr lang="en-US" altLang="zh-CN" sz="1200" dirty="0" smtClean="0">
              <a:solidFill>
                <a:srgbClr val="EEECE1">
                  <a:lumMod val="25000"/>
                </a:srgbClr>
              </a:solidFill>
            </a:endParaRPr>
          </a:p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背景：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5"/>
              </a:rPr>
              <a:t>www.1ppt.com/beijing/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图表：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6"/>
              </a:rPr>
              <a:t>www.1ppt.com/tubiao/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</a:t>
            </a:r>
          </a:p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下载：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7"/>
              </a:rPr>
              <a:t>www.1ppt.com/xiazai/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教程：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8"/>
              </a:rPr>
              <a:t>www.1ppt.com/powerpoint/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</a:t>
            </a:r>
          </a:p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Word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模板：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9"/>
              </a:rPr>
              <a:t>www.1ppt.com/word/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Excel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模板：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0"/>
              </a:rPr>
              <a:t>www.1ppt.com/excel/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试卷下载：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1"/>
              </a:rPr>
              <a:t>www.1ppt.com/shiti/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教案下载：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2"/>
              </a:rPr>
              <a:t>www.1ppt.com/jiaoan/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个人简历：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3"/>
              </a:rPr>
              <a:t>www.1ppt.com/jianli/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4"/>
              </a:rPr>
              <a:t>www.1ppt.com/kejian/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语文课件：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5"/>
              </a:rPr>
              <a:t>www.1ppt.com/kejian/yuwen/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数学课件：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6"/>
              </a:rPr>
              <a:t>www.1ppt.com/kejian/shuxue/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英语课件：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7"/>
              </a:rPr>
              <a:t>www.1ppt.com/kejian/yingyu/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美术课件：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8"/>
              </a:rPr>
              <a:t>www.1ppt.com/kejian/meishu/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科学课件：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9"/>
              </a:rPr>
              <a:t>www.1ppt.com/kejian/kexue/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物理课件：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0"/>
              </a:rPr>
              <a:t>www.1ppt.com/kejian/wuli/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化学课件：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1"/>
              </a:rPr>
              <a:t>www.1ppt.com/kejian/huaxue/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生物课件：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2"/>
              </a:rPr>
              <a:t>www.1ppt.com/kejian/shengwu/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地理课件：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3"/>
              </a:rPr>
              <a:t>www.1ppt.com/kejian/dili/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历史课件：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4"/>
              </a:rPr>
              <a:t>www.1ppt.com/kejian/lishi/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7670AF-E10C-49EB-B970-4CFCCC2B54FE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573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1613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28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743215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44362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161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161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73319764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4500" y="692150"/>
            <a:ext cx="5573713" cy="69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0613" y="692150"/>
            <a:ext cx="5575300" cy="69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347877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79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79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631646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350174" y="1916832"/>
            <a:ext cx="735006" cy="24128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www.1ppt.com/moban/  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素材：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背景：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www.1ppt.com/beijing/   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图表：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www.1ppt.com/xiazai/     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www.1ppt.com/ziliao/      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个人简历：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www.1ppt.com/jianli/     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www.1ppt.com/shiti/        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www.1ppt.com/jiaoan/       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手抄报：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www.1ppt.com/shouchaobao/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语文课件：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www.1ppt.com/kejian/yuwen/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数学课件：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www.1ppt.com/kejian/shuxue/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英语课件：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www.1ppt.com/kejian/yingyu/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美术课件：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www.1ppt.com/kejian/meishu/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科学课件：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www.1ppt.com/kejian/kexue/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物理课件：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www.1ppt.com/kejian/wuli/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化学课件：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www.1ppt.com/kejian/huaxue/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生物课件：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www.1ppt.com/kejian/shengwu/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地理课件：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www.1ppt.com/kejian/dili/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历史课件：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rPr>
              <a:t>www.1ppt.com/kejian/lishi/ </a:t>
            </a:r>
          </a:p>
        </p:txBody>
      </p:sp>
    </p:spTree>
    <p:extLst>
      <p:ext uri="{BB962C8B-B14F-4D97-AF65-F5344CB8AC3E}">
        <p14:creationId xmlns:p14="http://schemas.microsoft.com/office/powerpoint/2010/main" val="2581019875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972319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002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675" y="273050"/>
            <a:ext cx="681513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002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82241437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69162837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102921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21750" y="692150"/>
            <a:ext cx="2824163" cy="21605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692150"/>
            <a:ext cx="8324850" cy="21605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303071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1613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2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009530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121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162096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161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1612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4871756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08613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0613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948678"/>
      </p:ext>
    </p:extLst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79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79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771966"/>
      </p:ext>
    </p:extLst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372446"/>
      </p:ext>
    </p:extLst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924842"/>
      </p:ext>
    </p:extLst>
  </p:cSld>
  <p:clrMapOvr>
    <a:masterClrMapping/>
  </p:clrMapOvr>
  <p:transition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002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675" y="273050"/>
            <a:ext cx="681513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002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38122592"/>
      </p:ext>
    </p:extLst>
  </p:cSld>
  <p:clrMapOvr>
    <a:masterClrMapping/>
  </p:clrMapOvr>
  <p:transition>
    <p:zo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5681598"/>
      </p:ext>
    </p:extLst>
  </p:cSld>
  <p:clrMapOvr>
    <a:masterClrMapping/>
  </p:clrMapOvr>
  <p:transition>
    <p:zo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121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476615"/>
      </p:ext>
    </p:extLst>
  </p:cSld>
  <p:clrMapOvr>
    <a:masterClrMapping/>
  </p:clrMapOvr>
  <p:transition>
    <p:zo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1613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679329"/>
      </p:ext>
    </p:extLst>
  </p:cSld>
  <p:clrMapOvr>
    <a:masterClrMapping/>
  </p:clrMapOvr>
  <p:transition>
    <p:zo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30428"/>
            <a:ext cx="10361851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371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5616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60" y="4406903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60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2041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2" y="1600203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203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404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5638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6123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7582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053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5103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7671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8252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8272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641"/>
            <a:ext cx="2742843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2" y="274641"/>
            <a:ext cx="8025355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997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slide" Target="../slides/slide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slide" Target="../slides/slide37.xml"/><Relationship Id="rId2" Type="http://schemas.openxmlformats.org/officeDocument/2006/relationships/slideLayout" Target="../slideLayouts/slideLayout2.xml"/><Relationship Id="rId16" Type="http://schemas.openxmlformats.org/officeDocument/2006/relationships/slide" Target="../slides/slide1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" Target="../slides/slide4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444500" y="692150"/>
            <a:ext cx="11301413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27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709738"/>
            <a:ext cx="109712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52"/>
          <p:cNvSpPr>
            <a:spLocks noChangeArrowheads="1"/>
          </p:cNvSpPr>
          <p:nvPr userDrawn="1"/>
        </p:nvSpPr>
        <p:spPr bwMode="auto">
          <a:xfrm>
            <a:off x="0" y="0"/>
            <a:ext cx="12190413" cy="549275"/>
          </a:xfrm>
          <a:prstGeom prst="rect">
            <a:avLst/>
          </a:prstGeom>
          <a:gradFill rotWithShape="1">
            <a:gsLst>
              <a:gs pos="0">
                <a:srgbClr val="0070A7"/>
              </a:gs>
              <a:gs pos="50000">
                <a:srgbClr val="2484B3"/>
              </a:gs>
              <a:gs pos="100000">
                <a:srgbClr val="0070A7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9" name="Line 53"/>
          <p:cNvSpPr>
            <a:spLocks noChangeShapeType="1"/>
          </p:cNvSpPr>
          <p:nvPr userDrawn="1"/>
        </p:nvSpPr>
        <p:spPr bwMode="auto">
          <a:xfrm>
            <a:off x="0" y="569913"/>
            <a:ext cx="12190413" cy="0"/>
          </a:xfrm>
          <a:prstGeom prst="line">
            <a:avLst/>
          </a:prstGeom>
          <a:noFill/>
          <a:ln w="19050">
            <a:solidFill>
              <a:srgbClr val="5F5F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0" name="Text Box 54"/>
          <p:cNvSpPr txBox="1">
            <a:spLocks noChangeArrowheads="1"/>
          </p:cNvSpPr>
          <p:nvPr userDrawn="1"/>
        </p:nvSpPr>
        <p:spPr bwMode="auto">
          <a:xfrm>
            <a:off x="5878513" y="115888"/>
            <a:ext cx="5762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/>
            <a:r>
              <a:rPr lang="zh-CN" altLang="en-US" sz="1800">
                <a:solidFill>
                  <a:schemeClr val="bg1"/>
                </a:solidFill>
                <a:ea typeface="微软雅黑" pitchFamily="34" charset="-122"/>
              </a:rPr>
              <a:t>第四章　运动和力的关系</a:t>
            </a:r>
          </a:p>
        </p:txBody>
      </p:sp>
      <p:sp>
        <p:nvSpPr>
          <p:cNvPr id="1031" name="Line 55"/>
          <p:cNvSpPr>
            <a:spLocks noChangeShapeType="1"/>
          </p:cNvSpPr>
          <p:nvPr userDrawn="1"/>
        </p:nvSpPr>
        <p:spPr bwMode="auto">
          <a:xfrm>
            <a:off x="0" y="569913"/>
            <a:ext cx="12190413" cy="0"/>
          </a:xfrm>
          <a:prstGeom prst="line">
            <a:avLst/>
          </a:prstGeom>
          <a:noFill/>
          <a:ln w="19050">
            <a:solidFill>
              <a:srgbClr val="5F5F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2" name="Text Box 56"/>
          <p:cNvSpPr txBox="1">
            <a:spLocks noChangeArrowheads="1"/>
          </p:cNvSpPr>
          <p:nvPr userDrawn="1"/>
        </p:nvSpPr>
        <p:spPr bwMode="auto">
          <a:xfrm>
            <a:off x="377825" y="76199"/>
            <a:ext cx="4175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fontAlgn="ctr"/>
            <a:r>
              <a:rPr lang="zh-CN" altLang="en-US" sz="2000" b="1" dirty="0">
                <a:solidFill>
                  <a:schemeClr val="bg1"/>
                </a:solidFill>
                <a:latin typeface="楷体_GB2312" charset="-122"/>
                <a:ea typeface="楷体_GB2312" charset="-122"/>
              </a:rPr>
              <a:t>物理</a:t>
            </a:r>
            <a:r>
              <a:rPr lang="zh-CN" altLang="en-US" sz="1800" dirty="0">
                <a:solidFill>
                  <a:schemeClr val="bg1"/>
                </a:solidFill>
                <a:ea typeface="微软雅黑" pitchFamily="34" charset="-122"/>
              </a:rPr>
              <a:t>　</a:t>
            </a:r>
            <a:r>
              <a:rPr lang="zh-CN" altLang="en-US" sz="2000" b="1" dirty="0">
                <a:solidFill>
                  <a:schemeClr val="bg1"/>
                </a:solidFill>
                <a:latin typeface="楷体_GB2312" charset="-122"/>
                <a:ea typeface="楷体_GB2312" charset="-122"/>
              </a:rPr>
              <a:t>必修</a:t>
            </a:r>
            <a:r>
              <a:rPr lang="zh-CN" altLang="en-US" sz="1800" dirty="0">
                <a:solidFill>
                  <a:schemeClr val="bg1"/>
                </a:solidFill>
                <a:ea typeface="微软雅黑" pitchFamily="34" charset="-122"/>
              </a:rPr>
              <a:t>　</a:t>
            </a:r>
            <a:r>
              <a:rPr lang="zh-CN" altLang="en-US" sz="2000" b="1" dirty="0">
                <a:solidFill>
                  <a:schemeClr val="bg1"/>
                </a:solidFill>
                <a:latin typeface="楷体_GB2312" charset="-122"/>
                <a:ea typeface="楷体_GB2312" charset="-122"/>
              </a:rPr>
              <a:t>第一册</a:t>
            </a:r>
            <a:r>
              <a:rPr lang="zh-CN" altLang="en-US" sz="1800" dirty="0">
                <a:solidFill>
                  <a:schemeClr val="bg1"/>
                </a:solidFill>
                <a:ea typeface="微软雅黑" pitchFamily="34" charset="-122"/>
              </a:rPr>
              <a:t>　</a:t>
            </a:r>
            <a:r>
              <a:rPr lang="zh-CN" altLang="en-US" sz="2000" b="1" dirty="0">
                <a:solidFill>
                  <a:schemeClr val="bg1"/>
                </a:solidFill>
                <a:latin typeface="楷体_GB2312" charset="-122"/>
                <a:ea typeface="楷体_GB2312" charset="-122"/>
              </a:rPr>
              <a:t>配人教版</a:t>
            </a:r>
          </a:p>
        </p:txBody>
      </p:sp>
      <p:pic>
        <p:nvPicPr>
          <p:cNvPr id="1035" name="Picture 60" descr="图片3"/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39550" y="0"/>
            <a:ext cx="447675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6" name="Group 64"/>
          <p:cNvGrpSpPr>
            <a:grpSpLocks/>
          </p:cNvGrpSpPr>
          <p:nvPr userDrawn="1"/>
        </p:nvGrpSpPr>
        <p:grpSpPr bwMode="auto">
          <a:xfrm>
            <a:off x="8099425" y="6383338"/>
            <a:ext cx="2035175" cy="474662"/>
            <a:chOff x="4157" y="4020"/>
            <a:chExt cx="1282" cy="299"/>
          </a:xfrm>
        </p:grpSpPr>
        <p:pic>
          <p:nvPicPr>
            <p:cNvPr id="1049" name="Picture 65" descr="图片2"/>
            <p:cNvPicPr>
              <a:picLocks noChangeAspect="1" noChangeArrowheads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7" y="4020"/>
              <a:ext cx="128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0" name="Text Box 66">
              <a:hlinkClick r:id="rId15" action="ppaction://hlinksldjump"/>
            </p:cNvPr>
            <p:cNvSpPr txBox="1">
              <a:spLocks noChangeArrowheads="1"/>
            </p:cNvSpPr>
            <p:nvPr userDrawn="1"/>
          </p:nvSpPr>
          <p:spPr bwMode="auto">
            <a:xfrm>
              <a:off x="4248" y="4077"/>
              <a:ext cx="104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1200">
                  <a:solidFill>
                    <a:schemeClr val="tx1"/>
                  </a:solidFill>
                  <a:ea typeface="微软雅黑" pitchFamily="34" charset="-122"/>
                </a:rPr>
                <a:t>课堂小练 </a:t>
              </a:r>
              <a:r>
                <a:rPr lang="en-US" altLang="zh-CN" sz="1200">
                  <a:solidFill>
                    <a:schemeClr val="tx1"/>
                  </a:solidFill>
                  <a:ea typeface="微软雅黑" pitchFamily="34" charset="-122"/>
                </a:rPr>
                <a:t>| </a:t>
              </a:r>
              <a:r>
                <a:rPr lang="zh-CN" altLang="en-US" sz="1200">
                  <a:solidFill>
                    <a:schemeClr val="tx1"/>
                  </a:solidFill>
                  <a:ea typeface="微软雅黑" pitchFamily="34" charset="-122"/>
                </a:rPr>
                <a:t>素养达成</a:t>
              </a:r>
            </a:p>
          </p:txBody>
        </p:sp>
      </p:grpSp>
      <p:grpSp>
        <p:nvGrpSpPr>
          <p:cNvPr id="1037" name="Group 67"/>
          <p:cNvGrpSpPr>
            <a:grpSpLocks/>
          </p:cNvGrpSpPr>
          <p:nvPr userDrawn="1"/>
        </p:nvGrpSpPr>
        <p:grpSpPr bwMode="auto">
          <a:xfrm>
            <a:off x="9977438" y="6383338"/>
            <a:ext cx="2035175" cy="474662"/>
            <a:chOff x="4157" y="4020"/>
            <a:chExt cx="1282" cy="299"/>
          </a:xfrm>
        </p:grpSpPr>
        <p:pic>
          <p:nvPicPr>
            <p:cNvPr id="1047" name="Picture 68" descr="图片2"/>
            <p:cNvPicPr>
              <a:picLocks noChangeAspect="1" noChangeArrowheads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7" y="4020"/>
              <a:ext cx="128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8" name="Text Box 69">
              <a:hlinkClick r:id="rId16" action="ppaction://hlinksldjump"/>
            </p:cNvPr>
            <p:cNvSpPr txBox="1">
              <a:spLocks noChangeArrowheads="1"/>
            </p:cNvSpPr>
            <p:nvPr userDrawn="1"/>
          </p:nvSpPr>
          <p:spPr bwMode="auto">
            <a:xfrm>
              <a:off x="4248" y="4077"/>
              <a:ext cx="104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1200">
                  <a:solidFill>
                    <a:schemeClr val="tx1"/>
                  </a:solidFill>
                  <a:ea typeface="微软雅黑" pitchFamily="34" charset="-122"/>
                </a:rPr>
                <a:t>课后 </a:t>
              </a:r>
              <a:r>
                <a:rPr lang="en-US" altLang="zh-CN" sz="1200">
                  <a:solidFill>
                    <a:schemeClr val="tx1"/>
                  </a:solidFill>
                  <a:ea typeface="微软雅黑" pitchFamily="34" charset="-122"/>
                </a:rPr>
                <a:t>| </a:t>
              </a:r>
              <a:r>
                <a:rPr lang="zh-CN" altLang="en-US" sz="1200">
                  <a:solidFill>
                    <a:schemeClr val="tx1"/>
                  </a:solidFill>
                  <a:ea typeface="微软雅黑" pitchFamily="34" charset="-122"/>
                </a:rPr>
                <a:t>提升训练</a:t>
              </a:r>
            </a:p>
          </p:txBody>
        </p:sp>
      </p:grpSp>
      <p:grpSp>
        <p:nvGrpSpPr>
          <p:cNvPr id="1038" name="Group 70"/>
          <p:cNvGrpSpPr>
            <a:grpSpLocks/>
          </p:cNvGrpSpPr>
          <p:nvPr userDrawn="1"/>
        </p:nvGrpSpPr>
        <p:grpSpPr bwMode="auto">
          <a:xfrm>
            <a:off x="6221413" y="6383338"/>
            <a:ext cx="2035175" cy="474662"/>
            <a:chOff x="4157" y="4020"/>
            <a:chExt cx="1282" cy="299"/>
          </a:xfrm>
        </p:grpSpPr>
        <p:pic>
          <p:nvPicPr>
            <p:cNvPr id="1045" name="Picture 71" descr="图片2"/>
            <p:cNvPicPr>
              <a:picLocks noChangeAspect="1" noChangeArrowheads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7" y="4020"/>
              <a:ext cx="128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6" name="Text Box 72">
              <a:hlinkClick r:id="rId17" action="ppaction://hlinksldjump"/>
            </p:cNvPr>
            <p:cNvSpPr txBox="1">
              <a:spLocks noChangeArrowheads="1"/>
            </p:cNvSpPr>
            <p:nvPr userDrawn="1"/>
          </p:nvSpPr>
          <p:spPr bwMode="auto">
            <a:xfrm>
              <a:off x="4248" y="4077"/>
              <a:ext cx="104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1200">
                  <a:solidFill>
                    <a:schemeClr val="tx1"/>
                  </a:solidFill>
                  <a:ea typeface="微软雅黑" pitchFamily="34" charset="-122"/>
                </a:rPr>
                <a:t>核心素养微专题</a:t>
              </a:r>
            </a:p>
          </p:txBody>
        </p:sp>
      </p:grpSp>
      <p:grpSp>
        <p:nvGrpSpPr>
          <p:cNvPr id="1039" name="Group 73"/>
          <p:cNvGrpSpPr>
            <a:grpSpLocks/>
          </p:cNvGrpSpPr>
          <p:nvPr userDrawn="1"/>
        </p:nvGrpSpPr>
        <p:grpSpPr bwMode="auto">
          <a:xfrm>
            <a:off x="2465388" y="6383338"/>
            <a:ext cx="2035175" cy="474662"/>
            <a:chOff x="4157" y="4020"/>
            <a:chExt cx="1282" cy="299"/>
          </a:xfrm>
        </p:grpSpPr>
        <p:pic>
          <p:nvPicPr>
            <p:cNvPr id="1043" name="Picture 74" descr="图片2"/>
            <p:cNvPicPr>
              <a:picLocks noChangeAspect="1" noChangeArrowheads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7" y="4020"/>
              <a:ext cx="128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4" name="Text Box 75">
              <a:hlinkClick r:id="rId18" action="ppaction://hlinksldjump"/>
            </p:cNvPr>
            <p:cNvSpPr txBox="1">
              <a:spLocks noChangeArrowheads="1"/>
            </p:cNvSpPr>
            <p:nvPr userDrawn="1"/>
          </p:nvSpPr>
          <p:spPr bwMode="auto">
            <a:xfrm>
              <a:off x="4248" y="4077"/>
              <a:ext cx="104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1200">
                  <a:solidFill>
                    <a:schemeClr val="tx1"/>
                  </a:solidFill>
                  <a:ea typeface="微软雅黑" pitchFamily="34" charset="-122"/>
                </a:rPr>
                <a:t>预习导学 </a:t>
              </a:r>
              <a:r>
                <a:rPr lang="en-US" altLang="zh-CN" sz="1200">
                  <a:solidFill>
                    <a:schemeClr val="tx1"/>
                  </a:solidFill>
                  <a:ea typeface="微软雅黑" pitchFamily="34" charset="-122"/>
                </a:rPr>
                <a:t>| </a:t>
              </a:r>
              <a:r>
                <a:rPr lang="zh-CN" altLang="en-US" sz="1200">
                  <a:solidFill>
                    <a:schemeClr val="tx1"/>
                  </a:solidFill>
                  <a:ea typeface="微软雅黑" pitchFamily="34" charset="-122"/>
                </a:rPr>
                <a:t>新知领悟</a:t>
              </a:r>
            </a:p>
          </p:txBody>
        </p:sp>
      </p:grpSp>
      <p:grpSp>
        <p:nvGrpSpPr>
          <p:cNvPr id="1040" name="Group 76"/>
          <p:cNvGrpSpPr>
            <a:grpSpLocks/>
          </p:cNvGrpSpPr>
          <p:nvPr userDrawn="1"/>
        </p:nvGrpSpPr>
        <p:grpSpPr bwMode="auto">
          <a:xfrm>
            <a:off x="4343400" y="6383338"/>
            <a:ext cx="2035175" cy="474662"/>
            <a:chOff x="4157" y="4020"/>
            <a:chExt cx="1282" cy="299"/>
          </a:xfrm>
        </p:grpSpPr>
        <p:pic>
          <p:nvPicPr>
            <p:cNvPr id="1041" name="Picture 77" descr="图片2"/>
            <p:cNvPicPr>
              <a:picLocks noChangeAspect="1" noChangeArrowheads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7" y="4020"/>
              <a:ext cx="128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2" name="Text Box 78">
              <a:hlinkClick r:id="rId16" action="ppaction://hlinksldjump"/>
            </p:cNvPr>
            <p:cNvSpPr txBox="1">
              <a:spLocks noChangeArrowheads="1"/>
            </p:cNvSpPr>
            <p:nvPr userDrawn="1"/>
          </p:nvSpPr>
          <p:spPr bwMode="auto">
            <a:xfrm>
              <a:off x="4248" y="4077"/>
              <a:ext cx="104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1200">
                  <a:solidFill>
                    <a:schemeClr val="tx1"/>
                  </a:solidFill>
                  <a:ea typeface="微软雅黑" pitchFamily="34" charset="-122"/>
                </a:rPr>
                <a:t>多维课堂 </a:t>
              </a:r>
              <a:r>
                <a:rPr lang="en-US" altLang="zh-CN" sz="1200">
                  <a:solidFill>
                    <a:schemeClr val="tx1"/>
                  </a:solidFill>
                  <a:ea typeface="微软雅黑" pitchFamily="34" charset="-122"/>
                </a:rPr>
                <a:t>| </a:t>
              </a:r>
              <a:r>
                <a:rPr lang="zh-CN" altLang="en-US" sz="1200">
                  <a:solidFill>
                    <a:schemeClr val="tx1"/>
                  </a:solidFill>
                  <a:ea typeface="微软雅黑" pitchFamily="34" charset="-122"/>
                </a:rPr>
                <a:t>素养初培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zoom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CC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CC0000"/>
          </a:solidFill>
          <a:latin typeface="宋体" pitchFamily="2" charset="-122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CC0000"/>
          </a:solidFill>
          <a:latin typeface="宋体" pitchFamily="2" charset="-122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CC0000"/>
          </a:solidFill>
          <a:latin typeface="宋体" pitchFamily="2" charset="-122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CC0000"/>
          </a:solidFill>
          <a:latin typeface="宋体" pitchFamily="2" charset="-122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CC0000"/>
          </a:solidFill>
          <a:latin typeface="宋体" pitchFamily="2" charset="-122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CC0000"/>
          </a:solidFill>
          <a:latin typeface="宋体" pitchFamily="2" charset="-122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CC0000"/>
          </a:solidFill>
          <a:latin typeface="宋体" pitchFamily="2" charset="-122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CC0000"/>
          </a:solidFill>
          <a:latin typeface="宋体" pitchFamily="2" charset="-122"/>
          <a:ea typeface="宋体" pitchFamily="2" charset="-122"/>
        </a:defRPr>
      </a:lvl9pPr>
    </p:titleStyle>
    <p:bodyStyle>
      <a:lvl1pPr marL="342900" indent="377825" algn="just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pitchFamily="2" charset="2"/>
        <a:tabLst>
          <a:tab pos="5561013" algn="l"/>
          <a:tab pos="10047288" algn="l"/>
        </a:tabLst>
        <a:defRPr sz="2800" b="1">
          <a:solidFill>
            <a:srgbClr val="000000"/>
          </a:solidFill>
          <a:latin typeface="+mn-lt"/>
          <a:ea typeface="+mn-ea"/>
          <a:cs typeface="+mn-cs"/>
        </a:defRPr>
      </a:lvl1pPr>
      <a:lvl2pPr marL="1357313" indent="-285750" algn="just" rtl="0" eaLnBrk="0" fontAlgn="base" hangingPunct="0">
        <a:lnSpc>
          <a:spcPct val="145000"/>
        </a:lnSpc>
        <a:spcBef>
          <a:spcPct val="0"/>
        </a:spcBef>
        <a:spcAft>
          <a:spcPct val="0"/>
        </a:spcAft>
        <a:buClr>
          <a:schemeClr val="tx2"/>
        </a:buClr>
        <a:buFont typeface="Wingdings" pitchFamily="2" charset="2"/>
        <a:tabLst>
          <a:tab pos="5561013" algn="l"/>
          <a:tab pos="10047288" algn="l"/>
        </a:tabLst>
        <a:defRPr sz="2400" b="1">
          <a:solidFill>
            <a:srgbClr val="000000"/>
          </a:solidFill>
          <a:latin typeface="Arial" pitchFamily="34" charset="0"/>
        </a:defRPr>
      </a:lvl2pPr>
      <a:lvl3pPr marL="1765300" indent="-228600" algn="just" rtl="0" eaLnBrk="0" fontAlgn="base" hangingPunct="0">
        <a:lnSpc>
          <a:spcPct val="145000"/>
        </a:lnSpc>
        <a:spcBef>
          <a:spcPct val="0"/>
        </a:spcBef>
        <a:spcAft>
          <a:spcPct val="0"/>
        </a:spcAft>
        <a:buClr>
          <a:schemeClr val="tx1"/>
        </a:buClr>
        <a:tabLst>
          <a:tab pos="5561013" algn="l"/>
          <a:tab pos="10047288" algn="l"/>
        </a:tabLst>
        <a:defRPr sz="2400" b="1">
          <a:solidFill>
            <a:srgbClr val="000000"/>
          </a:solidFill>
          <a:latin typeface="Arial" pitchFamily="34" charset="0"/>
        </a:defRPr>
      </a:lvl3pPr>
      <a:lvl4pPr marL="2173288" indent="-228600" algn="just" rtl="0" eaLnBrk="0" fontAlgn="base" hangingPunct="0">
        <a:lnSpc>
          <a:spcPct val="145000"/>
        </a:lnSpc>
        <a:spcBef>
          <a:spcPct val="0"/>
        </a:spcBef>
        <a:spcAft>
          <a:spcPct val="0"/>
        </a:spcAft>
        <a:tabLst>
          <a:tab pos="5561013" algn="l"/>
          <a:tab pos="10047288" algn="l"/>
        </a:tabLst>
        <a:defRPr sz="2400" b="1">
          <a:solidFill>
            <a:srgbClr val="000000"/>
          </a:solidFill>
          <a:latin typeface="Arial" pitchFamily="34" charset="0"/>
        </a:defRPr>
      </a:lvl4pPr>
      <a:lvl5pPr marL="2581275" indent="-228600" algn="just" rtl="0" eaLnBrk="0" fontAlgn="base" hangingPunct="0">
        <a:lnSpc>
          <a:spcPct val="145000"/>
        </a:lnSpc>
        <a:spcBef>
          <a:spcPct val="0"/>
        </a:spcBef>
        <a:spcAft>
          <a:spcPct val="0"/>
        </a:spcAft>
        <a:tabLst>
          <a:tab pos="5561013" algn="l"/>
          <a:tab pos="10047288" algn="l"/>
        </a:tabLst>
        <a:defRPr sz="2400" b="1">
          <a:solidFill>
            <a:srgbClr val="000000"/>
          </a:solidFill>
          <a:latin typeface="Arial" pitchFamily="34" charset="0"/>
        </a:defRPr>
      </a:lvl5pPr>
      <a:lvl6pPr marL="3038475" indent="-228600" algn="just" rtl="0" fontAlgn="base" hangingPunct="0">
        <a:lnSpc>
          <a:spcPct val="145000"/>
        </a:lnSpc>
        <a:spcBef>
          <a:spcPct val="0"/>
        </a:spcBef>
        <a:spcAft>
          <a:spcPct val="0"/>
        </a:spcAft>
        <a:tabLst>
          <a:tab pos="5561013" algn="l"/>
          <a:tab pos="10047288" algn="l"/>
        </a:tabLst>
        <a:defRPr sz="2400" b="1">
          <a:solidFill>
            <a:srgbClr val="000000"/>
          </a:solidFill>
          <a:latin typeface="Arial" pitchFamily="34" charset="0"/>
        </a:defRPr>
      </a:lvl6pPr>
      <a:lvl7pPr marL="3495675" indent="-228600" algn="just" rtl="0" fontAlgn="base" hangingPunct="0">
        <a:lnSpc>
          <a:spcPct val="145000"/>
        </a:lnSpc>
        <a:spcBef>
          <a:spcPct val="0"/>
        </a:spcBef>
        <a:spcAft>
          <a:spcPct val="0"/>
        </a:spcAft>
        <a:tabLst>
          <a:tab pos="5561013" algn="l"/>
          <a:tab pos="10047288" algn="l"/>
        </a:tabLst>
        <a:defRPr sz="2400" b="1">
          <a:solidFill>
            <a:srgbClr val="000000"/>
          </a:solidFill>
          <a:latin typeface="Arial" pitchFamily="34" charset="0"/>
        </a:defRPr>
      </a:lvl7pPr>
      <a:lvl8pPr marL="3952875" indent="-228600" algn="just" rtl="0" fontAlgn="base" hangingPunct="0">
        <a:lnSpc>
          <a:spcPct val="145000"/>
        </a:lnSpc>
        <a:spcBef>
          <a:spcPct val="0"/>
        </a:spcBef>
        <a:spcAft>
          <a:spcPct val="0"/>
        </a:spcAft>
        <a:tabLst>
          <a:tab pos="5561013" algn="l"/>
          <a:tab pos="10047288" algn="l"/>
        </a:tabLst>
        <a:defRPr sz="2400" b="1">
          <a:solidFill>
            <a:srgbClr val="000000"/>
          </a:solidFill>
          <a:latin typeface="Arial" pitchFamily="34" charset="0"/>
        </a:defRPr>
      </a:lvl8pPr>
      <a:lvl9pPr marL="4410075" indent="-228600" algn="just" rtl="0" fontAlgn="base" hangingPunct="0">
        <a:lnSpc>
          <a:spcPct val="145000"/>
        </a:lnSpc>
        <a:spcBef>
          <a:spcPct val="0"/>
        </a:spcBef>
        <a:spcAft>
          <a:spcPct val="0"/>
        </a:spcAft>
        <a:tabLst>
          <a:tab pos="5561013" algn="l"/>
          <a:tab pos="10047288" algn="l"/>
        </a:tabLst>
        <a:defRPr sz="2400" b="1">
          <a:solidFill>
            <a:srgbClr val="000000"/>
          </a:solidFill>
          <a:latin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70A7"/>
            </a:gs>
            <a:gs pos="100000">
              <a:srgbClr val="338DB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zoom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203"/>
            <a:ext cx="10971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6353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2025/9/15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6353"/>
            <a:ext cx="386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6353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66079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1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72.ti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73.ti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74.ti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75.tif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76.tif" TargetMode="Externa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77.tif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78.tif" TargetMode="Externa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4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79.tif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5.bin"/><Relationship Id="rId4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80.tif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2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34.png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84.tif" TargetMode="External"/><Relationship Id="rId5" Type="http://schemas.openxmlformats.org/officeDocument/2006/relationships/image" Target="../media/image35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85.tif" TargetMode="External"/><Relationship Id="rId5" Type="http://schemas.openxmlformats.org/officeDocument/2006/relationships/image" Target="../media/image36.png"/><Relationship Id="rId4" Type="http://schemas.openxmlformats.org/officeDocument/2006/relationships/image" Target="../media/image19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86.tif" TargetMode="Externa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file:///K:\AAA&#35838;&#20214;&#21407;&#31295;&#25991;&#20214;&#22841;\2020&#183;&#20840;&#20248;&#183;&#21407;&#31295;\&#65281;&#38656;&#35201;&#20462;&#35746;&#21407;&#31295;\&#20840;&#20248;&#29289;&#29702;&#20154;&#25945;&#24517;&#20462;&#31532;&#19968;&#20876;(&#25945;&#29992;)&#24050;&#26680;&#23545;%20%20%20&#20462;&#35746;\HW39.TIF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0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90.tif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2.emf"/><Relationship Id="rId5" Type="http://schemas.openxmlformats.org/officeDocument/2006/relationships/oleObject" Target="../embeddings/Microsoft_Word_97_-_2003___2.doc"/><Relationship Id="rId4" Type="http://schemas.openxmlformats.org/officeDocument/2006/relationships/image" Target="file:///K:\AAA&#35838;&#20214;&#21407;&#31295;&#25991;&#20214;&#22841;\2020&#183;&#20840;&#20248;&#183;&#21407;&#31295;\&#65281;&#38656;&#35201;&#20462;&#35746;&#21407;&#31295;\&#20840;&#20248;&#29289;&#29702;&#20154;&#25945;&#24517;&#20462;&#31532;&#19968;&#20876;(&#25945;&#29992;)&#24050;&#26680;&#23545;%20%20%20&#20462;&#35746;\HW40.TIF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3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4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13.bin"/><Relationship Id="rId4" Type="http://schemas.openxmlformats.org/officeDocument/2006/relationships/image" Target="file:///E:\&#23567;&#26679;\&#20154;&#29289;&#20840;&#20248;&#29289;&#29702;&#20154;&#25945;&#24517;&#20462;&#31532;&#19968;&#20876;&#25945;&#29992;\&#20840;&#20248;&#29289;&#29702;&#20154;&#25945;&#24517;&#20462;&#31532;&#19968;&#20876;(&#25945;&#29992;2020.8.26&#20986;&#25104;&#20070;)\lxxwl591.tif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7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49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云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065588"/>
            <a:ext cx="12201525" cy="279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 descr="树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3513" y="4122738"/>
            <a:ext cx="1866900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阳光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28025" y="-857250"/>
            <a:ext cx="4583113" cy="443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695325" y="1125538"/>
            <a:ext cx="10799763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/>
            <a:r>
              <a:rPr lang="zh-CN" altLang="en-US" sz="480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第四章　运动和力的关系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695324" y="2778993"/>
            <a:ext cx="10728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en-US" sz="4800" b="1" dirty="0" err="1" smtClean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牛顿运动定律的应用</a:t>
            </a:r>
            <a:endParaRPr lang="zh-CN" altLang="en-US" sz="4800" b="1" dirty="0">
              <a:solidFill>
                <a:schemeClr val="bg1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09535" y="5805264"/>
            <a:ext cx="4982454" cy="470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en-US" altLang="zh-CN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模板网</a:t>
            </a:r>
            <a:r>
              <a:rPr lang="en-US" altLang="zh-CN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-WWW.1PPT.COM</a:t>
            </a:r>
            <a:endParaRPr lang="en-US" altLang="zh-CN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374076"/>
              </p:ext>
            </p:extLst>
          </p:nvPr>
        </p:nvGraphicFramePr>
        <p:xfrm>
          <a:off x="468313" y="769938"/>
          <a:ext cx="11252200" cy="589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Document" r:id="rId3" imgW="11248750" imgH="5933014" progId="Word.Document.8">
                  <p:embed/>
                </p:oleObj>
              </mc:Choice>
              <mc:Fallback>
                <p:oleObj name="Document" r:id="rId3" imgW="11248750" imgH="5933014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769938"/>
                        <a:ext cx="11252200" cy="589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栏目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74825" y="1247775"/>
            <a:ext cx="87645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495550" y="3570288"/>
            <a:ext cx="7343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sz="40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rPr>
              <a:t>预习导学 </a:t>
            </a:r>
            <a:r>
              <a:rPr lang="en-US" altLang="zh-CN" sz="40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rPr>
              <a:t>| </a:t>
            </a:r>
            <a:r>
              <a:rPr lang="zh-CN" altLang="en-US" sz="40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rPr>
              <a:t>新知领悟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362075"/>
            <a:ext cx="11301413" cy="3084513"/>
          </a:xfrm>
        </p:spPr>
        <p:txBody>
          <a:bodyPr/>
          <a:lstStyle/>
          <a:p>
            <a:pPr marL="0" indent="720725" eaLnBrk="1">
              <a:tabLst>
                <a:tab pos="2328863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	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从受力确定运动情况</a:t>
            </a:r>
          </a:p>
          <a:p>
            <a:pPr marL="0" indent="720725" eaLnBrk="1">
              <a:tabLst>
                <a:tab pos="2328863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．牛顿第二定律确定了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________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和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________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的关系，使我们能够把物体的运动情况和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___________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联系起来．</a:t>
            </a:r>
          </a:p>
          <a:p>
            <a:pPr marL="0" indent="720725" eaLnBrk="1">
              <a:tabLst>
                <a:tab pos="2328863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．如果已知物体的受力情况，可以由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________________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求出物体的加速度，再通过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______________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确定物体的运动情况．</a:t>
            </a:r>
          </a:p>
        </p:txBody>
      </p:sp>
      <p:sp>
        <p:nvSpPr>
          <p:cNvPr id="1282051" name="Rectangle 3"/>
          <p:cNvSpPr>
            <a:spLocks noChangeArrowheads="1"/>
          </p:cNvSpPr>
          <p:nvPr/>
        </p:nvSpPr>
        <p:spPr bwMode="auto">
          <a:xfrm>
            <a:off x="5378450" y="2046288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latin typeface="Times New Roman"/>
                <a:ea typeface="微软雅黑"/>
                <a:sym typeface="Times New Roman"/>
              </a:rPr>
              <a:t>运动　</a:t>
            </a:r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5124" name="Picture 4" descr="知识点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7838" y="1484313"/>
            <a:ext cx="22209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2053" name="Rectangle 5"/>
          <p:cNvSpPr>
            <a:spLocks noChangeArrowheads="1"/>
          </p:cNvSpPr>
          <p:nvPr/>
        </p:nvSpPr>
        <p:spPr bwMode="auto">
          <a:xfrm>
            <a:off x="7429500" y="20462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latin typeface="Times New Roman"/>
                <a:ea typeface="微软雅黑"/>
                <a:sym typeface="Times New Roman"/>
              </a:rPr>
              <a:t>力　</a:t>
            </a:r>
          </a:p>
        </p:txBody>
      </p:sp>
      <p:sp>
        <p:nvSpPr>
          <p:cNvPr id="1282054" name="Rectangle 6"/>
          <p:cNvSpPr>
            <a:spLocks noChangeArrowheads="1"/>
          </p:cNvSpPr>
          <p:nvPr/>
        </p:nvSpPr>
        <p:spPr bwMode="auto">
          <a:xfrm>
            <a:off x="3908425" y="2636838"/>
            <a:ext cx="1970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latin typeface="Times New Roman"/>
                <a:ea typeface="微软雅黑"/>
                <a:sym typeface="Times New Roman"/>
              </a:rPr>
              <a:t>受力情况　</a:t>
            </a:r>
          </a:p>
        </p:txBody>
      </p:sp>
      <p:sp>
        <p:nvSpPr>
          <p:cNvPr id="1282055" name="Rectangle 7"/>
          <p:cNvSpPr>
            <a:spLocks noChangeArrowheads="1"/>
          </p:cNvSpPr>
          <p:nvPr/>
        </p:nvSpPr>
        <p:spPr bwMode="auto">
          <a:xfrm>
            <a:off x="7586663" y="3213100"/>
            <a:ext cx="2684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latin typeface="Times New Roman"/>
                <a:ea typeface="微软雅黑"/>
                <a:sym typeface="Times New Roman"/>
              </a:rPr>
              <a:t>牛顿第二定律　</a:t>
            </a:r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1282056" name="Rectangle 8"/>
          <p:cNvSpPr>
            <a:spLocks noChangeArrowheads="1"/>
          </p:cNvSpPr>
          <p:nvPr/>
        </p:nvSpPr>
        <p:spPr bwMode="auto">
          <a:xfrm>
            <a:off x="3606800" y="3846513"/>
            <a:ext cx="2416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latin typeface="Times New Roman"/>
                <a:ea typeface="微软雅黑"/>
                <a:sym typeface="Times New Roman"/>
              </a:rPr>
              <a:t>运动学规律</a:t>
            </a:r>
            <a:r>
              <a:rPr lang="zh-CN" altLang="en-US">
                <a:latin typeface="Times New Roman"/>
                <a:ea typeface="微软雅黑"/>
                <a:sym typeface="Times New Roman"/>
              </a:rPr>
              <a:t> </a:t>
            </a:r>
            <a:r>
              <a:rPr lang="zh-CN" altLang="en-US" b="1">
                <a:latin typeface="Times New Roman"/>
                <a:ea typeface="微软雅黑"/>
                <a:sym typeface="Times New Roman"/>
              </a:rPr>
              <a:t>　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82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82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82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82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692150"/>
            <a:ext cx="11301413" cy="3084513"/>
          </a:xfrm>
        </p:spPr>
        <p:txBody>
          <a:bodyPr/>
          <a:lstStyle/>
          <a:p>
            <a:pPr marL="0" indent="720725" eaLnBrk="1">
              <a:tabLst>
                <a:tab pos="2416175" algn="l"/>
                <a:tab pos="5561013" algn="l"/>
                <a:tab pos="10047288" algn="l"/>
              </a:tabLst>
            </a:pP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	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建造大桥过程中最困难的莫过于沉管隧道的沉放和精确安装，每节沉管隧道重约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8×10</a:t>
            </a:r>
            <a:r>
              <a:rPr lang="en-US" altLang="zh-CN" baseline="30000" smtClean="0">
                <a:latin typeface="Times New Roman"/>
                <a:ea typeface="微软雅黑"/>
                <a:sym typeface="Times New Roman"/>
              </a:rPr>
              <a:t>8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 N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，相当于一艘中型航母的重量．通过缆绳送沉管到海底，若把该沉管的向下沉放过程看成是先加速运动后减速运动，且沉管仅受重力和缆绳的拉力，则拉力的变化过程可能正确的是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　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)</a:t>
            </a:r>
          </a:p>
        </p:txBody>
      </p:sp>
      <p:pic>
        <p:nvPicPr>
          <p:cNvPr id="6147" name="Picture 4" descr="练一练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76363" y="908050"/>
            <a:ext cx="131286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Rectangle 6"/>
          <p:cNvSpPr>
            <a:spLocks noChangeArrowheads="1"/>
          </p:cNvSpPr>
          <p:nvPr/>
        </p:nvSpPr>
        <p:spPr bwMode="auto">
          <a:xfrm>
            <a:off x="6002841" y="1981528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6149" name="Picture 5" descr="E:\小样\人物全优物理人教必修第一册教用\全优物理人教必修第一册(教用2020.8.26出成书)\lxxwl572.tif"/>
          <p:cNvPicPr>
            <a:picLocks noChangeAspect="1" noChangeArrowheads="1"/>
          </p:cNvPicPr>
          <p:nvPr/>
        </p:nvPicPr>
        <p:blipFill>
          <a:blip r:embed="rId3" r:link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06625" y="3789363"/>
            <a:ext cx="7372350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027" name="Rectangle 3"/>
          <p:cNvSpPr>
            <a:spLocks noChangeArrowheads="1"/>
          </p:cNvSpPr>
          <p:nvPr>
            <p:ph type="body" idx="1"/>
          </p:nvPr>
        </p:nvSpPr>
        <p:spPr>
          <a:xfrm>
            <a:off x="444500" y="3284538"/>
            <a:ext cx="11301413" cy="3084512"/>
          </a:xfrm>
        </p:spPr>
        <p:txBody>
          <a:bodyPr/>
          <a:lstStyle/>
          <a:p>
            <a:pPr marL="0" indent="720725" eaLnBrk="1"/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答案</a:t>
            </a:r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C</a:t>
            </a:r>
            <a:endParaRPr lang="en-US" altLang="zh-CN" smtClean="0">
              <a:solidFill>
                <a:srgbClr val="0000FF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解析</a:t>
            </a:r>
            <a:r>
              <a:rPr lang="en-US" altLang="zh-CN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设沉管加速的加速度为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，减速的加速度为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，加速过程由牛顿第二定律得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－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，得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－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＜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；减速过程由牛顿第二定律得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－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，得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＋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＞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G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.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故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、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B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、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D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错误，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C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正确．</a:t>
            </a:r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6002841" y="196724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7172" name="Picture 4" descr="E:\小样\人物全优物理人教必修第一册教用\全优物理人教必修第一册(教用2020.8.26出成书)\lxxwl573.tif"/>
          <p:cNvPicPr>
            <a:picLocks noChangeAspect="1" noChangeArrowheads="1"/>
          </p:cNvPicPr>
          <p:nvPr/>
        </p:nvPicPr>
        <p:blipFill>
          <a:blip r:embed="rId2" r:link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35188" y="765175"/>
            <a:ext cx="737235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8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102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989138"/>
            <a:ext cx="11301413" cy="1887537"/>
          </a:xfrm>
        </p:spPr>
        <p:txBody>
          <a:bodyPr/>
          <a:lstStyle/>
          <a:p>
            <a:pPr marL="0" indent="720725" eaLnBrk="1">
              <a:tabLst>
                <a:tab pos="2328863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	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从运动情况确定受力</a:t>
            </a:r>
          </a:p>
          <a:p>
            <a:pPr marL="0" indent="720725" eaLnBrk="1">
              <a:tabLst>
                <a:tab pos="2328863" algn="l"/>
                <a:tab pos="5561013" algn="l"/>
                <a:tab pos="10047288" algn="l"/>
              </a:tabLst>
            </a:pP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如果已知物体的运动情况，根据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____________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求出物体的加速度，再根据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________________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就可以确定物体所受的力．</a:t>
            </a:r>
          </a:p>
        </p:txBody>
      </p:sp>
      <p:sp>
        <p:nvSpPr>
          <p:cNvPr id="1283075" name="Rectangle 3"/>
          <p:cNvSpPr>
            <a:spLocks noChangeArrowheads="1"/>
          </p:cNvSpPr>
          <p:nvPr/>
        </p:nvSpPr>
        <p:spPr bwMode="auto">
          <a:xfrm>
            <a:off x="6316663" y="2636838"/>
            <a:ext cx="2327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latin typeface="Times New Roman"/>
                <a:ea typeface="微软雅黑"/>
                <a:sym typeface="Times New Roman"/>
              </a:rPr>
              <a:t>运动学公式　</a:t>
            </a:r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8196" name="Picture 5" descr="知识点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7838" y="2133600"/>
            <a:ext cx="222091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3078" name="Rectangle 6"/>
          <p:cNvSpPr>
            <a:spLocks noChangeArrowheads="1"/>
          </p:cNvSpPr>
          <p:nvPr/>
        </p:nvSpPr>
        <p:spPr bwMode="auto">
          <a:xfrm>
            <a:off x="1774825" y="3270250"/>
            <a:ext cx="2773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latin typeface="Times New Roman"/>
                <a:ea typeface="微软雅黑"/>
                <a:sym typeface="Times New Roman"/>
              </a:rPr>
              <a:t>牛顿第二定律</a:t>
            </a:r>
            <a:r>
              <a:rPr lang="zh-CN" altLang="en-US">
                <a:latin typeface="Times New Roman"/>
                <a:ea typeface="微软雅黑"/>
                <a:sym typeface="Times New Roman"/>
              </a:rPr>
              <a:t> </a:t>
            </a:r>
            <a:r>
              <a:rPr lang="zh-CN" altLang="en-US" b="1">
                <a:latin typeface="Times New Roman"/>
                <a:ea typeface="微软雅黑"/>
                <a:sym typeface="Times New Roman"/>
              </a:rPr>
              <a:t>　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8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122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979488"/>
            <a:ext cx="11301413" cy="4879975"/>
          </a:xfrm>
        </p:spPr>
        <p:txBody>
          <a:bodyPr/>
          <a:lstStyle/>
          <a:p>
            <a:pPr marL="0" indent="720725" eaLnBrk="1">
              <a:tabLst>
                <a:tab pos="2416175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	(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多选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如图，在车内用绳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AB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与绳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BC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拴住一个小球，其中绳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BC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水平．若原来的静止状态变为向右加速直线运动，小球仍相对小车静止，则下列说法正确的是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　　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)</a:t>
            </a:r>
          </a:p>
          <a:p>
            <a:pPr marL="0" indent="720725" eaLnBrk="1">
              <a:tabLst>
                <a:tab pos="2416175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AB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绳拉力不变　　　</a:t>
            </a:r>
          </a:p>
          <a:p>
            <a:pPr marL="0" indent="720725" eaLnBrk="1">
              <a:tabLst>
                <a:tab pos="2416175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B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AB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绳拉力变大</a:t>
            </a:r>
          </a:p>
          <a:p>
            <a:pPr marL="0" indent="720725" eaLnBrk="1">
              <a:tabLst>
                <a:tab pos="2416175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C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BC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绳拉力变大　　　</a:t>
            </a:r>
          </a:p>
          <a:p>
            <a:pPr marL="0" indent="720725" eaLnBrk="1">
              <a:tabLst>
                <a:tab pos="2416175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D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BC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绳拉力不变</a:t>
            </a:r>
            <a:endParaRPr lang="zh-CN" altLang="en-US" dirty="0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>
              <a:tabLst>
                <a:tab pos="2416175" algn="l"/>
                <a:tab pos="5561013" algn="l"/>
                <a:tab pos="10047288" algn="l"/>
              </a:tabLst>
            </a:pPr>
            <a:r>
              <a:rPr lang="en-US" altLang="zh-CN" dirty="0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答案</a:t>
            </a:r>
            <a:r>
              <a:rPr lang="en-US" altLang="zh-CN" dirty="0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AC</a:t>
            </a:r>
          </a:p>
        </p:txBody>
      </p:sp>
      <p:pic>
        <p:nvPicPr>
          <p:cNvPr id="9219" name="Picture 3" descr="练一练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76363" y="1195388"/>
            <a:ext cx="131286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5"/>
          <p:cNvSpPr>
            <a:spLocks noChangeArrowheads="1"/>
          </p:cNvSpPr>
          <p:nvPr/>
        </p:nvSpPr>
        <p:spPr bwMode="auto">
          <a:xfrm>
            <a:off x="6002841" y="211646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9221" name="Picture 4" descr="E:\小样\人物全优物理人教必修第一册教用\全优物理人教必修第一册(教用2020.8.26出成书)\lxxwl574.tif"/>
          <p:cNvPicPr>
            <a:picLocks noChangeAspect="1" noChangeArrowheads="1"/>
          </p:cNvPicPr>
          <p:nvPr/>
        </p:nvPicPr>
        <p:blipFill>
          <a:blip r:embed="rId3" r:link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1400" y="2420938"/>
            <a:ext cx="33623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3"/>
          <p:cNvGraphicFramePr>
            <a:graphicFrameLocks noChangeAspect="1"/>
          </p:cNvGraphicFramePr>
          <p:nvPr/>
        </p:nvGraphicFramePr>
        <p:xfrm>
          <a:off x="542925" y="836613"/>
          <a:ext cx="11104563" cy="276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文档" r:id="rId3" imgW="11104618" imgH="2765679" progId="Word.Document.8">
                  <p:embed/>
                </p:oleObj>
              </mc:Choice>
              <mc:Fallback>
                <p:oleObj name="文档" r:id="rId3" imgW="11104618" imgH="2765679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836613"/>
                        <a:ext cx="11104563" cy="276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6002841" y="1829128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10244" name="Picture 4" descr="E:\小样\人物全优物理人教必修第一册教用\全优物理人教必修第一册(教用2020.8.26出成书)\lxxwl575.tif"/>
          <p:cNvPicPr>
            <a:picLocks noChangeAspect="1" noChangeArrowheads="1"/>
          </p:cNvPicPr>
          <p:nvPr/>
        </p:nvPicPr>
        <p:blipFill>
          <a:blip r:embed="rId5" r:link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95775" y="3644900"/>
            <a:ext cx="33623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栏目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74825" y="1341438"/>
            <a:ext cx="8764588" cy="412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2495550" y="3663950"/>
            <a:ext cx="7343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sz="40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rPr>
              <a:t>多维课堂 </a:t>
            </a:r>
            <a:r>
              <a:rPr lang="en-US" altLang="zh-CN" sz="40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rPr>
              <a:t>| </a:t>
            </a:r>
            <a:r>
              <a:rPr lang="zh-CN" altLang="en-US" sz="40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rPr>
              <a:t>素养初培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6" descr="探究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613" y="776288"/>
            <a:ext cx="113284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7"/>
          <p:cNvSpPr>
            <a:spLocks noChangeArrowheads="1"/>
          </p:cNvSpPr>
          <p:nvPr>
            <p:ph type="body" idx="1"/>
          </p:nvPr>
        </p:nvSpPr>
        <p:spPr>
          <a:xfrm>
            <a:off x="444500" y="2060575"/>
            <a:ext cx="11301413" cy="1233223"/>
          </a:xfrm>
          <a:noFill/>
        </p:spPr>
        <p:txBody>
          <a:bodyPr/>
          <a:lstStyle/>
          <a:p>
            <a:pPr marL="0" indent="720725" eaLnBrk="1"/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如图所示，汽车在高速公路上行驶，有两种运动情况：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汽车做匀加速运动；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(2)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汽车关闭油门滑行．</a:t>
            </a:r>
          </a:p>
        </p:txBody>
      </p:sp>
      <p:sp>
        <p:nvSpPr>
          <p:cNvPr id="12292" name="Rectangle 8"/>
          <p:cNvSpPr>
            <a:spLocks noChangeArrowheads="1"/>
          </p:cNvSpPr>
          <p:nvPr/>
        </p:nvSpPr>
        <p:spPr bwMode="auto">
          <a:xfrm>
            <a:off x="2278063" y="852488"/>
            <a:ext cx="9467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>
              <a:buClr>
                <a:schemeClr val="accent1"/>
              </a:buClr>
              <a:buFont typeface="Wingdings" pitchFamily="2" charset="2"/>
              <a:buNone/>
              <a:tabLst>
                <a:tab pos="5561013" algn="l"/>
                <a:tab pos="10047288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已知物体的受力求运动情况</a:t>
            </a:r>
          </a:p>
        </p:txBody>
      </p:sp>
      <p:pic>
        <p:nvPicPr>
          <p:cNvPr id="12293" name="Picture 9" descr="情境探究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35563" y="1652588"/>
            <a:ext cx="191611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Rectangle 11"/>
          <p:cNvSpPr>
            <a:spLocks noChangeArrowheads="1"/>
          </p:cNvSpPr>
          <p:nvPr/>
        </p:nvSpPr>
        <p:spPr bwMode="auto">
          <a:xfrm>
            <a:off x="6002841" y="2095828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12295" name="Picture 10" descr="E:\小样\人物全优物理人教必修第一册教用\全优物理人教必修第一册(教用2020.8.26出成书)\lxxwl576.tif"/>
          <p:cNvPicPr>
            <a:picLocks noChangeAspect="1" noChangeArrowheads="1"/>
          </p:cNvPicPr>
          <p:nvPr/>
        </p:nvPicPr>
        <p:blipFill>
          <a:blip r:embed="rId4" r:link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1675" y="3500438"/>
            <a:ext cx="3286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484313"/>
            <a:ext cx="11301413" cy="2486025"/>
          </a:xfrm>
        </p:spPr>
        <p:txBody>
          <a:bodyPr/>
          <a:lstStyle/>
          <a:p>
            <a:pPr marL="0" indent="720725" eaLnBrk="1"/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试结合上述情况讨论：由物体的受力情况确定其运动的思路是怎样的？</a:t>
            </a:r>
          </a:p>
          <a:p>
            <a:pPr marL="0" indent="720725" eaLnBrk="1"/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通过分析物体的受力情况，根据牛顿第二定律求得加速度，然后由运动学公式求出物体运动的位移、速度及时间等．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989138"/>
            <a:ext cx="11301413" cy="629981"/>
          </a:xfrm>
        </p:spPr>
        <p:txBody>
          <a:bodyPr/>
          <a:lstStyle/>
          <a:p>
            <a:pPr marL="0" indent="720725" eaLnBrk="1"/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．由物体的受力情况确定其运动的思路</a:t>
            </a: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506413" y="1412875"/>
          <a:ext cx="111760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文档" r:id="rId3" imgW="11195468" imgH="615315" progId="Word.Document.8">
                  <p:embed/>
                </p:oleObj>
              </mc:Choice>
              <mc:Fallback>
                <p:oleObj name="文档" r:id="rId3" imgW="11195468" imgH="61531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3" y="1412875"/>
                        <a:ext cx="111760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6002841" y="304674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14341" name="Picture 4" descr="E:\小样\人物全优物理人教必修第一册教用\全优物理人教必修第一册(教用2020.8.26出成书)\lxxwl577.tif"/>
          <p:cNvPicPr>
            <a:picLocks noChangeAspect="1" noChangeArrowheads="1"/>
          </p:cNvPicPr>
          <p:nvPr/>
        </p:nvPicPr>
        <p:blipFill>
          <a:blip r:embed="rId5" r:link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43025" y="2924175"/>
            <a:ext cx="822007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854075"/>
            <a:ext cx="11301413" cy="4879975"/>
          </a:xfrm>
        </p:spPr>
        <p:txBody>
          <a:bodyPr/>
          <a:lstStyle/>
          <a:p>
            <a:pPr marL="0" indent="720725" eaLnBrk="1"/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．解题步骤</a:t>
            </a:r>
          </a:p>
          <a:p>
            <a:pPr marL="0" indent="720725" eaLnBrk="1"/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确定研究对象，对研究对象进行受力分析和运动分析，并画出物体的受力示意图．</a:t>
            </a:r>
          </a:p>
          <a:p>
            <a:pPr marL="0" indent="720725" eaLnBrk="1"/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(2)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根据力的合成与分解的方法，求出物体所受的合外力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包括大小和方向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</a:t>
            </a:r>
          </a:p>
          <a:p>
            <a:pPr marL="0" indent="720725" eaLnBrk="1"/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(3)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根据牛顿第二定律列方程，求出物体的加速度．</a:t>
            </a:r>
          </a:p>
          <a:p>
            <a:pPr marL="0" indent="720725" eaLnBrk="1"/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(4)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结合给定的物体运动的初始条件，选择运动学公式，求出所需的运动参量．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692150"/>
            <a:ext cx="11301413" cy="4879975"/>
          </a:xfrm>
        </p:spPr>
        <p:txBody>
          <a:bodyPr/>
          <a:lstStyle/>
          <a:p>
            <a:pPr marL="0" indent="720725" eaLnBrk="1"/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3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．应用牛顿第二定律解题时求合力的方法</a:t>
            </a:r>
          </a:p>
          <a:p>
            <a:pPr marL="0" indent="720725" eaLnBrk="1"/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合成法：物体只受两个力的作用产生加速度时，合力的方向就是加速度的方向，解题时要求准确作出力的平行四边形，然后运用几何知识求合力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baseline="-30000" dirty="0" smtClean="0">
                <a:latin typeface="Times New Roman"/>
                <a:ea typeface="微软雅黑"/>
                <a:sym typeface="Times New Roman"/>
              </a:rPr>
              <a:t>合．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反之，若知道加速度方向就知道合力方向．</a:t>
            </a:r>
          </a:p>
          <a:p>
            <a:pPr marL="0" indent="720725" eaLnBrk="1"/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(2)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正交分解法：当物体受到两个以上的力作用而产生加速度时，通常用正交分解法解答，一般把力正交分解为加速度方向和垂直于加速度方向的两个分量．即沿加速度方向：</a:t>
            </a:r>
            <a:r>
              <a:rPr lang="en-US" altLang="zh-CN" i="1" dirty="0" err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i="1" baseline="-30000" dirty="0" err="1" smtClean="0">
                <a:latin typeface="Times New Roman"/>
                <a:ea typeface="微软雅黑"/>
                <a:sym typeface="Times New Roman"/>
              </a:rPr>
              <a:t>x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ma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，垂直于加速度方向：</a:t>
            </a:r>
            <a:r>
              <a:rPr lang="en-US" altLang="zh-CN" i="1" dirty="0" err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i="1" baseline="-30000" dirty="0" err="1" smtClean="0">
                <a:latin typeface="Times New Roman"/>
                <a:ea typeface="微软雅黑"/>
                <a:sym typeface="Times New Roman"/>
              </a:rPr>
              <a:t>y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0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289050"/>
            <a:ext cx="8242300" cy="5092700"/>
          </a:xfrm>
        </p:spPr>
        <p:txBody>
          <a:bodyPr/>
          <a:lstStyle/>
          <a:p>
            <a:pPr marL="0" indent="720725" eaLnBrk="1">
              <a:lnSpc>
                <a:spcPct val="130000"/>
              </a:lnSpc>
              <a:tabLst>
                <a:tab pos="1252538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	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从受力确定运动情况</a:t>
            </a:r>
          </a:p>
          <a:p>
            <a:pPr marL="0" indent="720725" eaLnBrk="1">
              <a:lnSpc>
                <a:spcPct val="130000"/>
              </a:lnSpc>
              <a:tabLst>
                <a:tab pos="1252538" algn="l"/>
                <a:tab pos="5561013" algn="l"/>
                <a:tab pos="10047288" algn="l"/>
              </a:tabLst>
            </a:pP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精例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　滑冰车是儿童喜欢的冰上娱乐项目之一，如图所示为小明妈妈正与小明在冰上游戏，小明与冰车的总质量是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40 kg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，冰车与冰面之间的动摩擦因数为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0.05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，在某次游戏中，假设小明妈妈对冰车施加了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40 N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的水平推力，使冰车从静止开始运动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10 s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后，停止施加力的作用，使冰车自由滑行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假设运动过程中冰车始终沿直线运动，小明始终没有施加力的作用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．求：</a:t>
            </a:r>
          </a:p>
        </p:txBody>
      </p:sp>
      <p:pic>
        <p:nvPicPr>
          <p:cNvPr id="17411" name="Picture 3" descr="对点精练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33975" y="909638"/>
            <a:ext cx="191928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 descr="点蓝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8900" y="1501775"/>
            <a:ext cx="315913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6002841" y="187834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17414" name="Picture 5" descr="E:\小样\人物全优物理人教必修第一册教用\全优物理人教必修第一册(教用2020.8.26出成书)\lxxwl578.tif"/>
          <p:cNvPicPr>
            <a:picLocks noChangeAspect="1" noChangeArrowheads="1"/>
          </p:cNvPicPr>
          <p:nvPr/>
        </p:nvPicPr>
        <p:blipFill>
          <a:blip r:embed="rId4" r:link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59825" y="2493963"/>
            <a:ext cx="3133725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866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087438"/>
            <a:ext cx="11301413" cy="1887537"/>
          </a:xfrm>
        </p:spPr>
        <p:txBody>
          <a:bodyPr/>
          <a:lstStyle/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冰车的最大速率；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冰车在整个运动过程中滑行总位移的大小．</a:t>
            </a:r>
            <a:endParaRPr lang="zh-CN" altLang="en-US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答案</a:t>
            </a:r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(1)5 m/s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(2)50 m</a:t>
            </a:r>
          </a:p>
        </p:txBody>
      </p:sp>
      <p:sp>
        <p:nvSpPr>
          <p:cNvPr id="1316867" name="Rectangle 3"/>
          <p:cNvSpPr>
            <a:spLocks noChangeArrowheads="1"/>
          </p:cNvSpPr>
          <p:nvPr/>
        </p:nvSpPr>
        <p:spPr bwMode="auto">
          <a:xfrm>
            <a:off x="444500" y="3103563"/>
            <a:ext cx="11301413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720725" algn="just" eaLnBrk="1">
              <a:lnSpc>
                <a:spcPct val="140000"/>
              </a:lnSpc>
              <a:buClr>
                <a:schemeClr val="accent1"/>
              </a:buClr>
              <a:buFont typeface="Wingdings" pitchFamily="2" charset="2"/>
              <a:buNone/>
              <a:tabLst>
                <a:tab pos="5561013" algn="l"/>
                <a:tab pos="10047288" algn="l"/>
              </a:tabLst>
            </a:pPr>
            <a:r>
              <a:rPr lang="en-US" altLang="zh-CN" b="1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b="1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解析</a:t>
            </a:r>
            <a:r>
              <a:rPr lang="en-US" altLang="zh-CN" b="1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b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b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以冰车及小明为研究对象，由牛顿第二定律得</a:t>
            </a:r>
          </a:p>
          <a:p>
            <a:pPr indent="720725" algn="just" eaLnBrk="1">
              <a:lnSpc>
                <a:spcPct val="140000"/>
              </a:lnSpc>
              <a:buClr>
                <a:schemeClr val="accent1"/>
              </a:buClr>
              <a:buFont typeface="Wingdings" pitchFamily="2" charset="2"/>
              <a:buNone/>
              <a:tabLst>
                <a:tab pos="5561013" algn="l"/>
                <a:tab pos="10047288" algn="l"/>
              </a:tabLst>
            </a:pPr>
            <a:r>
              <a:rPr lang="en-US" altLang="zh-CN" b="1" i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b="1">
                <a:solidFill>
                  <a:srgbClr val="000000"/>
                </a:solidFill>
                <a:latin typeface="Times New Roman"/>
                <a:ea typeface="微软雅黑"/>
                <a:cs typeface="Times New Roman" pitchFamily="18" charset="0"/>
                <a:sym typeface="Times New Roman"/>
              </a:rPr>
              <a:t>－</a:t>
            </a:r>
            <a:r>
              <a:rPr lang="en-US" altLang="zh-CN" b="1" i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μmg</a:t>
            </a:r>
            <a:r>
              <a:rPr lang="zh-CN" altLang="en-US" b="1">
                <a:solidFill>
                  <a:srgbClr val="000000"/>
                </a:solidFill>
                <a:latin typeface="Times New Roman"/>
                <a:ea typeface="微软雅黑"/>
                <a:cs typeface="Times New Roman" pitchFamily="18" charset="0"/>
                <a:sym typeface="Times New Roman"/>
              </a:rPr>
              <a:t>＝</a:t>
            </a:r>
            <a:r>
              <a:rPr lang="en-US" altLang="zh-CN" b="1" i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ma</a:t>
            </a:r>
            <a:r>
              <a:rPr lang="en-US" altLang="zh-CN" b="1" baseline="-30000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1		</a:t>
            </a:r>
            <a:r>
              <a:rPr lang="en-US" altLang="zh-CN" b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①</a:t>
            </a:r>
            <a:endParaRPr lang="en-US" altLang="zh-CN" b="1" i="1">
              <a:solidFill>
                <a:srgbClr val="000000"/>
              </a:solidFill>
              <a:latin typeface="Times New Roman"/>
              <a:ea typeface="微软雅黑"/>
              <a:sym typeface="Times New Roman"/>
            </a:endParaRPr>
          </a:p>
          <a:p>
            <a:pPr indent="720725" algn="just" eaLnBrk="1">
              <a:lnSpc>
                <a:spcPct val="140000"/>
              </a:lnSpc>
              <a:buClr>
                <a:schemeClr val="accent1"/>
              </a:buClr>
              <a:buFont typeface="Wingdings" pitchFamily="2" charset="2"/>
              <a:buNone/>
              <a:tabLst>
                <a:tab pos="5561013" algn="l"/>
                <a:tab pos="10047288" algn="l"/>
              </a:tabLst>
            </a:pPr>
            <a:r>
              <a:rPr lang="en-US" altLang="zh-CN" b="1" i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v</a:t>
            </a:r>
            <a:r>
              <a:rPr lang="en-US" altLang="zh-CN" b="1" baseline="-30000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m</a:t>
            </a:r>
            <a:r>
              <a:rPr lang="zh-CN" altLang="en-US" b="1">
                <a:solidFill>
                  <a:srgbClr val="000000"/>
                </a:solidFill>
                <a:latin typeface="Times New Roman"/>
                <a:ea typeface="微软雅黑"/>
                <a:cs typeface="Times New Roman" pitchFamily="18" charset="0"/>
                <a:sym typeface="Times New Roman"/>
              </a:rPr>
              <a:t>＝</a:t>
            </a:r>
            <a:r>
              <a:rPr lang="en-US" altLang="zh-CN" b="1" i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a</a:t>
            </a:r>
            <a:r>
              <a:rPr lang="en-US" altLang="zh-CN" b="1" baseline="-30000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1</a:t>
            </a:r>
            <a:r>
              <a:rPr lang="en-US" altLang="zh-CN" b="1" i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t		</a:t>
            </a:r>
            <a:r>
              <a:rPr lang="en-US" altLang="zh-CN" b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②</a:t>
            </a:r>
          </a:p>
          <a:p>
            <a:pPr indent="720725" algn="just" eaLnBrk="1">
              <a:lnSpc>
                <a:spcPct val="140000"/>
              </a:lnSpc>
              <a:buClr>
                <a:schemeClr val="accent1"/>
              </a:buClr>
              <a:buFont typeface="Wingdings" pitchFamily="2" charset="2"/>
              <a:buNone/>
              <a:tabLst>
                <a:tab pos="5561013" algn="l"/>
                <a:tab pos="10047288" algn="l"/>
              </a:tabLst>
            </a:pPr>
            <a:r>
              <a:rPr lang="zh-CN" altLang="en-US" b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由①②式得</a:t>
            </a:r>
            <a:r>
              <a:rPr lang="en-US" altLang="zh-CN" b="1" i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v</a:t>
            </a:r>
            <a:r>
              <a:rPr lang="en-US" altLang="zh-CN" b="1" baseline="-30000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m</a:t>
            </a:r>
            <a:r>
              <a:rPr lang="zh-CN" altLang="en-US" b="1">
                <a:solidFill>
                  <a:srgbClr val="000000"/>
                </a:solidFill>
                <a:latin typeface="Times New Roman"/>
                <a:ea typeface="微软雅黑"/>
                <a:cs typeface="Times New Roman" pitchFamily="18" charset="0"/>
                <a:sym typeface="Times New Roman"/>
              </a:rPr>
              <a:t>＝</a:t>
            </a:r>
            <a:r>
              <a:rPr lang="en-US" altLang="zh-CN" b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5 m/s</a:t>
            </a:r>
            <a:r>
              <a:rPr lang="zh-CN" altLang="en-US" b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．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686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3"/>
          <p:cNvGraphicFramePr>
            <a:graphicFrameLocks noChangeAspect="1"/>
          </p:cNvGraphicFramePr>
          <p:nvPr/>
        </p:nvGraphicFramePr>
        <p:xfrm>
          <a:off x="542925" y="1746250"/>
          <a:ext cx="11104563" cy="336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文档" r:id="rId3" imgW="11104618" imgH="3365161" progId="Word.Document.8">
                  <p:embed/>
                </p:oleObj>
              </mc:Choice>
              <mc:Fallback>
                <p:oleObj name="文档" r:id="rId3" imgW="11104618" imgH="3365161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1746250"/>
                        <a:ext cx="11104563" cy="336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914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925513"/>
            <a:ext cx="11301413" cy="4879975"/>
          </a:xfrm>
        </p:spPr>
        <p:txBody>
          <a:bodyPr/>
          <a:lstStyle/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变式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用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135 N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的水平力拉质量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30 kg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的箱子，使箱子在水平地面上由静止开始做匀加速直线运动，当箱子的速度达到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v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10 m/s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时撤去力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.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已知箱子运动过程中所受滑动摩擦力的大小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75 N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，重力加速度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取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10 m/s</a:t>
            </a:r>
            <a:r>
              <a:rPr lang="en-US" altLang="zh-CN" baseline="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.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求：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箱子与地面间的动摩擦因数；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水平力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的作用时间；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(3)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在撤去力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后，箱子在水平地面上滑行的最大距离．</a:t>
            </a:r>
            <a:endParaRPr lang="zh-CN" altLang="en-US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答案</a:t>
            </a:r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(1)0.25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(2)5.0 s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(3)20 m</a:t>
            </a:r>
            <a:endParaRPr lang="en-US" altLang="zh-CN" smtClean="0">
              <a:solidFill>
                <a:srgbClr val="0000FF"/>
              </a:solidFill>
              <a:latin typeface="Times New Roman"/>
              <a:ea typeface="微软雅黑"/>
              <a:sym typeface="Times New Roman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692150"/>
            <a:ext cx="11301413" cy="4281488"/>
          </a:xfrm>
        </p:spPr>
        <p:txBody>
          <a:bodyPr/>
          <a:lstStyle/>
          <a:p>
            <a:pPr marL="0" indent="720725" eaLnBrk="1"/>
            <a:endParaRPr lang="en-US" altLang="zh-CN" smtClean="0">
              <a:solidFill>
                <a:srgbClr val="0000FF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解析</a:t>
            </a:r>
            <a:r>
              <a:rPr lang="en-US" altLang="zh-CN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箱子运动过程中所受摩擦力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μmg</a:t>
            </a:r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解得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μ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0.25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设箱子在水平地面上做匀加速运动的加速度大小为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</a:t>
            </a:r>
          </a:p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根据牛顿第二定律有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－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1</a:t>
            </a:r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根据运动学公式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v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t</a:t>
            </a:r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解得力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作用时间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5.0 s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692150"/>
            <a:ext cx="11301413" cy="4281488"/>
          </a:xfrm>
        </p:spPr>
        <p:txBody>
          <a:bodyPr/>
          <a:lstStyle/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(3)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设撤去力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后，箱子在水平地面上减速滑行的加速度为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，滑行的最大距离为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x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，则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μmg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解得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2.5 m/s</a:t>
            </a:r>
            <a:r>
              <a:rPr lang="en-US" altLang="zh-CN" baseline="30000" smtClean="0">
                <a:latin typeface="Times New Roman"/>
                <a:ea typeface="微软雅黑"/>
                <a:sym typeface="Times New Roman"/>
              </a:rPr>
              <a:t>2</a:t>
            </a:r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根据运动学公式有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v</a:t>
            </a:r>
            <a:r>
              <a:rPr lang="en-US" altLang="zh-CN" baseline="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x</a:t>
            </a:r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解得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x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20 m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 </a:t>
            </a:r>
          </a:p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4500" y="692150"/>
            <a:ext cx="11301413" cy="5478463"/>
          </a:xfrm>
        </p:spPr>
        <p:txBody>
          <a:bodyPr/>
          <a:lstStyle/>
          <a:p>
            <a:pPr marL="0" indent="720725" eaLnBrk="1">
              <a:tabLst>
                <a:tab pos="1349375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	</a:t>
            </a:r>
            <a:r>
              <a:rPr lang="zh-CN" altLang="zh-CN" dirty="0" smtClean="0">
                <a:latin typeface="Times New Roman"/>
                <a:ea typeface="微软雅黑"/>
                <a:sym typeface="Times New Roman"/>
              </a:rPr>
              <a:t>等时圆模型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zh-CN" dirty="0" smtClean="0">
                <a:latin typeface="Times New Roman"/>
                <a:ea typeface="微软雅黑"/>
                <a:sym typeface="Times New Roman"/>
              </a:rPr>
              <a:t>拓展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)</a:t>
            </a:r>
            <a:endParaRPr lang="zh-CN" altLang="en-US" dirty="0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>
              <a:tabLst>
                <a:tab pos="1349375" algn="l"/>
                <a:tab pos="5561013" algn="l"/>
                <a:tab pos="10047288" algn="l"/>
              </a:tabLst>
            </a:pP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精例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　如图所示，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ad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、</a:t>
            </a:r>
            <a:r>
              <a:rPr lang="en-US" altLang="zh-CN" i="1" dirty="0" err="1" smtClean="0">
                <a:latin typeface="Times New Roman"/>
                <a:ea typeface="微软雅黑"/>
                <a:sym typeface="Times New Roman"/>
              </a:rPr>
              <a:t>bd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、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cd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是竖直面内三根固定的光滑细杆，每根杆上套着一个小滑环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图中未画出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，三个滑环分别从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、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b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、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c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处释放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初速度为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0)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，用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、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、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3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依次表示各滑环到达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d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所用的时间，则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　　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)</a:t>
            </a:r>
          </a:p>
          <a:p>
            <a:pPr marL="0" indent="720725" eaLnBrk="1">
              <a:tabLst>
                <a:tab pos="1349375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&lt;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&lt;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3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	</a:t>
            </a:r>
          </a:p>
          <a:p>
            <a:pPr marL="0" indent="720725" eaLnBrk="1">
              <a:tabLst>
                <a:tab pos="1349375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B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&gt;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&gt;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3</a:t>
            </a:r>
            <a:endParaRPr lang="en-US" altLang="zh-CN" dirty="0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>
              <a:tabLst>
                <a:tab pos="1349375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C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3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&gt;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&gt;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	</a:t>
            </a:r>
          </a:p>
          <a:p>
            <a:pPr marL="0" indent="720725" eaLnBrk="1">
              <a:tabLst>
                <a:tab pos="1349375" algn="l"/>
                <a:tab pos="5561013" algn="l"/>
                <a:tab pos="10047288" algn="l"/>
              </a:tabLst>
            </a:pP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D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dirty="0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dirty="0" smtClean="0">
                <a:latin typeface="Times New Roman"/>
                <a:ea typeface="微软雅黑"/>
                <a:sym typeface="Times New Roman"/>
              </a:rPr>
              <a:t>3</a:t>
            </a:r>
            <a:endParaRPr lang="en-US" altLang="zh-CN" dirty="0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>
              <a:tabLst>
                <a:tab pos="1349375" algn="l"/>
                <a:tab pos="5561013" algn="l"/>
                <a:tab pos="10047288" algn="l"/>
              </a:tabLst>
            </a:pPr>
            <a:r>
              <a:rPr lang="en-US" altLang="zh-CN" dirty="0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答案</a:t>
            </a:r>
            <a:r>
              <a:rPr lang="en-US" altLang="zh-CN" dirty="0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D</a:t>
            </a:r>
          </a:p>
        </p:txBody>
      </p:sp>
      <p:pic>
        <p:nvPicPr>
          <p:cNvPr id="23555" name="Picture 3" descr="点蓝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8900" y="930275"/>
            <a:ext cx="315913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6002841" y="206249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23557" name="Picture 4" descr="E:\小样\人物全优物理人教必修第一册教用\全优物理人教必修第一册(教用2020.8.26出成书)\lxxwl579.tif"/>
          <p:cNvPicPr>
            <a:picLocks noChangeAspect="1" noChangeArrowheads="1"/>
          </p:cNvPicPr>
          <p:nvPr/>
        </p:nvPicPr>
        <p:blipFill>
          <a:blip r:embed="rId3" r:link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4638" y="3429000"/>
            <a:ext cx="19145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3"/>
          <p:cNvGraphicFramePr>
            <a:graphicFrameLocks noChangeAspect="1"/>
          </p:cNvGraphicFramePr>
          <p:nvPr/>
        </p:nvGraphicFramePr>
        <p:xfrm>
          <a:off x="542925" y="1249363"/>
          <a:ext cx="11104563" cy="436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文档" r:id="rId3" imgW="11104618" imgH="4360100" progId="Word.Document.8">
                  <p:embed/>
                </p:oleObj>
              </mc:Choice>
              <mc:Fallback>
                <p:oleObj name="文档" r:id="rId3" imgW="11104618" imgH="4360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1249363"/>
                        <a:ext cx="11104563" cy="436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62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052513"/>
            <a:ext cx="8747125" cy="4879975"/>
          </a:xfrm>
        </p:spPr>
        <p:txBody>
          <a:bodyPr/>
          <a:lstStyle/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变式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如图所示，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AB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和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CD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为两条光滑斜槽，它们各自的两个端点均分别位于半径为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R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和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r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的两个相切的圆上，且斜槽都通过切点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P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.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设有一重物先后沿两个斜槽，从静止出发，由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滑到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B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和由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C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滑到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D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，所用的时间分别为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和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，则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与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之比为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　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)</a:t>
            </a:r>
          </a:p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答案</a:t>
            </a:r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B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6002841" y="1860878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25604" name="Picture 3" descr="E:\小样\人物全优物理人教必修第一册教用\全优物理人教必修第一册(教用2020.8.26出成书)\lxxwl580.tif"/>
          <p:cNvPicPr>
            <a:picLocks noChangeAspect="1" noChangeArrowheads="1"/>
          </p:cNvPicPr>
          <p:nvPr/>
        </p:nvPicPr>
        <p:blipFill>
          <a:blip r:embed="rId3" r:link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63063" y="1268413"/>
            <a:ext cx="2447925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542925" y="4246563"/>
          <a:ext cx="11104563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文档" r:id="rId5" imgW="11104618" imgH="1198245" progId="Word.Document.8">
                  <p:embed/>
                </p:oleObj>
              </mc:Choice>
              <mc:Fallback>
                <p:oleObj name="文档" r:id="rId5" imgW="11104618" imgH="119824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4246563"/>
                        <a:ext cx="11104563" cy="1198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3"/>
          <p:cNvGraphicFramePr>
            <a:graphicFrameLocks noChangeAspect="1"/>
          </p:cNvGraphicFramePr>
          <p:nvPr/>
        </p:nvGraphicFramePr>
        <p:xfrm>
          <a:off x="542925" y="2008188"/>
          <a:ext cx="11104563" cy="284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文档" r:id="rId3" imgW="11104618" imgH="2843403" progId="Word.Document.8">
                  <p:embed/>
                </p:oleObj>
              </mc:Choice>
              <mc:Fallback>
                <p:oleObj name="文档" r:id="rId3" imgW="11104618" imgH="2843403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2008188"/>
                        <a:ext cx="11104563" cy="284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692150"/>
            <a:ext cx="11301413" cy="5570538"/>
          </a:xfrm>
          <a:ln cap="flat">
            <a:solidFill>
              <a:srgbClr val="000000"/>
            </a:solidFill>
            <a:prstDash val="lgDash"/>
            <a:miter lim="800000"/>
            <a:headEnd/>
            <a:tailEnd/>
          </a:ln>
        </p:spPr>
        <p:txBody>
          <a:bodyPr/>
          <a:lstStyle/>
          <a:p>
            <a:pPr marL="0" indent="720725" eaLnBrk="1">
              <a:lnSpc>
                <a:spcPct val="100000"/>
              </a:lnSpc>
              <a:tabLst>
                <a:tab pos="4484688" algn="l"/>
                <a:tab pos="5561013" algn="l"/>
                <a:tab pos="10047288" algn="l"/>
              </a:tabLst>
            </a:pP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	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等时圆模型 	</a:t>
            </a:r>
          </a:p>
          <a:p>
            <a:pPr marL="0" indent="720725" eaLnBrk="1">
              <a:tabLst>
                <a:tab pos="4484688" algn="l"/>
                <a:tab pos="5561013" algn="l"/>
                <a:tab pos="10047288" algn="l"/>
              </a:tabLst>
            </a:pPr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>
              <a:lnSpc>
                <a:spcPct val="160000"/>
              </a:lnSpc>
              <a:tabLst>
                <a:tab pos="4484688" algn="l"/>
                <a:tab pos="5561013" algn="l"/>
                <a:tab pos="10047288" algn="l"/>
              </a:tabLst>
            </a:pPr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>
              <a:tabLst>
                <a:tab pos="4484688" algn="l"/>
                <a:tab pos="5561013" algn="l"/>
                <a:tab pos="10047288" algn="l"/>
              </a:tabLst>
            </a:pPr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>
              <a:tabLst>
                <a:tab pos="4484688" algn="l"/>
                <a:tab pos="5561013" algn="l"/>
                <a:tab pos="10047288" algn="l"/>
              </a:tabLst>
            </a:pPr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>
              <a:lnSpc>
                <a:spcPct val="180000"/>
              </a:lnSpc>
              <a:tabLst>
                <a:tab pos="4484688" algn="l"/>
                <a:tab pos="5561013" algn="l"/>
                <a:tab pos="10047288" algn="l"/>
              </a:tabLst>
            </a:pPr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>
              <a:tabLst>
                <a:tab pos="4484688" algn="l"/>
                <a:tab pos="5561013" algn="l"/>
                <a:tab pos="10047288" algn="l"/>
              </a:tabLst>
            </a:pPr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>
              <a:tabLst>
                <a:tab pos="4484688" algn="l"/>
                <a:tab pos="5561013" algn="l"/>
                <a:tab pos="10047288" algn="l"/>
              </a:tabLst>
            </a:pPr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>
              <a:tabLst>
                <a:tab pos="4484688" algn="l"/>
                <a:tab pos="5561013" algn="l"/>
                <a:tab pos="10047288" algn="l"/>
              </a:tabLst>
            </a:pPr>
            <a:endParaRPr lang="en-US" altLang="zh-CN" smtClean="0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27651" name="Picture 3" descr="易错提醒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0863" y="836613"/>
            <a:ext cx="19319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471488" y="1268413"/>
          <a:ext cx="11247437" cy="517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文档" r:id="rId4" imgW="11257837" imgH="5178002" progId="Word.Document.8">
                  <p:embed/>
                </p:oleObj>
              </mc:Choice>
              <mc:Fallback>
                <p:oleObj name="文档" r:id="rId4" imgW="11257837" imgH="517800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8" y="1268413"/>
                        <a:ext cx="11247437" cy="517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012825"/>
            <a:ext cx="11301413" cy="4889500"/>
          </a:xfrm>
          <a:ln cap="flat">
            <a:solidFill>
              <a:srgbClr val="000000"/>
            </a:solidFill>
            <a:prstDash val="lgDash"/>
            <a:miter lim="800000"/>
            <a:headEnd/>
            <a:tailEnd/>
          </a:ln>
        </p:spPr>
        <p:txBody>
          <a:bodyPr/>
          <a:lstStyle/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471488" y="1309688"/>
          <a:ext cx="11247437" cy="456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文档" r:id="rId3" imgW="11257837" imgH="4567364" progId="Word.Document.8">
                  <p:embed/>
                </p:oleObj>
              </mc:Choice>
              <mc:Fallback>
                <p:oleObj name="文档" r:id="rId3" imgW="11257837" imgH="4567364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8" y="1309688"/>
                        <a:ext cx="11247437" cy="456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916113"/>
            <a:ext cx="8099425" cy="3084512"/>
          </a:xfrm>
        </p:spPr>
        <p:txBody>
          <a:bodyPr/>
          <a:lstStyle/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一运动员滑雪时的照片如图所示，已知：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在下滑过程中的运动时间．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在下滑过程中的运动位移．</a:t>
            </a:r>
          </a:p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结合上述情况讨论：由物体的运动情况确定其受力情况的思路是怎样的？</a:t>
            </a:r>
          </a:p>
        </p:txBody>
      </p:sp>
      <p:pic>
        <p:nvPicPr>
          <p:cNvPr id="29699" name="Picture 3" descr="探究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7513" y="693738"/>
            <a:ext cx="113442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2278063" y="781050"/>
            <a:ext cx="9467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>
              <a:buClr>
                <a:schemeClr val="accent1"/>
              </a:buClr>
              <a:buFont typeface="Wingdings" pitchFamily="2" charset="2"/>
              <a:buNone/>
              <a:tabLst>
                <a:tab pos="5561013" algn="l"/>
                <a:tab pos="10047288" algn="l"/>
              </a:tabLst>
            </a:pPr>
            <a:r>
              <a:rPr lang="zh-CN" altLang="en-US" b="1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已知物体的运动情况求受力</a:t>
            </a:r>
          </a:p>
        </p:txBody>
      </p:sp>
      <p:pic>
        <p:nvPicPr>
          <p:cNvPr id="29701" name="Picture 7" descr="情境探究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35563" y="1484313"/>
            <a:ext cx="191611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9" descr="E:\小样\人物全优物理人教必修第一册教用\全优物理人教必修第一册(教用2020.8.26出成书)\lxxwl584.tif"/>
          <p:cNvPicPr>
            <a:picLocks noChangeAspect="1" noChangeArrowheads="1"/>
          </p:cNvPicPr>
          <p:nvPr/>
        </p:nvPicPr>
        <p:blipFill>
          <a:blip r:embed="rId5" r:link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5363" y="2132013"/>
            <a:ext cx="31337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96395" name="Object 11"/>
          <p:cNvGraphicFramePr>
            <a:graphicFrameLocks noChangeAspect="1"/>
          </p:cNvGraphicFramePr>
          <p:nvPr/>
        </p:nvGraphicFramePr>
        <p:xfrm>
          <a:off x="546100" y="5048250"/>
          <a:ext cx="11039475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文档" r:id="rId7" imgW="11113991" imgH="1565635" progId="Word.Document.8">
                  <p:embed/>
                </p:oleObj>
              </mc:Choice>
              <mc:Fallback>
                <p:oleObj name="文档" r:id="rId7" imgW="11113991" imgH="1565635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5048250"/>
                        <a:ext cx="11039475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557338"/>
            <a:ext cx="11301413" cy="2486025"/>
          </a:xfrm>
        </p:spPr>
        <p:txBody>
          <a:bodyPr/>
          <a:lstStyle/>
          <a:p>
            <a:pPr marL="0" indent="720725" eaLnBrk="1"/>
            <a:r>
              <a:rPr lang="en-US" altLang="zh-CN" dirty="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．基本思路</a:t>
            </a:r>
          </a:p>
          <a:p>
            <a:pPr marL="0" indent="720725" eaLnBrk="1"/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分析物体的运动情况，由运动学公式求出物体的加速度，再由牛顿第二定律求出物体所受的合外力，进而可以求出物体所受的其他力，流程图如下所示：</a:t>
            </a:r>
          </a:p>
        </p:txBody>
      </p:sp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506413" y="981075"/>
          <a:ext cx="111760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文档" r:id="rId3" imgW="11195468" imgH="615315" progId="Word.Document.8">
                  <p:embed/>
                </p:oleObj>
              </mc:Choice>
              <mc:Fallback>
                <p:oleObj name="文档" r:id="rId3" imgW="11195468" imgH="61531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3" y="981075"/>
                        <a:ext cx="111760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5"/>
          <p:cNvSpPr>
            <a:spLocks noChangeArrowheads="1"/>
          </p:cNvSpPr>
          <p:nvPr/>
        </p:nvSpPr>
        <p:spPr bwMode="auto">
          <a:xfrm>
            <a:off x="6002841" y="272924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30725" name="Picture 4" descr="E:\小样\人物全优物理人教必修第一册教用\全优物理人教必修第一册(教用2020.8.26出成书)\lxxwl585.tif"/>
          <p:cNvPicPr>
            <a:picLocks noChangeAspect="1" noChangeArrowheads="1"/>
          </p:cNvPicPr>
          <p:nvPr/>
        </p:nvPicPr>
        <p:blipFill>
          <a:blip r:embed="rId5" r:link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51088" y="4292600"/>
            <a:ext cx="72199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530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692150"/>
            <a:ext cx="11301413" cy="4879975"/>
          </a:xfrm>
        </p:spPr>
        <p:txBody>
          <a:bodyPr/>
          <a:lstStyle/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．解题的一般步骤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确定研究对象，对研究对象进行受力分析和运动分析，并画出物体的受力示意图．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选择合适的运动学公式，求出物体的加速度．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(3)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根据牛顿第二定律列方程，求出物体所受的合力．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(4)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根据力的合成与分解的方法，由合力和已知力求出未知力．</a:t>
            </a:r>
          </a:p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素养点评：本探究通过牛顿运动定律的应用，培养科学思维．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268413"/>
            <a:ext cx="11301413" cy="3683000"/>
          </a:xfrm>
        </p:spPr>
        <p:txBody>
          <a:bodyPr/>
          <a:lstStyle/>
          <a:p>
            <a:pPr marL="0" indent="720725" eaLnBrk="1">
              <a:tabLst>
                <a:tab pos="1252538" algn="l"/>
                <a:tab pos="5561013" algn="l"/>
                <a:tab pos="10047288" algn="l"/>
              </a:tabLst>
            </a:pP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	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精例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3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在科技创新活动中，小华同学根据磁铁同性相斥原理设计了用机器人操作的磁力运输车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如图甲所示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．在光滑水平面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AB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上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如图乙所示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，机器人用大小不变的电磁力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推动质量为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1 kg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的小滑块从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点由静止开始做匀加速直线运动．小滑块到达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B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点时机器人撤去电磁力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，小滑块冲上光滑斜面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设经过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B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点前后速率不变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，最高能到达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C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点．</a:t>
            </a:r>
          </a:p>
        </p:txBody>
      </p:sp>
      <p:pic>
        <p:nvPicPr>
          <p:cNvPr id="32771" name="Picture 3" descr="对点精练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33975" y="836613"/>
            <a:ext cx="191928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4" descr="点蓝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8900" y="1500188"/>
            <a:ext cx="315913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6002841" y="2286328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32774" name="Picture 5" descr="E:\小样\人物全优物理人教必修第一册教用\全优物理人教必修第一册(教用2020.8.26出成书)\lxxwl586.tif"/>
          <p:cNvPicPr>
            <a:picLocks noChangeAspect="1" noChangeArrowheads="1"/>
          </p:cNvPicPr>
          <p:nvPr/>
        </p:nvPicPr>
        <p:blipFill>
          <a:blip r:embed="rId4" r:link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51088" y="4652963"/>
            <a:ext cx="756285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018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692150"/>
            <a:ext cx="11301413" cy="4879975"/>
          </a:xfrm>
        </p:spPr>
        <p:txBody>
          <a:bodyPr/>
          <a:lstStyle/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机器人用速度传感器测量小滑块在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ABC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过程的瞬时速度大小并记录如下．求：</a:t>
            </a:r>
          </a:p>
          <a:p>
            <a:pPr marL="0" indent="720725" eaLnBrk="1"/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机器人对小滑块作用力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的大小；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斜面的倾角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α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的大小．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取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10 m/s</a:t>
            </a:r>
            <a:r>
              <a:rPr lang="en-US" altLang="zh-CN" baseline="30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)</a:t>
            </a:r>
            <a:endParaRPr lang="en-US" altLang="zh-CN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答案</a:t>
            </a:r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(1)2 N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(2)30°</a:t>
            </a:r>
          </a:p>
        </p:txBody>
      </p:sp>
      <p:graphicFrame>
        <p:nvGraphicFramePr>
          <p:cNvPr id="1366131" name="Group 115"/>
          <p:cNvGraphicFramePr>
            <a:graphicFrameLocks noGrp="1"/>
          </p:cNvGraphicFramePr>
          <p:nvPr/>
        </p:nvGraphicFramePr>
        <p:xfrm>
          <a:off x="1074738" y="2349500"/>
          <a:ext cx="10277475" cy="1295400"/>
        </p:xfrm>
        <a:graphic>
          <a:graphicData uri="http://schemas.openxmlformats.org/drawingml/2006/table">
            <a:tbl>
              <a:tblPr/>
              <a:tblGrid>
                <a:gridCol w="1943100"/>
                <a:gridCol w="835025"/>
                <a:gridCol w="1096962"/>
                <a:gridCol w="1096963"/>
                <a:gridCol w="1006475"/>
                <a:gridCol w="1096962"/>
                <a:gridCol w="1096963"/>
                <a:gridCol w="1096962"/>
                <a:gridCol w="1008063"/>
              </a:tblGrid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/s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0.2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0.4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…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2.2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2.4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2.6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…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v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/(m·s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－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)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0.4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0.8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…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3.0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2.0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1.0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600700" algn="l"/>
                          <a:tab pos="10515600" algn="l"/>
                        </a:tabLst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微软雅黑"/>
                          <a:cs typeface="Times New Roman" pitchFamily="18" charset="0"/>
                          <a:sym typeface="Times New Roman"/>
                        </a:rPr>
                        <a:t>…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微软雅黑"/>
                        <a:cs typeface="Times New Roman" pitchFamily="18" charset="0"/>
                        <a:sym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60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3"/>
          <p:cNvGraphicFramePr>
            <a:graphicFrameLocks noChangeAspect="1"/>
          </p:cNvGraphicFramePr>
          <p:nvPr/>
        </p:nvGraphicFramePr>
        <p:xfrm>
          <a:off x="542925" y="1239838"/>
          <a:ext cx="11104563" cy="437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name="文档" r:id="rId3" imgW="11104618" imgH="4379172" progId="Word.Document.8">
                  <p:embed/>
                </p:oleObj>
              </mc:Choice>
              <mc:Fallback>
                <p:oleObj name="文档" r:id="rId3" imgW="11104618" imgH="4379172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1239838"/>
                        <a:ext cx="11104563" cy="437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4500" y="758825"/>
            <a:ext cx="11301413" cy="2505301"/>
          </a:xfrm>
        </p:spPr>
        <p:txBody>
          <a:bodyPr/>
          <a:lstStyle/>
          <a:p>
            <a:pPr marL="0" indent="712788" eaLnBrk="1">
              <a:tabLst>
                <a:tab pos="5467350" algn="l"/>
              </a:tabLst>
            </a:pPr>
            <a:r>
              <a:rPr lang="zh-CN" altLang="zh-CN" smtClean="0">
                <a:latin typeface="Times New Roman"/>
                <a:ea typeface="微软雅黑"/>
                <a:sym typeface="Times New Roman"/>
              </a:rPr>
              <a:t>变式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3</a:t>
            </a:r>
            <a:r>
              <a:rPr lang="zh-CN" altLang="zh-CN" smtClean="0">
                <a:latin typeface="Times New Roman"/>
                <a:ea typeface="微软雅黑"/>
                <a:sym typeface="Times New Roman"/>
              </a:rPr>
              <a:t>　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(2021</a:t>
            </a:r>
            <a:r>
              <a:rPr lang="zh-CN" altLang="zh-CN" smtClean="0">
                <a:latin typeface="Times New Roman"/>
                <a:ea typeface="微软雅黑"/>
                <a:sym typeface="Times New Roman"/>
              </a:rPr>
              <a:t>届淮安名校模拟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)</a:t>
            </a:r>
            <a:r>
              <a:rPr lang="zh-CN" altLang="zh-CN" smtClean="0">
                <a:latin typeface="Times New Roman"/>
                <a:ea typeface="微软雅黑"/>
                <a:cs typeface="Times New Roman" pitchFamily="18" charset="0"/>
                <a:sym typeface="Times New Roman"/>
              </a:rPr>
              <a:t>如图所示甲为台阶式电梯，乙为履带式电梯，它们倾角相同，没有顾客乘坐时低速转动，有顾客乘坐时会匀加速启动，加速度大小相同．启动时甲电梯对电梯上顾客的摩擦力大小为</a:t>
            </a:r>
            <a:r>
              <a:rPr lang="en-US" altLang="zh-CN" i="1" smtClean="0">
                <a:latin typeface="Times New Roman"/>
                <a:ea typeface="微软雅黑"/>
                <a:cs typeface="Courier New" pitchFamily="49" charset="0"/>
                <a:sym typeface="Times New Roman"/>
              </a:rPr>
              <a:t>f</a:t>
            </a:r>
            <a:r>
              <a:rPr lang="en-US" altLang="zh-CN" baseline="-25000" smtClean="0">
                <a:latin typeface="Times New Roman"/>
                <a:ea typeface="微软雅黑"/>
                <a:cs typeface="Courier New" pitchFamily="49" charset="0"/>
                <a:sym typeface="Times New Roman"/>
              </a:rPr>
              <a:t>1</a:t>
            </a:r>
            <a:r>
              <a:rPr lang="zh-CN" altLang="zh-CN" smtClean="0">
                <a:latin typeface="Times New Roman"/>
                <a:ea typeface="微软雅黑"/>
                <a:cs typeface="Times New Roman" pitchFamily="18" charset="0"/>
                <a:sym typeface="Times New Roman"/>
              </a:rPr>
              <a:t>，乙电梯对顾客的摩擦力大小为</a:t>
            </a:r>
            <a:r>
              <a:rPr lang="en-US" altLang="zh-CN" i="1" smtClean="0">
                <a:latin typeface="Times New Roman"/>
                <a:ea typeface="微软雅黑"/>
                <a:cs typeface="Courier New" pitchFamily="49" charset="0"/>
                <a:sym typeface="Times New Roman"/>
              </a:rPr>
              <a:t>f</a:t>
            </a:r>
            <a:r>
              <a:rPr lang="en-US" altLang="zh-CN" baseline="-25000" smtClean="0">
                <a:latin typeface="Times New Roman"/>
                <a:ea typeface="微软雅黑"/>
                <a:cs typeface="Courier New" pitchFamily="49" charset="0"/>
                <a:sym typeface="Times New Roman"/>
              </a:rPr>
              <a:t>2</a:t>
            </a:r>
            <a:r>
              <a:rPr lang="zh-CN" altLang="zh-CN" smtClean="0">
                <a:latin typeface="Times New Roman"/>
                <a:ea typeface="微软雅黑"/>
                <a:cs typeface="Times New Roman" pitchFamily="18" charset="0"/>
                <a:sym typeface="Times New Roman"/>
              </a:rPr>
              <a:t>，则</a:t>
            </a:r>
            <a:r>
              <a:rPr lang="en-US" altLang="zh-CN" smtClean="0">
                <a:latin typeface="Times New Roman"/>
                <a:ea typeface="微软雅黑"/>
                <a:cs typeface="Courier New" pitchFamily="49" charset="0"/>
                <a:sym typeface="Times New Roman"/>
              </a:rPr>
              <a:t>(</a:t>
            </a:r>
            <a:r>
              <a:rPr lang="zh-CN" altLang="zh-CN" smtClean="0">
                <a:latin typeface="Times New Roman"/>
                <a:ea typeface="微软雅黑"/>
                <a:cs typeface="Times New Roman" pitchFamily="18" charset="0"/>
                <a:sym typeface="Times New Roman"/>
              </a:rPr>
              <a:t>　　</a:t>
            </a:r>
            <a:r>
              <a:rPr lang="en-US" altLang="zh-CN" smtClean="0">
                <a:latin typeface="Times New Roman"/>
                <a:ea typeface="微软雅黑"/>
                <a:cs typeface="Courier New" pitchFamily="49" charset="0"/>
                <a:sym typeface="Times New Roman"/>
              </a:rPr>
              <a:t>)</a:t>
            </a:r>
            <a:endParaRPr lang="zh-CN" altLang="zh-CN" sz="1000" smtClean="0">
              <a:latin typeface="Times New Roman"/>
              <a:ea typeface="微软雅黑"/>
              <a:cs typeface="Courier New" pitchFamily="49" charset="0"/>
              <a:sym typeface="Times New Roman"/>
            </a:endParaRPr>
          </a:p>
        </p:txBody>
      </p:sp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6002841" y="25673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35844" name="Rectangle 6"/>
          <p:cNvSpPr>
            <a:spLocks noChangeArrowheads="1"/>
          </p:cNvSpPr>
          <p:nvPr/>
        </p:nvSpPr>
        <p:spPr bwMode="auto">
          <a:xfrm>
            <a:off x="6002841" y="-330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35845" name="Picture 5" descr="K:\AAA课件原稿文件夹\2020·全优·原稿\！需要修订原稿\全优物理人教必修第一册(教用)已核对   修订\HW39.TIF"/>
          <p:cNvPicPr>
            <a:picLocks noChangeAspect="1" noChangeArrowheads="1"/>
          </p:cNvPicPr>
          <p:nvPr/>
        </p:nvPicPr>
        <p:blipFill>
          <a:blip r:embed="rId2" r:link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8825" y="3284538"/>
            <a:ext cx="70993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44500" y="3200400"/>
            <a:ext cx="4067175" cy="310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720725" algn="just" rtl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tabLst>
                <a:tab pos="5561013" algn="l"/>
                <a:tab pos="10047288" algn="l"/>
              </a:tabLst>
              <a:defRPr sz="28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357313" indent="-285750" algn="just" rtl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tabLst>
                <a:tab pos="5561013" algn="l"/>
                <a:tab pos="10047288" algn="l"/>
              </a:tabLst>
              <a:defRPr sz="2400" b="1">
                <a:solidFill>
                  <a:srgbClr val="000000"/>
                </a:solidFill>
                <a:latin typeface="Arial" pitchFamily="34" charset="0"/>
              </a:defRPr>
            </a:lvl2pPr>
            <a:lvl3pPr marL="1765300" indent="-228600" algn="just" rtl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tabLst>
                <a:tab pos="5561013" algn="l"/>
                <a:tab pos="10047288" algn="l"/>
              </a:tabLst>
              <a:defRPr sz="2400" b="1">
                <a:solidFill>
                  <a:srgbClr val="000000"/>
                </a:solidFill>
                <a:latin typeface="Arial" pitchFamily="34" charset="0"/>
              </a:defRPr>
            </a:lvl3pPr>
            <a:lvl4pPr marL="2173288" indent="-228600" algn="just" rtl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tabLst>
                <a:tab pos="5561013" algn="l"/>
                <a:tab pos="10047288" algn="l"/>
              </a:tabLst>
              <a:defRPr sz="2400" b="1">
                <a:solidFill>
                  <a:srgbClr val="000000"/>
                </a:solidFill>
                <a:latin typeface="Arial" pitchFamily="34" charset="0"/>
              </a:defRPr>
            </a:lvl4pPr>
            <a:lvl5pPr marL="2581275" indent="-228600" algn="just" rtl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tabLst>
                <a:tab pos="5561013" algn="l"/>
                <a:tab pos="10047288" algn="l"/>
              </a:tabLst>
              <a:defRPr sz="2400" b="1">
                <a:solidFill>
                  <a:srgbClr val="000000"/>
                </a:solidFill>
                <a:latin typeface="Arial" pitchFamily="34" charset="0"/>
              </a:defRPr>
            </a:lvl5pPr>
            <a:lvl6pPr marL="3038475" indent="-228600" algn="just" rtl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tabLst>
                <a:tab pos="5561013" algn="l"/>
                <a:tab pos="10047288" algn="l"/>
              </a:tabLst>
              <a:defRPr sz="2400" b="1">
                <a:solidFill>
                  <a:srgbClr val="000000"/>
                </a:solidFill>
                <a:latin typeface="Arial" pitchFamily="34" charset="0"/>
              </a:defRPr>
            </a:lvl6pPr>
            <a:lvl7pPr marL="3495675" indent="-228600" algn="just" rtl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tabLst>
                <a:tab pos="5561013" algn="l"/>
                <a:tab pos="10047288" algn="l"/>
              </a:tabLst>
              <a:defRPr sz="2400" b="1">
                <a:solidFill>
                  <a:srgbClr val="000000"/>
                </a:solidFill>
                <a:latin typeface="Arial" pitchFamily="34" charset="0"/>
              </a:defRPr>
            </a:lvl7pPr>
            <a:lvl8pPr marL="3952875" indent="-228600" algn="just" rtl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tabLst>
                <a:tab pos="5561013" algn="l"/>
                <a:tab pos="10047288" algn="l"/>
              </a:tabLst>
              <a:defRPr sz="2400" b="1">
                <a:solidFill>
                  <a:srgbClr val="000000"/>
                </a:solidFill>
                <a:latin typeface="Arial" pitchFamily="34" charset="0"/>
              </a:defRPr>
            </a:lvl8pPr>
            <a:lvl9pPr marL="4410075" indent="-228600" algn="just" rtl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tabLst>
                <a:tab pos="5561013" algn="l"/>
                <a:tab pos="10047288" algn="l"/>
              </a:tabLst>
              <a:defRPr sz="2400" b="1">
                <a:solidFill>
                  <a:srgbClr val="000000"/>
                </a:solidFill>
                <a:latin typeface="Arial" pitchFamily="34" charset="0"/>
              </a:defRPr>
            </a:lvl9pPr>
          </a:lstStyle>
          <a:p>
            <a:pPr indent="713740" eaLnBrk="1">
              <a:spcAft>
                <a:spcPts val="0"/>
              </a:spcAft>
              <a:buClr>
                <a:srgbClr val="3FB564"/>
              </a:buClr>
              <a:tabLst>
                <a:tab pos="5467350" algn="l"/>
              </a:tabLst>
              <a:defRPr/>
            </a:pPr>
            <a:r>
              <a:rPr lang="en-US" altLang="zh-CN" kern="100" smtClean="0">
                <a:latin typeface="Times New Roman"/>
                <a:ea typeface="微软雅黑"/>
                <a:cs typeface="Courier New"/>
                <a:sym typeface="Times New Roman"/>
              </a:rPr>
              <a:t>A</a:t>
            </a:r>
            <a:r>
              <a:rPr lang="zh-CN" altLang="zh-CN" kern="100" smtClean="0">
                <a:latin typeface="Times New Roman"/>
                <a:ea typeface="微软雅黑"/>
                <a:cs typeface="Times New Roman"/>
                <a:sym typeface="Times New Roman"/>
              </a:rPr>
              <a:t>．</a:t>
            </a:r>
            <a:r>
              <a:rPr lang="en-US" altLang="zh-CN" i="1" kern="100" smtClean="0">
                <a:latin typeface="Times New Roman"/>
                <a:ea typeface="微软雅黑"/>
                <a:cs typeface="Courier New"/>
                <a:sym typeface="Times New Roman"/>
              </a:rPr>
              <a:t>f</a:t>
            </a:r>
            <a:r>
              <a:rPr lang="en-US" altLang="zh-CN" kern="100" baseline="-25000" smtClean="0">
                <a:latin typeface="Times New Roman"/>
                <a:ea typeface="微软雅黑"/>
                <a:cs typeface="Courier New"/>
                <a:sym typeface="Times New Roman"/>
              </a:rPr>
              <a:t>1</a:t>
            </a:r>
            <a:r>
              <a:rPr lang="en-US" altLang="zh-CN" kern="100" smtClean="0">
                <a:latin typeface="Times New Roman"/>
                <a:ea typeface="微软雅黑"/>
                <a:cs typeface="Courier New"/>
                <a:sym typeface="Times New Roman"/>
              </a:rPr>
              <a:t>&lt;</a:t>
            </a:r>
            <a:r>
              <a:rPr lang="en-US" altLang="zh-CN" i="1" kern="100" smtClean="0">
                <a:latin typeface="Times New Roman"/>
                <a:ea typeface="微软雅黑"/>
                <a:cs typeface="Courier New"/>
                <a:sym typeface="Times New Roman"/>
              </a:rPr>
              <a:t>f</a:t>
            </a:r>
            <a:r>
              <a:rPr lang="en-US" altLang="zh-CN" kern="100" baseline="-25000" smtClean="0">
                <a:latin typeface="Times New Roman"/>
                <a:ea typeface="微软雅黑"/>
                <a:cs typeface="Courier New"/>
                <a:sym typeface="Times New Roman"/>
              </a:rPr>
              <a:t>2</a:t>
            </a:r>
            <a:endParaRPr lang="zh-CN" altLang="zh-CN" sz="1050" kern="100" smtClean="0">
              <a:latin typeface="Times New Roman"/>
              <a:ea typeface="微软雅黑"/>
              <a:cs typeface="Courier New"/>
              <a:sym typeface="Times New Roman"/>
            </a:endParaRPr>
          </a:p>
          <a:p>
            <a:pPr indent="713740" eaLnBrk="1">
              <a:spcAft>
                <a:spcPts val="0"/>
              </a:spcAft>
              <a:buClr>
                <a:srgbClr val="3FB564"/>
              </a:buClr>
              <a:tabLst>
                <a:tab pos="5467350" algn="l"/>
              </a:tabLst>
              <a:defRPr/>
            </a:pPr>
            <a:r>
              <a:rPr lang="en-US" altLang="zh-CN" kern="100" smtClean="0">
                <a:latin typeface="Times New Roman"/>
                <a:ea typeface="微软雅黑"/>
                <a:cs typeface="Courier New"/>
                <a:sym typeface="Times New Roman"/>
              </a:rPr>
              <a:t>B</a:t>
            </a:r>
            <a:r>
              <a:rPr lang="zh-CN" altLang="zh-CN" kern="100" smtClean="0">
                <a:latin typeface="Times New Roman"/>
                <a:ea typeface="微软雅黑"/>
                <a:cs typeface="Times New Roman"/>
                <a:sym typeface="Times New Roman"/>
              </a:rPr>
              <a:t>．</a:t>
            </a:r>
            <a:r>
              <a:rPr lang="en-US" altLang="zh-CN" i="1" kern="100" smtClean="0">
                <a:latin typeface="Times New Roman"/>
                <a:ea typeface="微软雅黑"/>
                <a:cs typeface="Courier New"/>
                <a:sym typeface="Times New Roman"/>
              </a:rPr>
              <a:t>f</a:t>
            </a:r>
            <a:r>
              <a:rPr lang="en-US" altLang="zh-CN" kern="100" baseline="-25000" smtClean="0">
                <a:latin typeface="Times New Roman"/>
                <a:ea typeface="微软雅黑"/>
                <a:cs typeface="Courier New"/>
                <a:sym typeface="Times New Roman"/>
              </a:rPr>
              <a:t>1</a:t>
            </a:r>
            <a:r>
              <a:rPr lang="zh-CN" altLang="zh-CN" kern="100" smtClean="0">
                <a:latin typeface="Times New Roman"/>
                <a:ea typeface="微软雅黑"/>
                <a:cs typeface="Times New Roman"/>
                <a:sym typeface="Times New Roman"/>
              </a:rPr>
              <a:t>＝</a:t>
            </a:r>
            <a:r>
              <a:rPr lang="en-US" altLang="zh-CN" i="1" kern="100" smtClean="0">
                <a:latin typeface="Times New Roman"/>
                <a:ea typeface="微软雅黑"/>
                <a:cs typeface="Courier New"/>
                <a:sym typeface="Times New Roman"/>
              </a:rPr>
              <a:t>f</a:t>
            </a:r>
            <a:r>
              <a:rPr lang="en-US" altLang="zh-CN" kern="100" baseline="-25000" smtClean="0">
                <a:latin typeface="Times New Roman"/>
                <a:ea typeface="微软雅黑"/>
                <a:cs typeface="Courier New"/>
                <a:sym typeface="Times New Roman"/>
              </a:rPr>
              <a:t>2</a:t>
            </a:r>
            <a:endParaRPr lang="zh-CN" altLang="zh-CN" sz="1050" kern="100" smtClean="0">
              <a:latin typeface="Times New Roman"/>
              <a:ea typeface="微软雅黑"/>
              <a:cs typeface="Courier New"/>
              <a:sym typeface="Times New Roman"/>
            </a:endParaRPr>
          </a:p>
          <a:p>
            <a:pPr indent="713740" eaLnBrk="1">
              <a:spcAft>
                <a:spcPts val="0"/>
              </a:spcAft>
              <a:buClr>
                <a:srgbClr val="3FB564"/>
              </a:buClr>
              <a:tabLst>
                <a:tab pos="5467350" algn="l"/>
              </a:tabLst>
              <a:defRPr/>
            </a:pPr>
            <a:r>
              <a:rPr lang="en-US" altLang="zh-CN" kern="100" smtClean="0">
                <a:latin typeface="Times New Roman"/>
                <a:ea typeface="微软雅黑"/>
                <a:cs typeface="Courier New"/>
                <a:sym typeface="Times New Roman"/>
              </a:rPr>
              <a:t>C</a:t>
            </a:r>
            <a:r>
              <a:rPr lang="zh-CN" altLang="zh-CN" kern="100" smtClean="0">
                <a:latin typeface="Times New Roman"/>
                <a:ea typeface="微软雅黑"/>
                <a:cs typeface="Times New Roman"/>
                <a:sym typeface="Times New Roman"/>
              </a:rPr>
              <a:t>．</a:t>
            </a:r>
            <a:r>
              <a:rPr lang="en-US" altLang="zh-CN" i="1" kern="100" smtClean="0">
                <a:latin typeface="Times New Roman"/>
                <a:ea typeface="微软雅黑"/>
                <a:cs typeface="Courier New"/>
                <a:sym typeface="Times New Roman"/>
              </a:rPr>
              <a:t>f</a:t>
            </a:r>
            <a:r>
              <a:rPr lang="en-US" altLang="zh-CN" kern="100" baseline="-25000" smtClean="0">
                <a:latin typeface="Times New Roman"/>
                <a:ea typeface="微软雅黑"/>
                <a:cs typeface="Courier New"/>
                <a:sym typeface="Times New Roman"/>
              </a:rPr>
              <a:t>1</a:t>
            </a:r>
            <a:r>
              <a:rPr lang="en-US" altLang="zh-CN" kern="100" smtClean="0">
                <a:latin typeface="Times New Roman"/>
                <a:ea typeface="微软雅黑"/>
                <a:cs typeface="Courier New"/>
                <a:sym typeface="Times New Roman"/>
              </a:rPr>
              <a:t>&gt;</a:t>
            </a:r>
            <a:r>
              <a:rPr lang="en-US" altLang="zh-CN" i="1" kern="100" smtClean="0">
                <a:latin typeface="Times New Roman"/>
                <a:ea typeface="微软雅黑"/>
                <a:cs typeface="Courier New"/>
                <a:sym typeface="Times New Roman"/>
              </a:rPr>
              <a:t>f</a:t>
            </a:r>
            <a:r>
              <a:rPr lang="en-US" altLang="zh-CN" kern="100" baseline="-25000" smtClean="0">
                <a:latin typeface="Times New Roman"/>
                <a:ea typeface="微软雅黑"/>
                <a:cs typeface="Courier New"/>
                <a:sym typeface="Times New Roman"/>
              </a:rPr>
              <a:t>2</a:t>
            </a:r>
            <a:endParaRPr lang="zh-CN" altLang="zh-CN" sz="1050" kern="100" smtClean="0">
              <a:latin typeface="Times New Roman"/>
              <a:ea typeface="微软雅黑"/>
              <a:cs typeface="Courier New"/>
              <a:sym typeface="Times New Roman"/>
            </a:endParaRPr>
          </a:p>
          <a:p>
            <a:pPr indent="713740" eaLnBrk="1">
              <a:spcAft>
                <a:spcPts val="0"/>
              </a:spcAft>
              <a:buClr>
                <a:srgbClr val="3FB564"/>
              </a:buClr>
              <a:tabLst>
                <a:tab pos="5467350" algn="l"/>
              </a:tabLst>
              <a:defRPr/>
            </a:pPr>
            <a:r>
              <a:rPr lang="en-US" altLang="zh-CN" kern="100" smtClean="0">
                <a:latin typeface="Times New Roman"/>
                <a:ea typeface="微软雅黑"/>
                <a:cs typeface="Courier New"/>
                <a:sym typeface="Times New Roman"/>
              </a:rPr>
              <a:t>D</a:t>
            </a:r>
            <a:r>
              <a:rPr lang="zh-CN" altLang="zh-CN" kern="100" smtClean="0">
                <a:latin typeface="Times New Roman"/>
                <a:ea typeface="微软雅黑"/>
                <a:cs typeface="Times New Roman"/>
                <a:sym typeface="Times New Roman"/>
              </a:rPr>
              <a:t>．</a:t>
            </a:r>
            <a:r>
              <a:rPr lang="en-US" altLang="zh-CN" i="1" kern="100" smtClean="0">
                <a:latin typeface="Times New Roman"/>
                <a:ea typeface="微软雅黑"/>
                <a:cs typeface="Courier New"/>
                <a:sym typeface="Times New Roman"/>
              </a:rPr>
              <a:t>f</a:t>
            </a:r>
            <a:r>
              <a:rPr lang="en-US" altLang="zh-CN" kern="100" baseline="-25000" smtClean="0">
                <a:latin typeface="Times New Roman"/>
                <a:ea typeface="微软雅黑"/>
                <a:cs typeface="Courier New"/>
                <a:sym typeface="Times New Roman"/>
              </a:rPr>
              <a:t>1</a:t>
            </a:r>
            <a:r>
              <a:rPr lang="zh-CN" altLang="zh-CN" kern="100" smtClean="0">
                <a:latin typeface="Times New Roman"/>
                <a:ea typeface="微软雅黑"/>
                <a:cs typeface="Times New Roman"/>
                <a:sym typeface="Times New Roman"/>
              </a:rPr>
              <a:t>的</a:t>
            </a:r>
            <a:r>
              <a:rPr lang="en-US" altLang="zh-CN" i="1" kern="100" smtClean="0">
                <a:latin typeface="Times New Roman"/>
                <a:ea typeface="微软雅黑"/>
                <a:cs typeface="Courier New"/>
                <a:sym typeface="Times New Roman"/>
              </a:rPr>
              <a:t>f</a:t>
            </a:r>
            <a:r>
              <a:rPr lang="en-US" altLang="zh-CN" kern="100" baseline="-25000" smtClean="0">
                <a:latin typeface="Times New Roman"/>
                <a:ea typeface="微软雅黑"/>
                <a:cs typeface="Courier New"/>
                <a:sym typeface="Times New Roman"/>
              </a:rPr>
              <a:t>2</a:t>
            </a:r>
            <a:r>
              <a:rPr lang="zh-CN" altLang="zh-CN" kern="100" smtClean="0">
                <a:latin typeface="Times New Roman"/>
                <a:ea typeface="微软雅黑"/>
                <a:cs typeface="Times New Roman"/>
                <a:sym typeface="Times New Roman"/>
              </a:rPr>
              <a:t>大小关系与倾角大小有关</a:t>
            </a:r>
            <a:endParaRPr lang="zh-CN" altLang="zh-CN" sz="1050" kern="100">
              <a:latin typeface="Times New Roman"/>
              <a:ea typeface="微软雅黑"/>
              <a:cs typeface="Courier New"/>
              <a:sym typeface="Times New Roman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4500" y="1566863"/>
            <a:ext cx="11301413" cy="2505301"/>
          </a:xfrm>
        </p:spPr>
        <p:txBody>
          <a:bodyPr/>
          <a:lstStyle/>
          <a:p>
            <a:pPr marL="0" indent="712788" eaLnBrk="1">
              <a:tabLst>
                <a:tab pos="5467350" algn="l"/>
              </a:tabLst>
            </a:pPr>
            <a:r>
              <a:rPr lang="zh-CN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【答案】</a:t>
            </a:r>
            <a:r>
              <a:rPr lang="en-US" altLang="zh-CN" smtClean="0">
                <a:latin typeface="Times New Roman"/>
                <a:ea typeface="微软雅黑"/>
                <a:cs typeface="Courier New" pitchFamily="49" charset="0"/>
                <a:sym typeface="Times New Roman"/>
              </a:rPr>
              <a:t>A</a:t>
            </a:r>
            <a:endParaRPr lang="zh-CN" altLang="zh-CN" sz="1000" smtClean="0">
              <a:latin typeface="Times New Roman"/>
              <a:ea typeface="微软雅黑"/>
              <a:cs typeface="Courier New" pitchFamily="49" charset="0"/>
              <a:sym typeface="Times New Roman"/>
            </a:endParaRPr>
          </a:p>
          <a:p>
            <a:pPr marL="0" indent="712788" eaLnBrk="1">
              <a:tabLst>
                <a:tab pos="5467350" algn="l"/>
              </a:tabLst>
            </a:pPr>
            <a:r>
              <a:rPr lang="zh-CN" altLang="zh-CN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【解析】</a:t>
            </a:r>
            <a:r>
              <a:rPr lang="zh-CN" altLang="zh-CN" smtClean="0">
                <a:latin typeface="Times New Roman"/>
                <a:ea typeface="微软雅黑"/>
                <a:sym typeface="Times New Roman"/>
              </a:rPr>
              <a:t>对于甲图中的乘客，在水平方向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baseline="-25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zh-CN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ma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cos 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θ</a:t>
            </a:r>
            <a:r>
              <a:rPr lang="zh-CN" altLang="zh-CN" smtClean="0">
                <a:latin typeface="Times New Roman"/>
                <a:ea typeface="微软雅黑"/>
                <a:sym typeface="Times New Roman"/>
              </a:rPr>
              <a:t>，对乙图中的乘客，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baseline="-25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zh-CN" smtClean="0">
                <a:latin typeface="Times New Roman"/>
                <a:ea typeface="微软雅黑"/>
                <a:sym typeface="Times New Roman"/>
              </a:rPr>
              <a:t>－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mg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sin 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θ</a:t>
            </a:r>
            <a:r>
              <a:rPr lang="zh-CN" altLang="zh-CN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ma</a:t>
            </a:r>
            <a:r>
              <a:rPr lang="zh-CN" altLang="zh-CN" smtClean="0">
                <a:latin typeface="Times New Roman"/>
                <a:ea typeface="微软雅黑"/>
                <a:sym typeface="Times New Roman"/>
              </a:rPr>
              <a:t>，则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baseline="-25000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&lt;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baseline="-25000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.</a:t>
            </a:r>
            <a:r>
              <a:rPr lang="zh-CN" altLang="zh-CN" smtClean="0">
                <a:latin typeface="Times New Roman"/>
                <a:ea typeface="微软雅黑"/>
                <a:sym typeface="Times New Roman"/>
              </a:rPr>
              <a:t>故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zh-CN" smtClean="0">
                <a:latin typeface="Times New Roman"/>
                <a:ea typeface="微软雅黑"/>
                <a:sym typeface="Times New Roman"/>
              </a:rPr>
              <a:t>正确．</a:t>
            </a:r>
            <a:endParaRPr lang="zh-CN" altLang="zh-CN" sz="1000" smtClean="0">
              <a:latin typeface="Times New Roman"/>
              <a:ea typeface="微软雅黑"/>
              <a:cs typeface="Courier New" pitchFamily="49" charset="0"/>
              <a:sym typeface="Times New Roman"/>
            </a:endParaRPr>
          </a:p>
          <a:p>
            <a:pPr marL="0" indent="712788" eaLnBrk="1">
              <a:tabLst>
                <a:tab pos="5467350" algn="l"/>
              </a:tabLst>
            </a:pPr>
            <a:endParaRPr lang="zh-CN" altLang="en-US" smtClean="0">
              <a:latin typeface="Times New Roman"/>
              <a:ea typeface="微软雅黑"/>
              <a:sym typeface="Times New Roman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1608138"/>
            <a:ext cx="11301413" cy="3094037"/>
          </a:xfrm>
          <a:ln cap="flat">
            <a:solidFill>
              <a:srgbClr val="000000"/>
            </a:solidFill>
            <a:prstDash val="lgDash"/>
            <a:miter lim="800000"/>
            <a:headEnd/>
            <a:tailEnd/>
          </a:ln>
        </p:spPr>
        <p:txBody>
          <a:bodyPr/>
          <a:lstStyle/>
          <a:p>
            <a:pPr marL="0" indent="720725" eaLnBrk="1">
              <a:tabLst>
                <a:tab pos="3233738" algn="l"/>
                <a:tab pos="5561013" algn="l"/>
                <a:tab pos="10047288" algn="l"/>
              </a:tabLst>
            </a:pP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	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由运动情况确定受力应注意的两点问题</a:t>
            </a:r>
          </a:p>
          <a:p>
            <a:pPr marL="0" indent="720725" eaLnBrk="1">
              <a:tabLst>
                <a:tab pos="3233738" algn="l"/>
                <a:tab pos="5561013" algn="l"/>
                <a:tab pos="10047288" algn="l"/>
              </a:tabLst>
            </a:pP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由运动学规律求加速度，要特别注意加速度的方向，从而确定合力的方向，不能将速度的方向和加速度的方向混淆．</a:t>
            </a:r>
          </a:p>
          <a:p>
            <a:pPr marL="0" indent="720725" eaLnBrk="1">
              <a:tabLst>
                <a:tab pos="3233738" algn="l"/>
                <a:tab pos="5561013" algn="l"/>
                <a:tab pos="10047288" algn="l"/>
              </a:tabLst>
            </a:pP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题目中所求的力可能是合力，也可能是某一特定的力，均要先求出合力的大小、方向，再根据力的合成与分解求分力．</a:t>
            </a:r>
          </a:p>
        </p:txBody>
      </p:sp>
      <p:pic>
        <p:nvPicPr>
          <p:cNvPr id="37891" name="Picture 3" descr="易错提醒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0863" y="1773238"/>
            <a:ext cx="19319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栏目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74825" y="1341438"/>
            <a:ext cx="8764588" cy="412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495550" y="3663950"/>
            <a:ext cx="7343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sz="40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rPr>
              <a:t>核心素养微专题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ChangeArrowheads="1"/>
          </p:cNvSpPr>
          <p:nvPr/>
        </p:nvSpPr>
        <p:spPr bwMode="auto">
          <a:xfrm>
            <a:off x="444500" y="965200"/>
            <a:ext cx="11301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>
              <a:buClr>
                <a:schemeClr val="accent1"/>
              </a:buClr>
              <a:buFont typeface="Wingdings" pitchFamily="2" charset="2"/>
              <a:buNone/>
              <a:tabLst>
                <a:tab pos="5561013" algn="l"/>
                <a:tab pos="10047288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Times New Roman"/>
                <a:ea typeface="微软雅黑"/>
                <a:sym typeface="Times New Roman"/>
              </a:rPr>
              <a:t>惯性与行车安全</a:t>
            </a:r>
          </a:p>
        </p:txBody>
      </p:sp>
      <p:sp>
        <p:nvSpPr>
          <p:cNvPr id="39939" name="Rectangle 4"/>
          <p:cNvSpPr>
            <a:spLocks noChangeArrowheads="1"/>
          </p:cNvSpPr>
          <p:nvPr>
            <p:ph type="body" idx="1"/>
          </p:nvPr>
        </p:nvSpPr>
        <p:spPr>
          <a:xfrm>
            <a:off x="444500" y="1628775"/>
            <a:ext cx="11301413" cy="4281488"/>
          </a:xfrm>
          <a:noFill/>
        </p:spPr>
        <p:txBody>
          <a:bodyPr/>
          <a:lstStyle/>
          <a:p>
            <a:pPr marL="0" indent="720725" eaLnBrk="1"/>
            <a:r>
              <a:rPr lang="zh-CN" altLang="en-US" dirty="0" smtClean="0">
                <a:latin typeface="Times New Roman"/>
                <a:ea typeface="微软雅黑"/>
                <a:sym typeface="Times New Roman"/>
              </a:rPr>
              <a:t>现代汽车的速度很快，一旦发生碰撞，车身停止运动，而乘客身体由于惯性会继续向前运动，在车内与车身撞击，严重时可能把挡风玻璃撞碎而向前飞出窗外．为防止撞车时发生类似的伤害，公安部门要求小型客车的驾驶员和前排的乘客必须使用安全带，在发生交通事故时，安全带对人起到保护的作用，防止出现二次伤害．在轿车上，除了前、后排座位都有安全带外，还安装着安全气囊系统，一旦发生车祸，气囊就会自动充气弹出，使人撞不到车身上．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794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981075"/>
            <a:ext cx="11301413" cy="4879975"/>
          </a:xfrm>
        </p:spPr>
        <p:txBody>
          <a:bodyPr/>
          <a:lstStyle/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考题延伸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】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行车过程中，如果车距不够，刹车不及时，汽车将发生碰撞，车里的人可能受到伤害，为了尽可能地减轻碰撞引起的伤害，人们设计了安全带，假定乘客质量为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70 kg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，汽车车速为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90 km/h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，从踩下刹车到完全停止需要的时间为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5 s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．安全带对乘客的作用力大小约为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不计人与座椅间的摩擦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)(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　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)</a:t>
            </a:r>
            <a:endParaRPr lang="pt-BR" altLang="zh-CN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pt-BR" altLang="zh-CN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pt-BR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pt-BR" altLang="zh-CN" smtClean="0">
                <a:latin typeface="Times New Roman"/>
                <a:ea typeface="微软雅黑"/>
                <a:sym typeface="Times New Roman"/>
              </a:rPr>
              <a:t>450 N	B</a:t>
            </a:r>
            <a:r>
              <a:rPr lang="zh-CN" altLang="pt-BR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pt-BR" altLang="zh-CN" smtClean="0">
                <a:latin typeface="Times New Roman"/>
                <a:ea typeface="微软雅黑"/>
                <a:sym typeface="Times New Roman"/>
              </a:rPr>
              <a:t>400 N</a:t>
            </a:r>
          </a:p>
          <a:p>
            <a:pPr marL="0" indent="720725" eaLnBrk="1"/>
            <a:r>
              <a:rPr lang="pt-BR" altLang="zh-CN" smtClean="0">
                <a:latin typeface="Times New Roman"/>
                <a:ea typeface="微软雅黑"/>
                <a:sym typeface="Times New Roman"/>
              </a:rPr>
              <a:t>C</a:t>
            </a:r>
            <a:r>
              <a:rPr lang="zh-CN" altLang="pt-BR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pt-BR" altLang="zh-CN" smtClean="0">
                <a:latin typeface="Times New Roman"/>
                <a:ea typeface="微软雅黑"/>
                <a:sym typeface="Times New Roman"/>
              </a:rPr>
              <a:t>350 N	D</a:t>
            </a:r>
            <a:r>
              <a:rPr lang="zh-CN" altLang="pt-BR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pt-BR" altLang="zh-CN" smtClean="0">
                <a:latin typeface="Times New Roman"/>
                <a:ea typeface="微软雅黑"/>
                <a:sym typeface="Times New Roman"/>
              </a:rPr>
              <a:t>300 N</a:t>
            </a:r>
            <a:endParaRPr lang="pt-BR" altLang="zh-CN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pt-BR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pt-BR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答案</a:t>
            </a:r>
            <a:r>
              <a:rPr lang="pt-BR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C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5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3"/>
          <p:cNvGraphicFramePr>
            <a:graphicFrameLocks noChangeAspect="1"/>
          </p:cNvGraphicFramePr>
          <p:nvPr/>
        </p:nvGraphicFramePr>
        <p:xfrm>
          <a:off x="542925" y="1412875"/>
          <a:ext cx="11104563" cy="218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文档" r:id="rId3" imgW="11104618" imgH="2189586" progId="Word.Document.8">
                  <p:embed/>
                </p:oleObj>
              </mc:Choice>
              <mc:Fallback>
                <p:oleObj name="文档" r:id="rId3" imgW="11104618" imgH="2189586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1412875"/>
                        <a:ext cx="11104563" cy="218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3732" name="Rectangle 4"/>
          <p:cNvSpPr>
            <a:spLocks noChangeArrowheads="1"/>
          </p:cNvSpPr>
          <p:nvPr>
            <p:ph type="body" idx="1"/>
          </p:nvPr>
        </p:nvSpPr>
        <p:spPr>
          <a:xfrm>
            <a:off x="444500" y="3644900"/>
            <a:ext cx="11301413" cy="629981"/>
          </a:xfrm>
          <a:noFill/>
        </p:spPr>
        <p:txBody>
          <a:bodyPr/>
          <a:lstStyle/>
          <a:p>
            <a:pPr marL="0" indent="720725" eaLnBrk="1"/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素养点评：培养学生的物理观念的素养．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3732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栏目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74825" y="1341438"/>
            <a:ext cx="8764588" cy="412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2495550" y="3663950"/>
            <a:ext cx="7343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FF0000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sz="40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rPr>
              <a:t>课堂小练 </a:t>
            </a:r>
            <a:r>
              <a:rPr lang="en-US" altLang="zh-CN" sz="40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rPr>
              <a:t>| </a:t>
            </a:r>
            <a:r>
              <a:rPr lang="zh-CN" altLang="en-US" sz="40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rPr>
              <a:t>素养达成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066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765175"/>
            <a:ext cx="11301413" cy="4879975"/>
          </a:xfrm>
        </p:spPr>
        <p:txBody>
          <a:bodyPr/>
          <a:lstStyle/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1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．雨滴从空中由静止落下，若雨滴下落时空气对它的阻力随雨滴下落速度的增大而增大，如图所示的图像可以正确反映出雨滴下落运动情况的是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　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)</a:t>
            </a:r>
            <a:endParaRPr lang="en-US" altLang="zh-CN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答案</a:t>
            </a:r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C</a:t>
            </a:r>
          </a:p>
        </p:txBody>
      </p:sp>
      <p:pic>
        <p:nvPicPr>
          <p:cNvPr id="44035" name="Picture 3" descr="E:\小样\人物全优物理人教必修第一册教用\全优物理人教必修第一册(教用2020.8.26出成书)\lxxwl590.tif"/>
          <p:cNvPicPr>
            <a:picLocks noChangeAspect="1" noChangeArrowheads="1"/>
          </p:cNvPicPr>
          <p:nvPr/>
        </p:nvPicPr>
        <p:blipFill>
          <a:blip r:embed="rId2" r:link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06625" y="2803525"/>
            <a:ext cx="791527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8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ChangeArrowheads="1"/>
          </p:cNvSpPr>
          <p:nvPr>
            <p:ph type="body" idx="1"/>
          </p:nvPr>
        </p:nvSpPr>
        <p:spPr>
          <a:xfrm>
            <a:off x="444500" y="692150"/>
            <a:ext cx="11301413" cy="3683000"/>
          </a:xfrm>
        </p:spPr>
        <p:txBody>
          <a:bodyPr/>
          <a:lstStyle/>
          <a:p>
            <a:pPr marL="0" indent="720725" eaLnBrk="1"/>
            <a:endParaRPr lang="en-US" altLang="zh-CN" smtClean="0">
              <a:solidFill>
                <a:srgbClr val="0000FF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en-US" altLang="zh-CN" smtClean="0">
              <a:solidFill>
                <a:srgbClr val="0000FF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解析</a:t>
            </a:r>
            <a:r>
              <a:rPr lang="en-US" altLang="zh-CN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对雨滴受力分析，由牛顿第二定律得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mg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－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en-US" altLang="zh-CN" baseline="-30000" smtClean="0">
                <a:latin typeface="Times New Roman"/>
                <a:ea typeface="微软雅黑"/>
                <a:sym typeface="Times New Roman"/>
              </a:rPr>
              <a:t>f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＝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ma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.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雨滴加速下落，速度增大，阻力增大，故加速度减小，在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v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－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t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图像中其斜率变小，故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C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正确．</a:t>
            </a:r>
          </a:p>
          <a:p>
            <a:pPr marL="0" indent="720725" eaLnBrk="1"/>
            <a:endParaRPr lang="en-US" altLang="zh-CN" smtClean="0">
              <a:latin typeface="Times New Roman"/>
              <a:ea typeface="微软雅黑"/>
              <a:sym typeface="Times New Roman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22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925513"/>
            <a:ext cx="11301413" cy="4879975"/>
          </a:xfrm>
        </p:spPr>
        <p:txBody>
          <a:bodyPr/>
          <a:lstStyle/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2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．一质点受多个力的作用，处于静止状态，现使其中一个力的大小逐渐减小到零，再沿原方向逐渐恢复到原来的大小．在此过程中，其他力保持不变，则质点的加速度大小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和速度大小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v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的变化情况是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　　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)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和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v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都始终增大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B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和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v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都先增大后减小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C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和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v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都先减小后增大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D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先增大后减小，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v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始终增大</a:t>
            </a:r>
            <a:endParaRPr lang="zh-CN" altLang="en-US" smtClean="0">
              <a:solidFill>
                <a:srgbClr val="FF0000"/>
              </a:solidFill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答案</a:t>
            </a:r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D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981075"/>
            <a:ext cx="11301413" cy="4281488"/>
          </a:xfrm>
        </p:spPr>
        <p:txBody>
          <a:bodyPr/>
          <a:lstStyle/>
          <a:p>
            <a:pPr marL="0" indent="720725" eaLnBrk="1"/>
            <a:r>
              <a:rPr lang="en-US" altLang="zh-CN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解析</a:t>
            </a:r>
            <a:r>
              <a:rPr lang="en-US" altLang="zh-CN" smtClean="0">
                <a:solidFill>
                  <a:srgbClr val="0000FF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由于质点初始处于静止状态，则其所受合力为零．这就相当于受两个等大反向的力：某个力和其余几个力的合力．其中某个力逐渐减小，而其余几个力的合力是不变的，则其合力就在这个力的反方向逐渐增大，这个力再由零增大到原来大小，则合力又会逐渐减小直到变为零，所以合力变化为先增大后减小，故加速度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a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先增大后减小，由于其合外力方向始终不变，则加速度方向始终不变，所以其速度会一直增大．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572" name="Rectangle 4"/>
          <p:cNvSpPr>
            <a:spLocks noChangeArrowheads="1"/>
          </p:cNvSpPr>
          <p:nvPr>
            <p:ph type="body" idx="1"/>
          </p:nvPr>
        </p:nvSpPr>
        <p:spPr>
          <a:xfrm>
            <a:off x="444500" y="5330825"/>
            <a:ext cx="11301413" cy="629981"/>
          </a:xfrm>
          <a:noFill/>
        </p:spPr>
        <p:txBody>
          <a:bodyPr/>
          <a:lstStyle/>
          <a:p>
            <a:pPr marL="0" indent="720725" eaLnBrk="1"/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【</a:t>
            </a:r>
            <a:r>
              <a:rPr lang="zh-CN" altLang="en-US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答案</a:t>
            </a:r>
            <a:r>
              <a:rPr lang="en-US" altLang="zh-CN" smtClean="0">
                <a:solidFill>
                  <a:srgbClr val="FF0000"/>
                </a:solidFill>
                <a:latin typeface="Times New Roman"/>
                <a:ea typeface="微软雅黑"/>
                <a:sym typeface="Times New Roman"/>
              </a:rPr>
              <a:t>】</a:t>
            </a:r>
            <a:r>
              <a:rPr lang="pt-BR" altLang="zh-CN" smtClean="0">
                <a:latin typeface="Times New Roman"/>
                <a:ea typeface="微软雅黑"/>
                <a:sym typeface="Times New Roman"/>
              </a:rPr>
              <a:t>D</a:t>
            </a:r>
            <a:endParaRPr lang="en-US" altLang="zh-CN" smtClean="0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48131" name="Rectangle 7"/>
          <p:cNvSpPr>
            <a:spLocks noChangeArrowheads="1"/>
          </p:cNvSpPr>
          <p:nvPr/>
        </p:nvSpPr>
        <p:spPr bwMode="auto">
          <a:xfrm>
            <a:off x="6002841" y="-330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48132" name="Picture 6" descr="K:\AAA课件原稿文件夹\2020·全优·原稿\！需要修订原稿\全优物理人教必修第一册(教用)已核对   修订\HW40.TIF"/>
          <p:cNvPicPr>
            <a:picLocks noChangeAspect="1" noChangeArrowheads="1"/>
          </p:cNvPicPr>
          <p:nvPr/>
        </p:nvPicPr>
        <p:blipFill>
          <a:blip r:embed="rId3" r:link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31488" y="1628775"/>
            <a:ext cx="950912" cy="391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8133" name="对象 2"/>
          <p:cNvGraphicFramePr>
            <a:graphicFrameLocks noChangeAspect="1"/>
          </p:cNvGraphicFramePr>
          <p:nvPr/>
        </p:nvGraphicFramePr>
        <p:xfrm>
          <a:off x="325438" y="769938"/>
          <a:ext cx="9517062" cy="465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name="文档" r:id="rId5" imgW="9522460" imgH="4730596" progId="Word.Document.8">
                  <p:embed/>
                </p:oleObj>
              </mc:Choice>
              <mc:Fallback>
                <p:oleObj name="文档" r:id="rId5" imgW="9522460" imgH="4730596" progId="Word.Document.8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8" y="769938"/>
                        <a:ext cx="9517062" cy="465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1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1572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对象 3"/>
          <p:cNvGraphicFramePr>
            <a:graphicFrameLocks noChangeAspect="1"/>
          </p:cNvGraphicFramePr>
          <p:nvPr/>
        </p:nvGraphicFramePr>
        <p:xfrm>
          <a:off x="323850" y="2570163"/>
          <a:ext cx="11542713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6" name="文档" r:id="rId3" imgW="11543333" imgH="1717558" progId="Word.Document.8">
                  <p:embed/>
                </p:oleObj>
              </mc:Choice>
              <mc:Fallback>
                <p:oleObj name="文档" r:id="rId3" imgW="11543333" imgH="1717558" progId="Word.Document.8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570163"/>
                        <a:ext cx="11542713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>
            <p:ph type="body" idx="1"/>
          </p:nvPr>
        </p:nvSpPr>
        <p:spPr>
          <a:xfrm>
            <a:off x="444500" y="620713"/>
            <a:ext cx="11301413" cy="4879975"/>
          </a:xfrm>
        </p:spPr>
        <p:txBody>
          <a:bodyPr/>
          <a:lstStyle/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4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．一辆汽车在高速公路上正以速度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v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向前行驶，司机看到前方有紧急情况而刹车，已知刹车时汽车所受制动力为车重的</a:t>
            </a:r>
            <a:r>
              <a:rPr lang="en-US" altLang="zh-CN" i="1" smtClean="0">
                <a:latin typeface="Times New Roman"/>
                <a:ea typeface="微软雅黑"/>
                <a:sym typeface="Times New Roman"/>
              </a:rPr>
              <a:t>k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倍．则：</a:t>
            </a:r>
          </a:p>
          <a:p>
            <a:pPr marL="0" indent="720725" eaLnBrk="1"/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endParaRPr lang="zh-CN" altLang="en-US" smtClean="0">
              <a:latin typeface="Times New Roman"/>
              <a:ea typeface="微软雅黑"/>
              <a:sym typeface="Times New Roman"/>
            </a:endParaRP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(1)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汽车刹车时的加速度是多大？</a:t>
            </a:r>
          </a:p>
          <a:p>
            <a:pPr marL="0" indent="720725" eaLnBrk="1"/>
            <a:r>
              <a:rPr lang="en-US" altLang="zh-CN" smtClean="0">
                <a:latin typeface="Times New Roman"/>
                <a:ea typeface="微软雅黑"/>
                <a:sym typeface="Times New Roman"/>
              </a:rPr>
              <a:t>(2)</a:t>
            </a:r>
            <a:r>
              <a:rPr lang="zh-CN" altLang="en-US" smtClean="0">
                <a:latin typeface="Times New Roman"/>
                <a:ea typeface="微软雅黑"/>
                <a:sym typeface="Times New Roman"/>
              </a:rPr>
              <a:t>汽车刹车后行驶多远距离才能停下？汽车的刹车时间是多少？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6002841" y="1972003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50180" name="Picture 3" descr="E:\小样\人物全优物理人教必修第一册教用\全优物理人教必修第一册(教用2020.8.26出成书)\lxxwl591.tif"/>
          <p:cNvPicPr>
            <a:picLocks noChangeAspect="1" noChangeArrowheads="1"/>
          </p:cNvPicPr>
          <p:nvPr/>
        </p:nvPicPr>
        <p:blipFill>
          <a:blip r:embed="rId3" r:link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90950" y="1917700"/>
            <a:ext cx="3514725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62597" name="Object 5"/>
          <p:cNvGraphicFramePr>
            <a:graphicFrameLocks noChangeAspect="1"/>
          </p:cNvGraphicFramePr>
          <p:nvPr/>
        </p:nvGraphicFramePr>
        <p:xfrm>
          <a:off x="542925" y="5516563"/>
          <a:ext cx="111045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3" name="文档" r:id="rId5" imgW="11104618" imgH="990981" progId="Word.Document.8">
                  <p:embed/>
                </p:oleObj>
              </mc:Choice>
              <mc:Fallback>
                <p:oleObj name="文档" r:id="rId5" imgW="11104618" imgH="990981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5516563"/>
                        <a:ext cx="1110456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3"/>
          <p:cNvGraphicFramePr>
            <a:graphicFrameLocks noChangeAspect="1"/>
          </p:cNvGraphicFramePr>
          <p:nvPr/>
        </p:nvGraphicFramePr>
        <p:xfrm>
          <a:off x="542925" y="1355725"/>
          <a:ext cx="11104563" cy="414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4" name="文档" r:id="rId3" imgW="11104618" imgH="4146000" progId="Word.Document.8">
                  <p:embed/>
                </p:oleObj>
              </mc:Choice>
              <mc:Fallback>
                <p:oleObj name="文档" r:id="rId3" imgW="11104618" imgH="41460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1355725"/>
                        <a:ext cx="11104563" cy="414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FB56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谢谢观赏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85763"/>
            <a:ext cx="12203113" cy="648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64060" y="4392141"/>
            <a:ext cx="9662298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板： 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材： 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/</a:t>
            </a:r>
            <a:endParaRPr lang="en-US" altLang="zh-CN" sz="16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表： 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Excel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件： 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6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5"/>
            <a:ext cx="12190413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28340" y="3097350"/>
            <a:ext cx="5470870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人学习、研究。</a:t>
            </a:r>
          </a:p>
          <a:p>
            <a:pPr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5206" y="3097350"/>
            <a:ext cx="5470872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刻录光碟销售。</a:t>
            </a:r>
            <a:endParaRPr lang="zh-CN" altLang="en-GB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49198" y="378067"/>
            <a:ext cx="7892022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541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模板网-WWW.1PPT.COM">
  <a:themeElements>
    <a:clrScheme name="QQ695281399 6">
      <a:dk1>
        <a:srgbClr val="000000"/>
      </a:dk1>
      <a:lt1>
        <a:srgbClr val="FFFFFF"/>
      </a:lt1>
      <a:dk2>
        <a:srgbClr val="FF9900"/>
      </a:dk2>
      <a:lt2>
        <a:srgbClr val="C0C0C0"/>
      </a:lt2>
      <a:accent1>
        <a:srgbClr val="3FB564"/>
      </a:accent1>
      <a:accent2>
        <a:srgbClr val="15A2E9"/>
      </a:accent2>
      <a:accent3>
        <a:srgbClr val="FFFFFF"/>
      </a:accent3>
      <a:accent4>
        <a:srgbClr val="000000"/>
      </a:accent4>
      <a:accent5>
        <a:srgbClr val="AFD7B8"/>
      </a:accent5>
      <a:accent6>
        <a:srgbClr val="1292D3"/>
      </a:accent6>
      <a:hlink>
        <a:srgbClr val="0000CC"/>
      </a:hlink>
      <a:folHlink>
        <a:srgbClr val="FF9933"/>
      </a:folHlink>
    </a:clrScheme>
    <a:fontScheme name="QQ695281399">
      <a:majorFont>
        <a:latin typeface="宋体"/>
        <a:ea typeface="宋体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3FB564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3FB564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QQ695281399 1">
        <a:dk1>
          <a:srgbClr val="003300"/>
        </a:dk1>
        <a:lt1>
          <a:srgbClr val="FFFFFF"/>
        </a:lt1>
        <a:dk2>
          <a:srgbClr val="FF9900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002A00"/>
        </a:accent4>
        <a:accent5>
          <a:srgbClr val="AFD7B8"/>
        </a:accent5>
        <a:accent6>
          <a:srgbClr val="1292D3"/>
        </a:accent6>
        <a:hlink>
          <a:srgbClr val="7F70D8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Q695281399 2">
        <a:dk1>
          <a:srgbClr val="30311D"/>
        </a:dk1>
        <a:lt1>
          <a:srgbClr val="FFFFFF"/>
        </a:lt1>
        <a:dk2>
          <a:srgbClr val="44808E"/>
        </a:dk2>
        <a:lt2>
          <a:srgbClr val="DDDDDD"/>
        </a:lt2>
        <a:accent1>
          <a:srgbClr val="DCC242"/>
        </a:accent1>
        <a:accent2>
          <a:srgbClr val="388FDE"/>
        </a:accent2>
        <a:accent3>
          <a:srgbClr val="FFFFFF"/>
        </a:accent3>
        <a:accent4>
          <a:srgbClr val="272817"/>
        </a:accent4>
        <a:accent5>
          <a:srgbClr val="EBDDB0"/>
        </a:accent5>
        <a:accent6>
          <a:srgbClr val="3281C9"/>
        </a:accent6>
        <a:hlink>
          <a:srgbClr val="57BB7D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Q695281399 3">
        <a:dk1>
          <a:srgbClr val="000000"/>
        </a:dk1>
        <a:lt1>
          <a:srgbClr val="FFFFFF"/>
        </a:lt1>
        <a:dk2>
          <a:srgbClr val="1367BB"/>
        </a:dk2>
        <a:lt2>
          <a:srgbClr val="C0C0C0"/>
        </a:lt2>
        <a:accent1>
          <a:srgbClr val="68B3D8"/>
        </a:accent1>
        <a:accent2>
          <a:srgbClr val="EC8D4C"/>
        </a:accent2>
        <a:accent3>
          <a:srgbClr val="FFFFFF"/>
        </a:accent3>
        <a:accent4>
          <a:srgbClr val="000000"/>
        </a:accent4>
        <a:accent5>
          <a:srgbClr val="B9D6E9"/>
        </a:accent5>
        <a:accent6>
          <a:srgbClr val="D67F44"/>
        </a:accent6>
        <a:hlink>
          <a:srgbClr val="4CC737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Q695281399 4">
        <a:dk1>
          <a:srgbClr val="000000"/>
        </a:dk1>
        <a:lt1>
          <a:srgbClr val="FFFFFF"/>
        </a:lt1>
        <a:dk2>
          <a:srgbClr val="FF9900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000000"/>
        </a:accent4>
        <a:accent5>
          <a:srgbClr val="AFD7B8"/>
        </a:accent5>
        <a:accent6>
          <a:srgbClr val="1292D3"/>
        </a:accent6>
        <a:hlink>
          <a:srgbClr val="7F70D8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Q695281399 5">
        <a:dk1>
          <a:srgbClr val="000000"/>
        </a:dk1>
        <a:lt1>
          <a:srgbClr val="FFFFFF"/>
        </a:lt1>
        <a:dk2>
          <a:srgbClr val="FF9900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000000"/>
        </a:accent4>
        <a:accent5>
          <a:srgbClr val="AFD7B8"/>
        </a:accent5>
        <a:accent6>
          <a:srgbClr val="1292D3"/>
        </a:accent6>
        <a:hlink>
          <a:srgbClr val="7F70D8"/>
        </a:hlink>
        <a:folHlink>
          <a:srgbClr val="F0E7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Q695281399 6">
        <a:dk1>
          <a:srgbClr val="000000"/>
        </a:dk1>
        <a:lt1>
          <a:srgbClr val="FFFFFF"/>
        </a:lt1>
        <a:dk2>
          <a:srgbClr val="FF9900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000000"/>
        </a:accent4>
        <a:accent5>
          <a:srgbClr val="AFD7B8"/>
        </a:accent5>
        <a:accent6>
          <a:srgbClr val="1292D3"/>
        </a:accent6>
        <a:hlink>
          <a:srgbClr val="0000CC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第一PPT模板网-WWW.1PPT.COM ">
  <a:themeElements>
    <a:clrScheme name="QQ：695281399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QQ：695281399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3FB564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3FB564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QQ：6952813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Q：69528139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Q：69528139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Q：69528139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Q：69528139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Q：69528139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Q：69528139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Q：69528139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Q：69528139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Q：69528139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Q：69528139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Q：69528139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946</TotalTime>
  <Words>2607</Words>
  <Application>Microsoft Office PowerPoint</Application>
  <PresentationFormat>自定义</PresentationFormat>
  <Paragraphs>196</Paragraphs>
  <Slides>51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68" baseType="lpstr">
      <vt:lpstr>Arial</vt:lpstr>
      <vt:lpstr>宋体</vt:lpstr>
      <vt:lpstr>Times New Roman</vt:lpstr>
      <vt:lpstr>Wingdings</vt:lpstr>
      <vt:lpstr>仿宋_GB2312</vt:lpstr>
      <vt:lpstr>方正综艺_GBK</vt:lpstr>
      <vt:lpstr>微软雅黑</vt:lpstr>
      <vt:lpstr>Courier New</vt:lpstr>
      <vt:lpstr>Book Antiqua</vt:lpstr>
      <vt:lpstr>黑体</vt:lpstr>
      <vt:lpstr>方正小标宋_GBK</vt:lpstr>
      <vt:lpstr>楷体_GB2312</vt:lpstr>
      <vt:lpstr>第一PPT模板网-WWW.1PPT.COM</vt:lpstr>
      <vt:lpstr>第一PPT模板网-WWW.1PPT.COM </vt:lpstr>
      <vt:lpstr>Office 主题</vt:lpstr>
      <vt:lpstr>Microsoft Word 97 - 2003 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第一PPT模板网-WWW.1PPT.COM</Manager>
  <Company>CSU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牛顿运动定律的应用</dc:title>
  <dc:subject>第一PPT模板网-WWW.1PPT.COM</dc:subject>
  <dc:creator>第一PPT模板网-WWW.1PPT.COM</dc:creator>
  <cp:keywords>第一PPT模板网-WWW.1PPT.COM</cp:keywords>
  <dc:description>第一PPT模板网-WWW.1PPT.COM</dc:description>
  <cp:lastModifiedBy>123</cp:lastModifiedBy>
  <cp:revision>426</cp:revision>
  <dcterms:created xsi:type="dcterms:W3CDTF">2016-03-26T06:26:28Z</dcterms:created>
  <dcterms:modified xsi:type="dcterms:W3CDTF">2025-09-15T06:33:19Z</dcterms:modified>
</cp:coreProperties>
</file>