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306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0" autoAdjust="0"/>
    <p:restoredTop sz="94660"/>
  </p:normalViewPr>
  <p:slideViewPr>
    <p:cSldViewPr snapToGrid="0">
      <p:cViewPr>
        <p:scale>
          <a:sx n="66" d="100"/>
          <a:sy n="66" d="100"/>
        </p:scale>
        <p:origin x="-2328" y="-1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B50BA1-B740-49B0-901A-4B726F4FD19A}" type="datetimeFigureOut">
              <a:rPr lang="zh-CN" altLang="en-US" smtClean="0"/>
              <a:pPr/>
              <a:t>2025/4/9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8D329E3-FB66-4426-AAE4-F66F6970E3D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08352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1EA5-851B-4D36-909A-331C7ABCC3CD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04A5-87E2-4D5E-8898-42AAA66E23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1EA5-851B-4D36-909A-331C7ABCC3CD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04A5-87E2-4D5E-8898-42AAA66E23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FFDDA4F-B42C-4726-BCF9-A720260FBC11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鲜花, 轮廓, 花瓶, 植物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570175" cy="20022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5034" y="6070158"/>
            <a:ext cx="3993932" cy="813361"/>
          </a:xfrm>
          <a:prstGeom prst="rect">
            <a:avLst/>
          </a:prstGeom>
        </p:spPr>
      </p:pic>
      <p:pic>
        <p:nvPicPr>
          <p:cNvPr id="10" name="图片 9" descr="图片包含 音乐&#10;&#10;描述已自动生成"/>
          <p:cNvPicPr>
            <a:picLocks noChangeAspect="1"/>
          </p:cNvPicPr>
          <p:nvPr userDrawn="1"/>
        </p:nvPicPr>
        <p:blipFill>
          <a:blip r:embed="rId4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4654" y="232215"/>
            <a:ext cx="3803783" cy="469099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A141EA5-851B-4D36-909A-331C7ABCC3CD}" type="datetimeFigureOut">
              <a:rPr lang="zh-CN" altLang="en-US" smtClean="0"/>
              <a:pPr/>
              <a:t>2025/4/9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7D404A5-87E2-4D5E-8898-42AAA66E231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片 6" descr="图片包含 户外, 男士, 墙壁, 建筑物&#10;&#10;描述已自动生成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36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9210" y="6037652"/>
            <a:ext cx="2462790" cy="83741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4633" y="4460403"/>
            <a:ext cx="3908308" cy="62978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6752" y="2602678"/>
            <a:ext cx="2076450" cy="76416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18" y="1131917"/>
            <a:ext cx="3124200" cy="636241"/>
          </a:xfrm>
          <a:prstGeom prst="rect">
            <a:avLst/>
          </a:prstGeom>
        </p:spPr>
      </p:pic>
      <p:pic>
        <p:nvPicPr>
          <p:cNvPr id="13" name="图片 12" descr="图片包含 道路, 户外&#10;&#10;描述已自动生成"/>
          <p:cNvPicPr>
            <a:picLocks noChangeAspect="1"/>
          </p:cNvPicPr>
          <p:nvPr/>
        </p:nvPicPr>
        <p:blipFill>
          <a:blip r:embed="rId7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77641"/>
            <a:ext cx="12192000" cy="934865"/>
          </a:xfrm>
          <a:prstGeom prst="rect">
            <a:avLst/>
          </a:prstGeom>
        </p:spPr>
      </p:pic>
      <p:pic>
        <p:nvPicPr>
          <p:cNvPr id="15" name="图片 14" descr="图片包含 音乐&#10;&#10;描述已自动生成"/>
          <p:cNvPicPr>
            <a:picLocks noChangeAspect="1"/>
          </p:cNvPicPr>
          <p:nvPr/>
        </p:nvPicPr>
        <p:blipFill>
          <a:blip r:embed="rId8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4608790"/>
            <a:ext cx="12192000" cy="1503571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078363" y="1021135"/>
            <a:ext cx="879726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kern="9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华文新魏" panose="02010800040101010101" charset="-122"/>
                <a:ea typeface="华文新魏" panose="02010800040101010101" charset="-122"/>
              </a:rPr>
              <a:t>中国历史时间轴</a:t>
            </a:r>
          </a:p>
        </p:txBody>
      </p:sp>
      <p:sp>
        <p:nvSpPr>
          <p:cNvPr id="23" name="矩形 22"/>
          <p:cNvSpPr/>
          <p:nvPr/>
        </p:nvSpPr>
        <p:spPr>
          <a:xfrm>
            <a:off x="3178787" y="3548157"/>
            <a:ext cx="583442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Chinese history refers to the history of China from Chinese civilization to the present. Chinese has a long history, since the Yellow Emperor of the Ji </a:t>
            </a:r>
            <a:r>
              <a:rPr lang="en-US" altLang="zh-CN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Xuanyuan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Dynasty (also called </a:t>
            </a:r>
            <a:r>
              <a:rPr lang="en-US" altLang="zh-CN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Xuanyuan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period is </a:t>
            </a:r>
            <a:r>
              <a:rPr lang="en-US" altLang="zh-CN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Gongsun</a:t>
            </a:r>
            <a:r>
              <a:rPr lang="en-US" altLang="zh-CN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about 5000 years from the date of Three Emperors and Five Sovereigns; about 4600 years; since the Xia Dynasty about nearly 4100 years; from the China first unified centralized</a:t>
            </a:r>
            <a:endParaRPr lang="zh-CN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568461" y="4082861"/>
            <a:ext cx="1301262" cy="3385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en-US" altLang="zh-CN" sz="1600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</a:p>
        </p:txBody>
      </p:sp>
      <p:sp>
        <p:nvSpPr>
          <p:cNvPr id="27" name="矩形 26"/>
          <p:cNvSpPr/>
          <p:nvPr/>
        </p:nvSpPr>
        <p:spPr>
          <a:xfrm>
            <a:off x="2690948" y="2828529"/>
            <a:ext cx="6810105" cy="577916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759189" y="2915315"/>
            <a:ext cx="66736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spc="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中国从原始社会到二十一世纪之间的历史时间列表</a:t>
            </a:r>
            <a:endParaRPr lang="zh-CN" altLang="en-US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1050981" y="1734477"/>
            <a:ext cx="102738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0228082" y="1734477"/>
            <a:ext cx="91808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11146163" y="1734477"/>
            <a:ext cx="0" cy="155017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>
            <a:off x="1050981" y="1734477"/>
            <a:ext cx="0" cy="155017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1050981" y="3284647"/>
            <a:ext cx="163996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9506196" y="3284647"/>
            <a:ext cx="163996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图片包含 鲜花, 轮廓, 花瓶, 植物&#10;&#10;描述已自动生成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1569" y="0"/>
            <a:ext cx="2210430" cy="2818646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36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43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5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57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300"/>
                            </p:stCondLst>
                            <p:childTnLst>
                              <p:par>
                                <p:cTn id="65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800"/>
                            </p:stCondLst>
                            <p:childTnLst>
                              <p:par>
                                <p:cTn id="6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 animBg="1"/>
      <p:bldP spid="27" grpId="0" animBg="1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009475" y="2474165"/>
            <a:ext cx="7182525" cy="2925870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5299" y="27692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rgbClr val="B92E3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原始社会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232830" y="104636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2306146" y="1046365"/>
            <a:ext cx="0" cy="5937758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约公元前</a:t>
            </a:r>
            <a:r>
              <a:rPr lang="en-US" altLang="zh-CN" spc="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世纪</a:t>
            </a:r>
          </a:p>
        </p:txBody>
      </p:sp>
      <p:sp>
        <p:nvSpPr>
          <p:cNvPr id="11" name="矩形 10"/>
          <p:cNvSpPr/>
          <p:nvPr/>
        </p:nvSpPr>
        <p:spPr>
          <a:xfrm>
            <a:off x="5115342" y="1153590"/>
            <a:ext cx="6818771" cy="625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中国历史源远流长，旷古悠久，自黄帝王朝的姬轩辕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也说公孙轩辕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（公元前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2717-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2599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年）时期算起，至今已有约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5000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年的历史了。</a:t>
            </a:r>
          </a:p>
        </p:txBody>
      </p:sp>
      <p:sp>
        <p:nvSpPr>
          <p:cNvPr id="12" name="矩形 11"/>
          <p:cNvSpPr/>
          <p:nvPr/>
        </p:nvSpPr>
        <p:spPr>
          <a:xfrm>
            <a:off x="5199093" y="2504207"/>
            <a:ext cx="6593514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夏朝（约前</a:t>
            </a:r>
            <a:r>
              <a:rPr lang="en-US" altLang="zh-CN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世纪</a:t>
            </a:r>
            <a:r>
              <a:rPr lang="en-US" altLang="zh-CN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约前</a:t>
            </a:r>
            <a:r>
              <a:rPr lang="en-US" altLang="zh-CN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世纪 ）是中国史书中记载的第一个世袭制朝代。</a:t>
            </a:r>
            <a:r>
              <a:rPr lang="en-US" altLang="zh-CN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一般认为夏朝是多个部落联盟或复杂酋邦形式的国家。</a:t>
            </a:r>
            <a:endParaRPr lang="en-US" altLang="zh-CN" sz="1400" spc="1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夏时期的文物中有一定数量的青铜和玉制的礼器，年代约在新石器时代晚期、青铜时代初期。根据史书记载，禹传位于子启，改变了原始部落的禅让制，开创中国近四千年世袭的先河。</a:t>
            </a:r>
            <a:endParaRPr lang="en-US" altLang="zh-CN" sz="1400" spc="1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因此中国历史上的“家天下”，从夏朝的建立开始。夏族的十一支姒姓部落与夏后氏中央王室在血缘上有宗法关系，政治上有分封关系，经济上有贡赋关系，大致构成夏王朝的核心领土范围。</a:t>
            </a:r>
            <a:endParaRPr lang="en-US" altLang="zh-CN" sz="1400" spc="1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95767" y="6070158"/>
            <a:ext cx="1978822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约公元前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世纪 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15922" y="2474165"/>
            <a:ext cx="2283778" cy="2925870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6979720" y="5655394"/>
            <a:ext cx="2508899" cy="769441"/>
            <a:chOff x="6979720" y="5655394"/>
            <a:chExt cx="2508899" cy="769441"/>
          </a:xfrm>
        </p:grpSpPr>
        <p:sp>
          <p:nvSpPr>
            <p:cNvPr id="13" name="矩形 12"/>
            <p:cNvSpPr/>
            <p:nvPr/>
          </p:nvSpPr>
          <p:spPr>
            <a:xfrm>
              <a:off x="8175439" y="5655394"/>
              <a:ext cx="131318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dirty="0">
                  <a:solidFill>
                    <a:srgbClr val="B92E32"/>
                  </a:solidFill>
                  <a:latin typeface="汉仪大宋简" panose="02010609000101010101" pitchFamily="49" charset="-122"/>
                  <a:ea typeface="汉仪大宋简" panose="02010609000101010101" pitchFamily="49" charset="-122"/>
                </a:rPr>
                <a:t>夏朝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6979720" y="5858084"/>
              <a:ext cx="1394934" cy="4524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pc="10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pc="100">
                  <a:latin typeface="微软雅黑" panose="020B0503020204020204" pitchFamily="34" charset="-122"/>
                  <a:ea typeface="微软雅黑" panose="020B0503020204020204" pitchFamily="34" charset="-122"/>
                </a:rPr>
                <a:t>约</a:t>
              </a:r>
              <a:r>
                <a:rPr lang="en-US" altLang="zh-CN" spc="100">
                  <a:latin typeface="微软雅黑" panose="020B0503020204020204" pitchFamily="34" charset="-122"/>
                  <a:ea typeface="微软雅黑" panose="020B0503020204020204" pitchFamily="34" charset="-122"/>
                </a:rPr>
                <a:t>500</a:t>
              </a:r>
              <a:r>
                <a:rPr lang="zh-CN" altLang="en-US" spc="10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pc="10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椭圆 22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5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3" presetID="47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" grpId="0"/>
      <p:bldP spid="10" grpId="0"/>
      <p:bldP spid="11" grpId="0"/>
      <p:bldP spid="12" grpId="0" uiExpand="1" build="p"/>
      <p:bldP spid="14" grpId="0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942" y="2395512"/>
            <a:ext cx="2346933" cy="312924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009475" y="2474165"/>
            <a:ext cx="7182525" cy="2925870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约公元前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1600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7" name="矩形 6"/>
          <p:cNvSpPr/>
          <p:nvPr/>
        </p:nvSpPr>
        <p:spPr>
          <a:xfrm>
            <a:off x="5199093" y="2504207"/>
            <a:ext cx="6593514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商朝（约公元前</a:t>
            </a:r>
            <a:r>
              <a:rPr lang="en-US" altLang="zh-CN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1600</a:t>
            </a: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约公元前</a:t>
            </a:r>
            <a:r>
              <a:rPr lang="en-US" altLang="zh-CN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1046</a:t>
            </a: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年），是中国历史上的第二个朝代，是中国第一个有直接的同时期的文字记载的王朝。</a:t>
            </a:r>
            <a:endParaRPr lang="en-US" altLang="zh-CN" sz="1400" spc="1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夏朝方国商国君主商汤率方国于鸣条之战灭夏后，以“商”为国号，在亳（今商丘</a:t>
            </a:r>
            <a:r>
              <a:rPr lang="en-US" altLang="zh-CN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建立商朝。之后，商朝国都频繁迁移，至其后裔盘庚迁殷（今安阳）后国都才稳定下来，在殷建都达</a:t>
            </a:r>
            <a:r>
              <a:rPr lang="en-US" altLang="zh-CN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273</a:t>
            </a: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年，因此商朝又被后世称为“殷”或“殷商”</a:t>
            </a:r>
            <a:endParaRPr lang="en-US" altLang="zh-CN" sz="1400" spc="1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商朝经历了三个大的阶段。第一阶段是“先商”；第二阶段是“早商”；第三阶段是“晚商”，前后相传</a:t>
            </a:r>
            <a:r>
              <a:rPr lang="en-US" altLang="zh-CN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</a:t>
            </a:r>
            <a:r>
              <a:rPr lang="en-US" altLang="zh-CN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王，延续</a:t>
            </a:r>
            <a:r>
              <a:rPr lang="en-US" altLang="zh-CN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1400" spc="1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余年。</a:t>
            </a:r>
          </a:p>
        </p:txBody>
      </p:sp>
      <p:sp>
        <p:nvSpPr>
          <p:cNvPr id="8" name="矩形 7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约公元前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1046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商朝</a:t>
            </a:r>
          </a:p>
        </p:txBody>
      </p:sp>
      <p:sp>
        <p:nvSpPr>
          <p:cNvPr id="14" name="椭圆 13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7" grpId="0" uiExpand="1" build="p"/>
      <p:bldP spid="8" grpId="0"/>
      <p:bldP spid="12" grpId="0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452779" y="1989330"/>
            <a:ext cx="7739222" cy="3796871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95765" y="1264618"/>
            <a:ext cx="1978824" cy="422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1046</a:t>
            </a:r>
            <a:r>
              <a:rPr lang="zh-CN" altLang="en-US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16038" y="2174796"/>
            <a:ext cx="7412705" cy="3425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周朝（前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1046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年）是中国历史上继商朝之后的第三个也是最后一个世袭奴隶制王朝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其后秦汉开始成为具有从中央到地方的统一政府的大一统国家。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周亦为“华夏”一词的创造者与最初指代。周朝共传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王，共计约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年，另一说是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868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年，两者相差近一百年，问题在于周朝的建国之年一直无法确认。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周朝分为“西周”（前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世纪中期－前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年）与“东周”（前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年－前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年）两个时期西周由周武王姬发创建，定都镐京（宗周），成王五年营建东都成周洛邑；公元前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年（周平王元年），平王东迁，定都雒邑（成周），此后周朝的这段时期称为东周。史书常将西周和东周合称为两周。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其中东周时期又称“春秋战国”，分为“春秋”及“战国”两部分。</a:t>
            </a:r>
          </a:p>
        </p:txBody>
      </p:sp>
      <p:sp>
        <p:nvSpPr>
          <p:cNvPr id="8" name="矩形 7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周朝</a:t>
            </a:r>
          </a:p>
        </p:txBody>
      </p:sp>
      <p:sp>
        <p:nvSpPr>
          <p:cNvPr id="11" name="椭圆 10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5765" y="1994580"/>
            <a:ext cx="1494602" cy="180358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5764" y="3918374"/>
            <a:ext cx="1470391" cy="1803583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1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 uiExpand="1" build="p"/>
      <p:bldP spid="8" grpId="0"/>
      <p:bldP spid="10" grpId="0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95765" y="2331244"/>
            <a:ext cx="2303932" cy="305756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09475" y="2254174"/>
            <a:ext cx="7182525" cy="3211709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公元前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221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8" name="矩形 7"/>
          <p:cNvSpPr/>
          <p:nvPr/>
        </p:nvSpPr>
        <p:spPr>
          <a:xfrm>
            <a:off x="5009475" y="2287098"/>
            <a:ext cx="6942689" cy="31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秦朝（公元前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年－公元前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207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，是由战国时期的秦国发展起来的中国历史上第一个大一统王朝，传三世，共两帝一王，国祚共十四年。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秦国原为周朝的一个诸侯国，到秦始皇继位后，于公元前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年到前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年先后攻灭关东六国，完成华夏大一统，后北击匈奴、南并百越，建立了国土空前辽阔的王朝。公元前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207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年，秦王子婴向刘邦投降，秦朝灭亡。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秦朝创立帝制及以三公九卿为代表的中央官制，废除分封制代以郡县制，彻底打破自西周以来的世卿世禄制度，强力维护了国家的统一，强化中央对地方的控制，又推行车同轨、书同文、行同伦统一文化风俗，加强了大一统的凝聚力，奠定中国大一统王朝的统治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公元前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207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秦朝</a:t>
            </a:r>
          </a:p>
        </p:txBody>
      </p:sp>
      <p:sp>
        <p:nvSpPr>
          <p:cNvPr id="12" name="椭圆 11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uiExpand="1" build="p"/>
      <p:bldP spid="9" grpId="0"/>
      <p:bldP spid="11" grpId="0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025" y="2190941"/>
            <a:ext cx="2467614" cy="322940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949517" y="2051452"/>
            <a:ext cx="7242483" cy="3538009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206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7" name="矩形 6"/>
          <p:cNvSpPr/>
          <p:nvPr/>
        </p:nvSpPr>
        <p:spPr>
          <a:xfrm>
            <a:off x="4949517" y="2107487"/>
            <a:ext cx="7182524" cy="3425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西楚（前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年）是中国历史上继秦朝之后出现的政权，为鲁公项羽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姬姓项国后裔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所建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今江苏宿迁）。公元前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年四月，名义上统一了秦朝末年疆域的绝大部分地区。建都彭城（今江苏徐州），国祚四年。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秦朝末年，爆发农民起义。一时间，四方响应，天下大乱，身为楚国贵族的项梁、项羽趁势崛起。公元前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207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年（秦二世三年）项羽率军五万渡河救赵王歇，于巨鹿之战大破章邯、王离领导的秦军主力，威震天下，名闻诸侯，被拜为诸侯上将军，拥兵雄厚，达四十余万。次年，项羽在咸阳分封十八路诸侯。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公元前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年汉王刘邦率军出蜀伐楚，爆发楚汉相争。公元前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年刘邦合韩信、彭越四十万兵马将项羽合围于垓下，项羽战败，自刎于乌江，吕马童、杨武、吕胜、杨喜、王翳五人分割。西楚灭亡。</a:t>
            </a:r>
          </a:p>
        </p:txBody>
      </p:sp>
      <p:sp>
        <p:nvSpPr>
          <p:cNvPr id="8" name="矩形 7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西楚</a:t>
            </a:r>
          </a:p>
        </p:txBody>
      </p:sp>
      <p:sp>
        <p:nvSpPr>
          <p:cNvPr id="11" name="椭圆 10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 uiExpand="1" build="p"/>
      <p:bldP spid="8" grpId="0"/>
      <p:bldP spid="10" grpId="0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597" y="2258357"/>
            <a:ext cx="2254354" cy="294984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949517" y="2051452"/>
            <a:ext cx="7242483" cy="3538009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公元前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7" name="矩形 6"/>
          <p:cNvSpPr/>
          <p:nvPr/>
        </p:nvSpPr>
        <p:spPr>
          <a:xfrm>
            <a:off x="5078332" y="2107487"/>
            <a:ext cx="6984853" cy="3425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西汉（前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—8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）是中国历史上继秦朝之后的大一统王朝，共历十二帝，享国二百一十年，又称前汉，与东汉统称为汉朝。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秦末天下揭竿而起，经过楚汉之争，刘邦击败项羽，前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年刘邦称帝，国号汉，史称西汉，定都长安。西汉在诸多制度上承袭了秦制，汉初实行轻徭薄赋、休养生息的国策，社会经济迅速恢复，农业、手工业及商业空前繁荣，史称文景之治。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武帝继位后，推行推恩令、中朝、刺史、盐铁官营等制度加强中央集权，并独尊儒术统一思想。对外则开拓了东并朝鲜、南据越南、西逾葱岭、北达阴山的辽阔疆域，奠定汉地基本范围；又开辟沟通欧亚大陆的丝绸之路，拓展对外交往，并开创了汉武盛世的局面。</a:t>
            </a:r>
          </a:p>
        </p:txBody>
      </p:sp>
      <p:sp>
        <p:nvSpPr>
          <p:cNvPr id="8" name="矩形 7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西汉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 uiExpand="1" build="p"/>
      <p:bldP spid="8" grpId="0"/>
      <p:bldP spid="10" grpId="0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961" y="2283480"/>
            <a:ext cx="2266988" cy="315675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949517" y="2214530"/>
            <a:ext cx="7242483" cy="3156751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7" name="矩形 6"/>
          <p:cNvSpPr/>
          <p:nvPr/>
        </p:nvSpPr>
        <p:spPr>
          <a:xfrm>
            <a:off x="5078332" y="2360013"/>
            <a:ext cx="6984853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新朝（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—23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年），是继西汉之后由西汉外戚王莽建立的朝代。公元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年腊月，王莽废汉孺子（刘婴）为安定公，改国号为新，建都常安，史称新莽。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莽称帝后进行了多项改革，包括：推行王田制，限制私有土地持有，超出部分为国有，无土地者由国家分配，一夫百亩，目的是解决西汉后期以来土地兼并严重的问题，但是完全无法执行；禁赏奴婢；推广国营事业；改革币制等。唯新朝政令繁琐，且朝令夕改，改革最终失败，导致新朝急速灭亡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地皇四年（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年），新朝被绿林军推翻；共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帝、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年国祚。历农民战争后，刘玄建立玄汉政权。</a:t>
            </a:r>
          </a:p>
        </p:txBody>
      </p:sp>
      <p:sp>
        <p:nvSpPr>
          <p:cNvPr id="8" name="矩形 7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新朝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 uiExpand="1" build="p"/>
      <p:bldP spid="8" grpId="0"/>
      <p:bldP spid="10" grpId="0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603" y="2268900"/>
            <a:ext cx="2322346" cy="311374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830763" y="2023141"/>
            <a:ext cx="7361237" cy="3555475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7" name="矩形 6"/>
          <p:cNvSpPr/>
          <p:nvPr/>
        </p:nvSpPr>
        <p:spPr>
          <a:xfrm>
            <a:off x="4895170" y="2087909"/>
            <a:ext cx="7232422" cy="3425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玄汉（公元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月）是中国历史上继新朝之后出现的政权，为西汉宗室刘玄所建立。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玄汉上承新朝下启东汉。更始元年至二年间，名义上统一了西汉末年疆域的绝大部分地区。与西汉、东汉合称汉朝，为区别西汉、东汉，故称玄汉。刘玄于公元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月在宛城（今河南省南阳市）称帝，后期先后迁都洛阳、长安，国祚三年。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新朝末年，绿林赤眉起义。一时间，四方响应，天下大乱，身为汉室宗亲的刘玄、刘盆子趁势崛起。公元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年（地皇四年）二月绿林军拥立刘玄为帝，恢复汉朝国号，建元更始。在淯水（今河南南阳白河城南淯水之滨）边的沙滩上设立坛场，陈列军队、举行大会。刘玄即皇帝位，南面而立，接受群臣朝拜。</a:t>
            </a:r>
          </a:p>
        </p:txBody>
      </p:sp>
      <p:sp>
        <p:nvSpPr>
          <p:cNvPr id="8" name="矩形 7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玄汉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 uiExpand="1" build="p"/>
      <p:bldP spid="8" grpId="0"/>
      <p:bldP spid="10" grpId="0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765" y="2283480"/>
            <a:ext cx="2122381" cy="310866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830763" y="2023141"/>
            <a:ext cx="7361237" cy="3555475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7" name="矩形 6"/>
          <p:cNvSpPr/>
          <p:nvPr/>
        </p:nvSpPr>
        <p:spPr>
          <a:xfrm>
            <a:off x="4895170" y="2367986"/>
            <a:ext cx="7232422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东汉（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—220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年）是中国历史上继秦朝、西汉、新朝之后的大一统王朝，传八世共十四帝，历经一百九十五年，又称后汉，与西汉合称汉朝。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新莽末年爆发绿林赤眉起义，汉朝宗室出身的刘秀趁势而起。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年刘秀称帝，定都洛阳，并息兵养民开创了“光武中兴”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东汉时，三公权力被大幅削弱，尚书台权力得到提升。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汉明帝和汉章帝在位期间，东汉进入全盛时期，史称明章之治。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在汉章帝后期，外戚日益跋扈，汉和帝继位后扫灭外戚，亲政后使东汉国力达到极盛，时人称之为“永元之隆”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 7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220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东汉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5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 uiExpand="1" build="p"/>
      <p:bldP spid="8" grpId="0"/>
      <p:bldP spid="10" grpId="0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830763" y="1384010"/>
            <a:ext cx="7361237" cy="4313998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220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7" name="矩形 6"/>
          <p:cNvSpPr/>
          <p:nvPr/>
        </p:nvSpPr>
        <p:spPr>
          <a:xfrm>
            <a:off x="4895170" y="1407925"/>
            <a:ext cx="7232422" cy="4266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三国时期一般指三国（中国东汉与西晋之间的历史时期）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三国（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年）是上承东汉下启西晋的一段历史时期，分为曹魏、蜀汉、东吴三个政权。赤壁之战时，曹操被孙刘联军击败，奠定了三国鼎立的雏型。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年，曹丕篡汉称帝，国号“魏”，史称曹魏，三国历史正式开始。次年刘备在成都延续汉朝，史称蜀汉。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222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年刘备在夷陵之战失败，孙权获得荆州大部。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223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年刘备去世，诸葛亮辅佐刘备之子刘禅与孙权重新联盟。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年孙权称帝，国号“吴”，史称东吴，至此三国正式成立。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此后的数十年内，蜀汉诸葛亮、姜维多次率军北伐曹魏，但始终未能改变三足鼎立的格局。曹魏后期的实权渐渐被司马懿掌控。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263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年，曹魏的司马昭发动魏灭蜀之战，蜀汉灭亡。两年后司马昭病死，其子司马炎废魏元帝自立，建国号为“晋”，史称西晋。公元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年，西晋灭东吴，统一中国，至此三国时期结束，进入晋朝时期</a:t>
            </a:r>
          </a:p>
        </p:txBody>
      </p:sp>
      <p:sp>
        <p:nvSpPr>
          <p:cNvPr id="8" name="矩形 7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280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三国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18764" y="1873815"/>
            <a:ext cx="1824527" cy="156080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3725" y="3554829"/>
            <a:ext cx="1829567" cy="230054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1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 uiExpand="1" build="p"/>
      <p:bldP spid="8" grpId="0"/>
      <p:bldP spid="10" grpId="0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30763" y="2005617"/>
            <a:ext cx="7361237" cy="3603737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265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6" name="矩形 5"/>
          <p:cNvSpPr/>
          <p:nvPr/>
        </p:nvSpPr>
        <p:spPr>
          <a:xfrm>
            <a:off x="4895169" y="2234555"/>
            <a:ext cx="7110017" cy="31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晋朝（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265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年）上承三国下启南北朝，分为西晋与东晋两个时期，其中西晋为中国历史上大一统王朝之一，东晋则属于六朝之一，两晋共传十五帝，共一百五十五年。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年司马炎篡魏，建国号为晋，定都洛阳，史称西晋，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年灭吴，完成统一。后经历八王之乱，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年西晋被北方蛮族灭亡，北方陷于混乱，史称五胡乱华。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317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年，晋室南渡，司马睿在建邺建立东晋，东晋曾多次北伐。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383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年东晋与前秦淝水之战后得到暂时巩固。两晋时期少数民族迁至中原，加强了民族融合，北人南迁，开发了江南地区。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年，刘裕建立宋，东晋灭亡。中国历史进入了南北朝时期。</a:t>
            </a:r>
          </a:p>
        </p:txBody>
      </p:sp>
      <p:sp>
        <p:nvSpPr>
          <p:cNvPr id="7" name="矩形 6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420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晋朝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869" y="2484843"/>
            <a:ext cx="2166217" cy="264528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uiExpand="1" build="p"/>
      <p:bldP spid="7" grpId="0"/>
      <p:bldP spid="9" grpId="0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95289" y="1953768"/>
            <a:ext cx="7596712" cy="3603737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420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6" name="矩形 5"/>
          <p:cNvSpPr/>
          <p:nvPr/>
        </p:nvSpPr>
        <p:spPr>
          <a:xfrm>
            <a:off x="4595288" y="2042667"/>
            <a:ext cx="7596712" cy="3425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南北朝（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—589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[1]  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）是南朝和北朝的合称。南北朝时期是中国历史上的一段大分裂时期，也是中国历史上的一段民族大融合时期，上承东晋十六国下接隋朝，由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年刘裕代东晋建立刘宋始，至公元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589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年隋灭陈而终。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南朝（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—589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年）包含刘宋、南齐、南梁、南陈四朝；北朝（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—581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年）则包含北魏、东魏、西魏、北齐和北周五朝。南北两方虽各有朝代更迭，但长期维持对峙形势，故称为南北朝。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南北朝前期仍是士族政治，社会阶层分为士族、齐民编户、依附户及奴婢，对外交流也很兴旺，东到日本和朝鲜半岛，西到西域、中亚、西亚，南到东南亚与南亚。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此时也出现民族大融合的趋势，比如北魏孝文帝改革，进一步加速少数民族封建化（汉化）的步伐。</a:t>
            </a:r>
          </a:p>
        </p:txBody>
      </p:sp>
      <p:sp>
        <p:nvSpPr>
          <p:cNvPr id="7" name="矩形 6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589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175439" y="565539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南北朝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907" y="2395811"/>
            <a:ext cx="1749109" cy="271965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5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uiExpand="1" build="p"/>
      <p:bldP spid="7" grpId="0"/>
      <p:bldP spid="9" grpId="0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95289" y="1947079"/>
            <a:ext cx="7596712" cy="3706015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581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6" name="矩形 5"/>
          <p:cNvSpPr/>
          <p:nvPr/>
        </p:nvSpPr>
        <p:spPr>
          <a:xfrm>
            <a:off x="4595288" y="1947079"/>
            <a:ext cx="7596712" cy="3706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隋朝（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581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年－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618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年，一说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619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年或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630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年）是中国历史上承南北朝下启唐朝的大一统王朝，因唐朝与隋朝的文化、制度、社会特点一脉相承，故史学家常将两朝合称为隋唐。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大定元年（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581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年）二月，北周静帝禅让帝位于杨坚，北周覆亡。杨坚定国号为“隋”，初都长安（今西安汉长安城遗址）开皇三年迁大兴城。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随后南下灭陈朝，统一中国，结束了自西晋末年以来长达近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年的分裂局面。隋文帝在位年间社会民生富庶、人民安居乐业、政治安定，开创了开皇之治的繁荣局面。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隋炀帝过度消耗国力，最后引发了隋末民变和贵族叛变。大业十四年（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618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年）隋朝灭亡，享国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年。</a:t>
            </a:r>
          </a:p>
        </p:txBody>
      </p:sp>
      <p:sp>
        <p:nvSpPr>
          <p:cNvPr id="7" name="矩形 6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618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175439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隋朝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1383" y="2741634"/>
            <a:ext cx="1927587" cy="2116904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5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uiExpand="1" build="p"/>
      <p:bldP spid="7" grpId="0"/>
      <p:bldP spid="9" grpId="0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597" y="2489030"/>
            <a:ext cx="2094413" cy="260775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595289" y="1947079"/>
            <a:ext cx="7596712" cy="3706015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618</a:t>
            </a:r>
            <a:r>
              <a:rPr lang="zh-CN" altLang="en-US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6" name="矩形 5"/>
          <p:cNvSpPr/>
          <p:nvPr/>
        </p:nvSpPr>
        <p:spPr>
          <a:xfrm>
            <a:off x="4595288" y="1947079"/>
            <a:ext cx="7596712" cy="3706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唐朝（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618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—907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年），是继隋朝之后的大一统王朝，共历二十一帝，享国二百八十九年，是公认的中国最强盛的时代之一。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隋末天下群雄并起，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617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年唐国公李渊发动晋阳兵变，次年在长安称帝建立唐朝，因皇室姓李，故又称为李唐。唐太宗继位后开创贞观之治，唐高宗承贞观遗风开创永徽之治，之后武则天一度以周代唐，神龙革命后恢复大唐国号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唐玄宗即位后励精图治，开创了经济繁荣、四夷宾服、万邦来朝的开元盛世，天宝末，全国人口达八千万上下。安史之乱后藩镇割据、宦官专权导致国力渐衰，中后期又经元和中兴、会昌中兴、大中之治国势复振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878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年爆发黄巢起义破坏了唐朝统治根基，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907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年朱温篡唐，唐朝覆亡，中国进入五代十国。</a:t>
            </a:r>
          </a:p>
        </p:txBody>
      </p:sp>
      <p:sp>
        <p:nvSpPr>
          <p:cNvPr id="7" name="矩形 6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907</a:t>
            </a:r>
            <a:r>
              <a:rPr lang="zh-CN" altLang="en-US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072200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唐朝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5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9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uiExpand="1" build="p"/>
      <p:bldP spid="7" grpId="0"/>
      <p:bldP spid="9" grpId="0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595288" y="1939898"/>
            <a:ext cx="7596712" cy="3706015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907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7" name="矩形 6"/>
          <p:cNvSpPr/>
          <p:nvPr/>
        </p:nvSpPr>
        <p:spPr>
          <a:xfrm>
            <a:off x="4666572" y="1939898"/>
            <a:ext cx="7454144" cy="3706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五代十国（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907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—960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年）是中国历史上的一段大分裂时期。这一称谓出自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新五代史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，是对五代（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907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—960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年）与十国（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902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—979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年）的合称。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五代是指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907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年唐朝灭亡后依次更替的位于中原地区的五个政权，即后梁、后唐、后晋、后汉与后周。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960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年，后周赵匡胤发动陈桥兵变，黄袍加身，篡后周建立北宋，五代结束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五代依次为梁、唐、晋、汉、周五个朝代，即“朱李石刘郭，梁唐晋汉周”。史称后梁、后唐、后晋、后汉与后周。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十国为南吴、吴越、前蜀、后蜀、闽、南汉、南平、马楚、南唐、北汉，即“吴唐吴越前后蜀，南北两汉闽平楚”十国中方面，江南地区有南吴、南唐、吴越国、闽国等。</a:t>
            </a:r>
          </a:p>
        </p:txBody>
      </p:sp>
      <p:sp>
        <p:nvSpPr>
          <p:cNvPr id="8" name="矩形 7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960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06146" y="59614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444160" y="565539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五代十国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5765" y="2341788"/>
            <a:ext cx="1893192" cy="290223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5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 uiExpand="1" build="p"/>
      <p:bldP spid="8" grpId="0"/>
      <p:bldP spid="10" grpId="0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95288" y="2017098"/>
            <a:ext cx="7596712" cy="3425057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960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6" name="矩形 5"/>
          <p:cNvSpPr/>
          <p:nvPr/>
        </p:nvSpPr>
        <p:spPr>
          <a:xfrm>
            <a:off x="4666572" y="2156696"/>
            <a:ext cx="7454144" cy="31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宋朝（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—1279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年）是中国历史上承五代十国下启元朝的朝代，分北宋和南宋两个阶段，共历十八帝，享国三百一十九年。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后周诸将发动陈桥兵变，拥立宋州归德军节度使赵匡胤为帝，建立宋朝。赵匡胤为避免晚唐藩镇割据和宦官专权乱象，采取重文抑武方针，加强中央集权，并剥夺武将兵权。宋太宗继位后统一全国，宋真宗与辽国缔结澶渊之盟后逐渐步入治世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1125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年金国大举南侵，导致靖康之耻，北宋灭亡。康王赵构于南京应天府即位，建立了南宋。绍兴和议后与金国以秦岭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淮河为界，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1234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年联蒙灭金，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1235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年爆发宋元战争，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1276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年元朝攻占临安，崖山海战后，南宋灭亡。</a:t>
            </a:r>
          </a:p>
        </p:txBody>
      </p:sp>
      <p:sp>
        <p:nvSpPr>
          <p:cNvPr id="7" name="矩形 6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1279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008415" y="5655394"/>
            <a:ext cx="13131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宋朝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764" y="2329327"/>
            <a:ext cx="1893193" cy="2800598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uiExpand="1" build="p"/>
      <p:bldP spid="7" grpId="0"/>
      <p:bldP spid="9" grpId="0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95288" y="2017098"/>
            <a:ext cx="7596712" cy="3425057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1271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6" name="矩形 5"/>
          <p:cNvSpPr/>
          <p:nvPr/>
        </p:nvSpPr>
        <p:spPr>
          <a:xfrm>
            <a:off x="4666572" y="2156696"/>
            <a:ext cx="7454144" cy="31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元朝（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1271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—1368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年）是蒙古族建立的王朝，定都大都（今北京），传五世十一帝，历时九十八年。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年，成吉思汗铁木真统一漠北建立蒙古帝国后开始对外扩张，先后攻灭西辽、西夏、花剌子模、东夏、金等国。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蒙哥汗去世后，引发了阿里不哥与忽必烈的汗位之争，促使大蒙古国分裂。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1260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年忽必烈即汗位，建元“中统”。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1271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年，忽必烈取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易经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》“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大哉乾元”之意改国号为“大元”，次年迁都燕京，称大都。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1279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（至元十六年），元军在崖山海战消灭南宋，结束了长期的战乱局面。之后元朝持续对外扩张，但在出海征伐日本和东南亚诸国时屡遭失利，如元日战争、元越战争、元缅战争、元爪战争等。元中期政变频繁，政治始终未上正轨。</a:t>
            </a:r>
          </a:p>
        </p:txBody>
      </p:sp>
      <p:sp>
        <p:nvSpPr>
          <p:cNvPr id="7" name="矩形 6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1368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008414" y="5655394"/>
            <a:ext cx="13131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元朝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5765" y="2538367"/>
            <a:ext cx="1882114" cy="2382519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uiExpand="1" build="p"/>
      <p:bldP spid="7" grpId="0"/>
      <p:bldP spid="9" grpId="0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95288" y="2017098"/>
            <a:ext cx="7596712" cy="3425057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1368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6" name="矩形 5"/>
          <p:cNvSpPr/>
          <p:nvPr/>
        </p:nvSpPr>
        <p:spPr>
          <a:xfrm>
            <a:off x="4666572" y="2156696"/>
            <a:ext cx="7454144" cy="31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明朝（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1368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[1]  ―1644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年）是中国历史上最后一个由汉族建立的大一统王朝，共传十六帝，享国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276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年。元末民不聊生，爆发红巾起义，朱元璋加入郭子兴队伍。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1364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年朱元璋称吴王，建立西吴。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1368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年朱元璋称帝，国号为大明，因皇室姓朱，又称朱明，定都于应天府；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1420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年朱棣迁都至顺天府，以应天府为陪都。明初历经洪武之治、永乐盛世、仁宣之治等治世，政治清明、国力强盛。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中期经土木之变由盛转衰，后经弘治中兴、嘉靖中兴、万历中兴国势复振，晚明因东林党争和天灾外患导致国力衰退，爆发明末农民起义。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1644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年李自成攻入北京，崇祯帝自缢殉国，明朝覆灭。</a:t>
            </a:r>
          </a:p>
        </p:txBody>
      </p:sp>
      <p:sp>
        <p:nvSpPr>
          <p:cNvPr id="7" name="矩形 6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1644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008414" y="5655394"/>
            <a:ext cx="13131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明朝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765" y="2030340"/>
            <a:ext cx="1882107" cy="3398572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5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uiExpand="1" build="p"/>
      <p:bldP spid="7" grpId="0"/>
      <p:bldP spid="9" grpId="0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95288" y="2017098"/>
            <a:ext cx="7596712" cy="3425057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1644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6" name="矩形 5"/>
          <p:cNvSpPr/>
          <p:nvPr/>
        </p:nvSpPr>
        <p:spPr>
          <a:xfrm>
            <a:off x="4666572" y="2156696"/>
            <a:ext cx="7454144" cy="31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清朝（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1644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—1912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年）是中国历史最后一个封建王朝，共传十帝，享国二百六十八年。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1616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年，建州女真部首领努尔哈赤建立后金。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1636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年，皇太极改国号为大清。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1644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年大顺攻占明朝国都北京，驻守山海关的明将吴三桂降清，一片石之战后，摄政王多尔衮率领清军趁势入关，同年顺治帝迁都北京，从此清朝取代明朝成为全国统治者。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政治上推行首崇满洲、圈地投充、剃发易服、迁海令、文字狱等，军事上平定大顺、大西、南明等政权，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年间逐步掌控全国。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康雍乾三朝走向鼎盛，统一多民族国家得到巩固，封建专制推向了最高峰。</a:t>
            </a:r>
          </a:p>
        </p:txBody>
      </p:sp>
      <p:sp>
        <p:nvSpPr>
          <p:cNvPr id="7" name="矩形 6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1912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008415" y="565539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清朝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563" y="2030340"/>
            <a:ext cx="1758793" cy="3398569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5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uiExpand="1" build="p"/>
      <p:bldP spid="7" grpId="0"/>
      <p:bldP spid="9" grpId="0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95288" y="1268699"/>
            <a:ext cx="7596712" cy="4293385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5" y="1264618"/>
            <a:ext cx="1978824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1912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6" name="矩形 5"/>
          <p:cNvSpPr/>
          <p:nvPr/>
        </p:nvSpPr>
        <p:spPr>
          <a:xfrm>
            <a:off x="4666572" y="1282307"/>
            <a:ext cx="7454144" cy="4266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中华民国（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1912——1949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），位于亚洲东部、东临太平洋。是辛亥革命以后建立的亚洲第一个民主共和国，简称民国。为第二次世界大战的主要战胜国及联合国五个主要创始会员国之一。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1911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年辛亥革命爆发后，革命党在南京建立临时政府，各省代表推举孙中山为临时大总统，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1912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年元月民国正式建立。以袁世凯为首的北洋势力主政中国，北洋政府分崩离析后政局动荡不安，孙中山南下广州，召开国民党一大，建立黄埔军校随而建立国民政府，促成国共合作后的孙中山不久病逝。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1926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年蒋介石继承孙中山遗志领导国民北伐，意欲统一中国，到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1928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年东北易帜，国民政府从形式上统一中国，蒋介石成为继孙中山之后的国民党领袖。统一之后，民国进入黄金十年建设时期，此间社会稳定，教育稳步发展、趋于定型。</a:t>
            </a: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1937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年抗战全面爆发，中国成为反法西斯同盟国，国际地位大大提高，一举成为美英中苏四大国。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1949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年后因国共内战失利而迁台。</a:t>
            </a:r>
          </a:p>
        </p:txBody>
      </p:sp>
      <p:sp>
        <p:nvSpPr>
          <p:cNvPr id="7" name="矩形 6"/>
          <p:cNvSpPr/>
          <p:nvPr/>
        </p:nvSpPr>
        <p:spPr>
          <a:xfrm>
            <a:off x="2495767" y="6070158"/>
            <a:ext cx="1978822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公元</a:t>
            </a: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1941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306146" y="6038626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444158" y="565539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中华民国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5641" y="5918415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579" y="2134478"/>
            <a:ext cx="1957195" cy="3026967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5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uiExpand="1" build="p"/>
      <p:bldP spid="7" grpId="0"/>
      <p:bldP spid="9" grpId="0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94840" y="2017847"/>
            <a:ext cx="7497160" cy="3571052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2306146" y="0"/>
            <a:ext cx="0" cy="6984123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306146" y="1696555"/>
            <a:ext cx="2146632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495764" y="1264618"/>
            <a:ext cx="2240973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pc="100">
                <a:latin typeface="微软雅黑" panose="020B0503020204020204" pitchFamily="34" charset="-122"/>
                <a:ea typeface="微软雅黑" panose="020B0503020204020204" pitchFamily="34" charset="-122"/>
              </a:rPr>
              <a:t>1949.10.1--</a:t>
            </a:r>
            <a:r>
              <a:rPr lang="zh-CN" altLang="en-US" spc="100">
                <a:latin typeface="微软雅黑" panose="020B0503020204020204" pitchFamily="34" charset="-122"/>
                <a:ea typeface="微软雅黑" panose="020B0503020204020204" pitchFamily="34" charset="-122"/>
              </a:rPr>
              <a:t>至今</a:t>
            </a:r>
          </a:p>
        </p:txBody>
      </p:sp>
      <p:sp>
        <p:nvSpPr>
          <p:cNvPr id="6" name="矩形 5"/>
          <p:cNvSpPr/>
          <p:nvPr/>
        </p:nvSpPr>
        <p:spPr>
          <a:xfrm>
            <a:off x="4744616" y="2090404"/>
            <a:ext cx="7397609" cy="3425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中华人民共和国位于亚洲东部，太平洋西岸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，是工人阶级领导的、以工农联盟为基础的人民民主专政的社会主义国家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1949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年（己丑年）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日成立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 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以五星红旗为国旗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义勇军进行曲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为国歌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，国徽内容包括国旗、天安门、齿轮和麦稻穗，首都北京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，省级行政区划为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个省、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个自治区、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个直辖市、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个特别行政区，是一个以汉族为主体民族，由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个民族构成的统一多民族国家，汉族占总人口的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91.51%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4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新中国成立后，随即开展经济恢复与建设，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1953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年开始三大改造，到</a:t>
            </a:r>
            <a:r>
              <a:rPr lang="en-US" altLang="zh-CN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1956</a:t>
            </a: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年确立了社会主义制度，进入社会主义探索阶段。文化大革命之后开始改革开放，逐步确立了中国特色社会主义制度。</a:t>
            </a:r>
          </a:p>
        </p:txBody>
      </p:sp>
      <p:sp>
        <p:nvSpPr>
          <p:cNvPr id="9" name="矩形 8"/>
          <p:cNvSpPr/>
          <p:nvPr/>
        </p:nvSpPr>
        <p:spPr>
          <a:xfrm>
            <a:off x="6326410" y="5698360"/>
            <a:ext cx="413446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B92E32"/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rPr>
              <a:t>中华人民共和国</a:t>
            </a:r>
            <a:endParaRPr lang="en-US" altLang="zh-CN" sz="4400" dirty="0">
              <a:solidFill>
                <a:srgbClr val="B92E32"/>
              </a:solidFill>
              <a:latin typeface="汉仪大宋简" panose="02010609000101010101" pitchFamily="49" charset="-122"/>
              <a:ea typeface="汉仪大宋简" panose="0201060900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75641" y="1543850"/>
            <a:ext cx="271956" cy="27195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673" y="2673421"/>
            <a:ext cx="2074858" cy="2640729"/>
          </a:xfrm>
          <a:prstGeom prst="rect">
            <a:avLst/>
          </a:prstGeom>
        </p:spPr>
      </p:pic>
      <p:pic>
        <p:nvPicPr>
          <p:cNvPr id="7" name="墨迹 6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8" presetClass="entr" presetSubtype="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0" presetID="47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uiExpand="1" build="p"/>
      <p:bldP spid="9" grpId="0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9210" y="6037652"/>
            <a:ext cx="2462790" cy="83741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4633" y="4460403"/>
            <a:ext cx="3908308" cy="62978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6752" y="3004878"/>
            <a:ext cx="2076450" cy="76416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18" y="1131917"/>
            <a:ext cx="3124200" cy="636241"/>
          </a:xfrm>
          <a:prstGeom prst="rect">
            <a:avLst/>
          </a:prstGeom>
        </p:spPr>
      </p:pic>
      <p:pic>
        <p:nvPicPr>
          <p:cNvPr id="6" name="图片 5" descr="图片包含 道路, 户外&#10;&#10;描述已自动生成"/>
          <p:cNvPicPr>
            <a:picLocks noChangeAspect="1"/>
          </p:cNvPicPr>
          <p:nvPr/>
        </p:nvPicPr>
        <p:blipFill>
          <a:blip r:embed="rId7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977641"/>
            <a:ext cx="12192000" cy="934865"/>
          </a:xfrm>
          <a:prstGeom prst="rect">
            <a:avLst/>
          </a:prstGeom>
        </p:spPr>
      </p:pic>
      <p:pic>
        <p:nvPicPr>
          <p:cNvPr id="7" name="图片 6" descr="图片包含 音乐&#10;&#10;描述已自动生成"/>
          <p:cNvPicPr>
            <a:picLocks noChangeAspect="1"/>
          </p:cNvPicPr>
          <p:nvPr/>
        </p:nvPicPr>
        <p:blipFill>
          <a:blip r:embed="rId8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4608790"/>
            <a:ext cx="12192000" cy="150357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97367" y="1412691"/>
            <a:ext cx="879726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kern="9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中国历史时间轴</a:t>
            </a:r>
          </a:p>
        </p:txBody>
      </p:sp>
      <p:sp>
        <p:nvSpPr>
          <p:cNvPr id="11" name="矩形 10"/>
          <p:cNvSpPr/>
          <p:nvPr/>
        </p:nvSpPr>
        <p:spPr>
          <a:xfrm>
            <a:off x="2690948" y="3230729"/>
            <a:ext cx="6810105" cy="577916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59189" y="3317515"/>
            <a:ext cx="66736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spc="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中国从原始社会到二十一世纪之间的历史时间列表</a:t>
            </a:r>
            <a:endParaRPr lang="zh-CN" altLang="en-US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050981" y="2136677"/>
            <a:ext cx="102738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0228082" y="2136677"/>
            <a:ext cx="91808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11146163" y="2136677"/>
            <a:ext cx="0" cy="155017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1050981" y="2136677"/>
            <a:ext cx="0" cy="155017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050981" y="3686847"/>
            <a:ext cx="163996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9506196" y="3686847"/>
            <a:ext cx="163996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图片包含 鲜花, 轮廓, 花瓶, 植物&#10;&#10;描述已自动生成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1569" y="0"/>
            <a:ext cx="2210430" cy="2818646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1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1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6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2400" kern="0">
              <a:solidFill>
                <a:srgbClr val="005397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40251" y="3097353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107840" y="3097353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35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947382" y="-404505"/>
            <a:ext cx="7893049" cy="3402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2RiMDliYTU1NTM0NGQyY2Q1Y2M3NjFlMTlkYWNlMWEifQ=="/>
  <p:tag name="ISPRING_PRESENTATION_TITLE" val="PowerPoint 演示文稿"/>
  <p:tag name="KSO_WPP_MARK_KEY" val="4aa0178d-74f1-435a-9c08-5920d8d7f1ab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3</TotalTime>
  <Words>6304</Words>
  <Application>Microsoft Office PowerPoint</Application>
  <PresentationFormat>自定义</PresentationFormat>
  <Paragraphs>208</Paragraphs>
  <Slides>24</Slides>
  <Notes>23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26" baseType="lpstr"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历史教育</dc:title>
  <dc:creator>第一PPT</dc:creator>
  <cp:keywords>www.1ppt.com</cp:keywords>
  <dc:description>www.1ppt.com</dc:description>
  <cp:lastModifiedBy>123</cp:lastModifiedBy>
  <cp:revision>28</cp:revision>
  <dcterms:created xsi:type="dcterms:W3CDTF">2019-07-26T12:27:00Z</dcterms:created>
  <dcterms:modified xsi:type="dcterms:W3CDTF">2025-04-09T09:28:11Z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6C6B1E5EB1A74020B25EB7DD4F0454B4</vt:lpwstr>
  </property>
  <property fmtid="{D5CDD505-2E9C-101B-9397-08002B2CF9AE}" pid="3" name="KSOProductBuildVer">
    <vt:lpwstr>2052-12.1.0.20305</vt:lpwstr>
  </property>
</Properties>
</file>