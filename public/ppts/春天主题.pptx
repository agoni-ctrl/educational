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2" r:id="rId2"/>
  </p:sldMasterIdLst>
  <p:notesMasterIdLst>
    <p:notesMasterId r:id="rId39"/>
  </p:notesMasterIdLst>
  <p:sldIdLst>
    <p:sldId id="256" r:id="rId3"/>
    <p:sldId id="257" r:id="rId4"/>
    <p:sldId id="258" r:id="rId5"/>
    <p:sldId id="260" r:id="rId6"/>
    <p:sldId id="261" r:id="rId7"/>
    <p:sldId id="304" r:id="rId8"/>
    <p:sldId id="263" r:id="rId9"/>
    <p:sldId id="264" r:id="rId10"/>
    <p:sldId id="305" r:id="rId11"/>
    <p:sldId id="266" r:id="rId12"/>
    <p:sldId id="267" r:id="rId13"/>
    <p:sldId id="306" r:id="rId14"/>
    <p:sldId id="269" r:id="rId15"/>
    <p:sldId id="270" r:id="rId16"/>
    <p:sldId id="307" r:id="rId17"/>
    <p:sldId id="272" r:id="rId18"/>
    <p:sldId id="273" r:id="rId19"/>
    <p:sldId id="308" r:id="rId20"/>
    <p:sldId id="275" r:id="rId21"/>
    <p:sldId id="276" r:id="rId22"/>
    <p:sldId id="309" r:id="rId23"/>
    <p:sldId id="278" r:id="rId24"/>
    <p:sldId id="279" r:id="rId25"/>
    <p:sldId id="302" r:id="rId26"/>
    <p:sldId id="310" r:id="rId27"/>
    <p:sldId id="281" r:id="rId28"/>
    <p:sldId id="282" r:id="rId29"/>
    <p:sldId id="311" r:id="rId30"/>
    <p:sldId id="284" r:id="rId31"/>
    <p:sldId id="285" r:id="rId32"/>
    <p:sldId id="312" r:id="rId33"/>
    <p:sldId id="287" r:id="rId34"/>
    <p:sldId id="288" r:id="rId35"/>
    <p:sldId id="301" r:id="rId36"/>
    <p:sldId id="303" r:id="rId37"/>
    <p:sldId id="365" r:id="rId38"/>
  </p:sldIdLst>
  <p:sldSz cx="12192000" cy="6858000"/>
  <p:notesSz cx="6858000" cy="9144000"/>
  <p:custDataLst>
    <p:tags r:id="rId4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70"/>
    <p:restoredTop sz="94684"/>
  </p:normalViewPr>
  <p:slideViewPr>
    <p:cSldViewPr snapToGrid="0" showGuides="1">
      <p:cViewPr>
        <p:scale>
          <a:sx n="80" d="100"/>
          <a:sy n="80" d="100"/>
        </p:scale>
        <p:origin x="1518" y="690"/>
      </p:cViewPr>
      <p:guideLst>
        <p:guide orient="horz" pos="2137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tags" Target="tags/tag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DB169A5-D374-3D43-8562-050B7F6D840D}" type="datetimeFigureOut">
              <a:rPr kumimoji="1" lang="zh-CN" altLang="en-US" smtClean="0"/>
              <a:pPr/>
              <a:t>2026/8/6</a:t>
            </a:fld>
            <a:endParaRPr kumimoji="1"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0A5A2ED-C5BE-5C41-BB0A-BCD808B7062A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模板来自于： 第一</a:t>
            </a:r>
            <a:r>
              <a:rPr lang="en-US" altLang="zh-CN" dirty="0"/>
              <a:t>PPT https://www.1ppt.com/</a:t>
            </a:r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A71AE-FC39-354E-B7D2-3FB44AB8088E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D1BB-B1F1-CE47-A7C3-B497E9734D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/>
    </mc:Fallback>
  </mc:AlternateContent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9E7B0785-4923-4581-B0AD-E7B4F8364785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kumimoji="1" lang="zh-CN" altLang="en-US" smtClean="0"/>
              <a:t>‹#›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965031" y="3367444"/>
            <a:ext cx="45365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6" name="TextBox 8"/>
          <p:cNvSpPr txBox="1"/>
          <p:nvPr/>
        </p:nvSpPr>
        <p:spPr>
          <a:xfrm>
            <a:off x="7509627" y="2215277"/>
            <a:ext cx="540060" cy="137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7" name="标题 1"/>
          <p:cNvSpPr txBox="1"/>
          <p:nvPr/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ctr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4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j-lt"/>
                <a:ea typeface="+mj-ea"/>
                <a:cs typeface="+mj-cs"/>
                <a:sym typeface="Wingdings" panose="05000000000000000000"/>
              </a:defRPr>
            </a:lvl1pPr>
            <a:lvl2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2pPr>
            <a:lvl3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3pPr>
            <a:lvl4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4pPr>
            <a:lvl5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5pPr>
            <a:lvl6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6pPr>
            <a:lvl7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7pPr>
            <a:lvl8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8pPr>
            <a:lvl9pPr marL="0" marR="0" indent="0" algn="l" defTabSz="914400" rtl="0" eaLnBrk="0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800" b="0" i="0" u="none" strike="noStrike" kern="1200" cap="none" spc="0" normalizeH="0" baseline="0" noProof="0">
                <a:solidFill>
                  <a:schemeClr val="phClr"/>
                </a:solidFill>
                <a:uLnTx/>
                <a:uFillTx/>
                <a:latin typeface="Arial"/>
                <a:ea typeface="Arial"/>
                <a:cs typeface="Arial"/>
                <a:sym typeface="Wingdings" panose="05000000000000000000"/>
              </a:defRPr>
            </a:lvl9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8" name="文本占位符 2"/>
          <p:cNvSpPr txBox="1"/>
          <p:nvPr/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 anchor="b"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4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457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20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914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8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371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18288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2860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7432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2004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657600" marR="0" indent="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 kumimoji="0" sz="1600" b="1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内容占位符 3"/>
          <p:cNvSpPr txBox="1"/>
          <p:nvPr/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lIns="91440" tIns="45720" rIns="91440" bIns="45720"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1pPr>
            <a:lvl2pPr marL="685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4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20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5pPr>
            <a:lvl6pPr marL="25146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6pPr>
            <a:lvl7pPr marL="29718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7pPr>
            <a:lvl8pPr marL="3429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8pPr>
            <a:lvl9pPr marL="3886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defRPr kumimoji="0" sz="1800" b="0" i="0" u="none" strike="noStrike" kern="1200" cap="none" spc="0" normalizeH="0" baseline="0" noProof="0">
                <a:solidFill>
                  <a:schemeClr val="tx1"/>
                </a:solidFill>
                <a:uLnTx/>
                <a:uFillTx/>
                <a:latin typeface="+mn-lt"/>
                <a:ea typeface="+mn-ea"/>
                <a:cs typeface="+mn-cs"/>
                <a:sym typeface="Wingdings" panose="05000000000000000000"/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0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12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9B957CC-A438-4D82-B305-22914934740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1A71AE-FC39-354E-B7D2-3FB44AB8088E}" type="datetimeFigureOut">
              <a:rPr kumimoji="1" lang="zh-CN" altLang="en-US" smtClean="0"/>
              <a:t>2026/8/6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94D1BB-B1F1-CE47-A7C3-B497E9734D9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/>
    </mc:Fallback>
  </mc:AlternateContent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71A71AE-FC39-354E-B7D2-3FB44AB8088E}" type="datetimeFigureOut">
              <a:rPr kumimoji="1" lang="zh-CN" altLang="en-US" smtClean="0"/>
              <a:pPr/>
              <a:t>2026/8/6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B894D1BB-B1F1-CE47-A7C3-B497E9734D97}" type="slidenum">
              <a:rPr kumimoji="1" lang="zh-CN" altLang="en-US" smtClean="0"/>
              <a:pPr/>
              <a:t>‹#›</a:t>
            </a:fld>
            <a:endParaRPr kumimoji="1" lang="zh-CN" altLang="en-US" dirty="0"/>
          </a:p>
        </p:txBody>
      </p:sp>
      <p:pic>
        <p:nvPicPr>
          <p:cNvPr id="8" name="图片 7" descr="桌子上有一些绿色植物&#10;&#10;中度可信度描述已自动生成"/>
          <p:cNvPicPr>
            <a:picLocks noChangeAspect="1"/>
          </p:cNvPicPr>
          <p:nvPr userDrawn="1"/>
        </p:nvPicPr>
        <p:blipFill>
          <a:blip r:embed="rId5" cstate="email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14414" cy="6858000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379737" y="428105"/>
            <a:ext cx="11454939" cy="600178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47965" dist="38100" dir="2700000" algn="tl" rotWithShape="0">
              <a:prstClr val="black">
                <a:alpha val="38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/>
    </mc:Fallback>
  </mc:AlternateContent>
  <p:hf sldNum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3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Relationship Id="rId6" Type="http://schemas.openxmlformats.org/officeDocument/2006/relationships/image" Target="../media/image21.png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5.xml"/><Relationship Id="rId5" Type="http://schemas.openxmlformats.org/officeDocument/2006/relationships/image" Target="../media/image16.png"/><Relationship Id="rId4" Type="http://schemas.openxmlformats.org/officeDocument/2006/relationships/image" Target="../media/image2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.xml"/><Relationship Id="rId6" Type="http://schemas.openxmlformats.org/officeDocument/2006/relationships/image" Target="../media/image24.jpeg"/><Relationship Id="rId5" Type="http://schemas.openxmlformats.org/officeDocument/2006/relationships/image" Target="../media/image16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Relationship Id="rId5" Type="http://schemas.openxmlformats.org/officeDocument/2006/relationships/image" Target="../media/image25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Relationship Id="rId6" Type="http://schemas.openxmlformats.org/officeDocument/2006/relationships/image" Target="../media/image27.png"/><Relationship Id="rId5" Type="http://schemas.openxmlformats.org/officeDocument/2006/relationships/image" Target="../media/image16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Relationship Id="rId5" Type="http://schemas.openxmlformats.org/officeDocument/2006/relationships/image" Target="../media/image16.png"/><Relationship Id="rId4" Type="http://schemas.openxmlformats.org/officeDocument/2006/relationships/image" Target="../media/image2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Relationship Id="rId6" Type="http://schemas.openxmlformats.org/officeDocument/2006/relationships/image" Target="../media/image30.png"/><Relationship Id="rId5" Type="http://schemas.openxmlformats.org/officeDocument/2006/relationships/image" Target="../media/image16.png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Relationship Id="rId5" Type="http://schemas.openxmlformats.org/officeDocument/2006/relationships/image" Target="../media/image31.jpe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Relationship Id="rId6" Type="http://schemas.openxmlformats.org/officeDocument/2006/relationships/image" Target="../media/image33.png"/><Relationship Id="rId5" Type="http://schemas.openxmlformats.org/officeDocument/2006/relationships/image" Target="../media/image16.png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3.xml"/><Relationship Id="rId6" Type="http://schemas.openxmlformats.org/officeDocument/2006/relationships/image" Target="../media/image35.png"/><Relationship Id="rId5" Type="http://schemas.openxmlformats.org/officeDocument/2006/relationships/image" Target="../media/image16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Relationship Id="rId6" Type="http://schemas.openxmlformats.org/officeDocument/2006/relationships/image" Target="../media/image37.png"/><Relationship Id="rId5" Type="http://schemas.openxmlformats.org/officeDocument/2006/relationships/image" Target="../media/image16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6" Type="http://schemas.openxmlformats.org/officeDocument/2006/relationships/image" Target="../media/image39.jpeg"/><Relationship Id="rId5" Type="http://schemas.openxmlformats.org/officeDocument/2006/relationships/image" Target="../media/image38.png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Relationship Id="rId6" Type="http://schemas.openxmlformats.org/officeDocument/2006/relationships/image" Target="../media/image40.jpeg"/><Relationship Id="rId5" Type="http://schemas.openxmlformats.org/officeDocument/2006/relationships/image" Target="../media/image38.png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6" Type="http://schemas.openxmlformats.org/officeDocument/2006/relationships/image" Target="../media/image42.png"/><Relationship Id="rId5" Type="http://schemas.openxmlformats.org/officeDocument/2006/relationships/image" Target="../media/image16.png"/><Relationship Id="rId4" Type="http://schemas.openxmlformats.org/officeDocument/2006/relationships/image" Target="../media/image4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8.xml"/><Relationship Id="rId6" Type="http://schemas.openxmlformats.org/officeDocument/2006/relationships/image" Target="../media/image16.png"/><Relationship Id="rId5" Type="http://schemas.microsoft.com/office/2007/relationships/hdphoto" Target="../media/hdphoto5.wdp"/><Relationship Id="rId4" Type="http://schemas.openxmlformats.org/officeDocument/2006/relationships/image" Target="../media/image4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Relationship Id="rId6" Type="http://schemas.openxmlformats.org/officeDocument/2006/relationships/image" Target="../media/image45.png"/><Relationship Id="rId5" Type="http://schemas.openxmlformats.org/officeDocument/2006/relationships/image" Target="../media/image16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Relationship Id="rId5" Type="http://schemas.openxmlformats.org/officeDocument/2006/relationships/image" Target="../media/image16.png"/><Relationship Id="rId4" Type="http://schemas.openxmlformats.org/officeDocument/2006/relationships/image" Target="../media/image46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4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Relationship Id="rId6" Type="http://schemas.openxmlformats.org/officeDocument/2006/relationships/image" Target="../media/image48.png"/><Relationship Id="rId5" Type="http://schemas.openxmlformats.org/officeDocument/2006/relationships/image" Target="../media/image16.png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Relationship Id="rId6" Type="http://schemas.openxmlformats.org/officeDocument/2006/relationships/image" Target="../media/image50.png"/><Relationship Id="rId5" Type="http://schemas.openxmlformats.org/officeDocument/2006/relationships/image" Target="../media/image16.png"/><Relationship Id="rId4" Type="http://schemas.openxmlformats.org/officeDocument/2006/relationships/image" Target="../media/image4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3.xml"/><Relationship Id="rId6" Type="http://schemas.openxmlformats.org/officeDocument/2006/relationships/image" Target="../media/image51.png"/><Relationship Id="rId5" Type="http://schemas.openxmlformats.org/officeDocument/2006/relationships/image" Target="../media/image49.png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microsoft.com/office/2007/relationships/hdphoto" Target="../media/hdphoto2.wdp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hyperlink" Target="http://www.1ppt.com/xiazai/" TargetMode="External"/><Relationship Id="rId13" Type="http://schemas.openxmlformats.org/officeDocument/2006/relationships/hyperlink" Target="http://www.1ppt.com/kejian/" TargetMode="External"/><Relationship Id="rId18" Type="http://schemas.openxmlformats.org/officeDocument/2006/relationships/image" Target="../media/image52.png"/><Relationship Id="rId3" Type="http://schemas.openxmlformats.org/officeDocument/2006/relationships/hyperlink" Target="http://www.1ppt.com/hangye/" TargetMode="External"/><Relationship Id="rId7" Type="http://schemas.openxmlformats.org/officeDocument/2006/relationships/hyperlink" Target="http://www.1ppt.com/tubiao/" TargetMode="External"/><Relationship Id="rId12" Type="http://schemas.openxmlformats.org/officeDocument/2006/relationships/hyperlink" Target="http://www.1ppt.com/jianli/" TargetMode="External"/><Relationship Id="rId17" Type="http://schemas.openxmlformats.org/officeDocument/2006/relationships/hyperlink" Target="http://www.1ppt.com/ziti/" TargetMode="External"/><Relationship Id="rId2" Type="http://schemas.openxmlformats.org/officeDocument/2006/relationships/hyperlink" Target="http://www.1ppt.com/moban/" TargetMode="External"/><Relationship Id="rId16" Type="http://schemas.openxmlformats.org/officeDocument/2006/relationships/hyperlink" Target="http://www.1ppt.com/jiaoan/" TargetMode="External"/><Relationship Id="rId1" Type="http://schemas.openxmlformats.org/officeDocument/2006/relationships/slideLayout" Target="../slideLayouts/slideLayout4.xml"/><Relationship Id="rId6" Type="http://schemas.openxmlformats.org/officeDocument/2006/relationships/hyperlink" Target="http://www.1ppt.com/beijing/" TargetMode="External"/><Relationship Id="rId11" Type="http://schemas.openxmlformats.org/officeDocument/2006/relationships/hyperlink" Target="http://www.1ppt.com/excel/" TargetMode="External"/><Relationship Id="rId5" Type="http://schemas.openxmlformats.org/officeDocument/2006/relationships/hyperlink" Target="http://www.1ppt.com/sucai/" TargetMode="External"/><Relationship Id="rId15" Type="http://schemas.openxmlformats.org/officeDocument/2006/relationships/hyperlink" Target="http://www.1ppt.com/shiti/" TargetMode="External"/><Relationship Id="rId10" Type="http://schemas.openxmlformats.org/officeDocument/2006/relationships/hyperlink" Target="http://www.1ppt.com/word/" TargetMode="External"/><Relationship Id="rId19" Type="http://schemas.openxmlformats.org/officeDocument/2006/relationships/image" Target="../media/image53.png"/><Relationship Id="rId4" Type="http://schemas.openxmlformats.org/officeDocument/2006/relationships/hyperlink" Target="http://www.1ppt.com/jieri/" TargetMode="External"/><Relationship Id="rId9" Type="http://schemas.openxmlformats.org/officeDocument/2006/relationships/hyperlink" Target="http://www.1ppt.com/powerpoint/" TargetMode="External"/><Relationship Id="rId14" Type="http://schemas.openxmlformats.org/officeDocument/2006/relationships/hyperlink" Target="http://www.1ppt.com/shouchaobao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在水里&#10;&#10;中度可信度描述已自动生成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12192001" cy="6857999"/>
          </a:xfrm>
          <a:prstGeom prst="rect">
            <a:avLst/>
          </a:prstGeom>
          <a:effectLst>
            <a:outerShdw blurRad="50800" dist="38100" dir="2700000" algn="tl" rotWithShape="0">
              <a:schemeClr val="bg2">
                <a:lumMod val="25000"/>
                <a:alpha val="40000"/>
              </a:schemeClr>
            </a:outerShdw>
          </a:effectLst>
        </p:spPr>
      </p:pic>
      <p:sp>
        <p:nvSpPr>
          <p:cNvPr id="7" name="文本框 6"/>
          <p:cNvSpPr txBox="1"/>
          <p:nvPr/>
        </p:nvSpPr>
        <p:spPr>
          <a:xfrm>
            <a:off x="2801370" y="4550977"/>
            <a:ext cx="6867528" cy="308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春天的象征是什么：桃花盛开，柳条垂拂。桃花盛开，垂柳依依，江南的春色很美。雨过天晴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1451499" y="301896"/>
            <a:ext cx="9056736" cy="3297675"/>
            <a:chOff x="1126261" y="32998"/>
            <a:chExt cx="9056736" cy="3297675"/>
          </a:xfrm>
        </p:grpSpPr>
        <p:sp>
          <p:nvSpPr>
            <p:cNvPr id="6" name="文本框 5"/>
            <p:cNvSpPr txBox="1"/>
            <p:nvPr/>
          </p:nvSpPr>
          <p:spPr>
            <a:xfrm>
              <a:off x="3824555" y="2961341"/>
              <a:ext cx="4141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HYXingYuTiJ" pitchFamily="18" charset="-122"/>
                  <a:ea typeface="HYXingYuTiJ" pitchFamily="18" charset="-122"/>
                  <a:cs typeface="+mn-ea"/>
                  <a:sym typeface="+mn-lt"/>
                </a:rPr>
                <a:t>写尽人间春色，共赴春日盛宴</a:t>
              </a: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HYXingYuTiJ" pitchFamily="18" charset="-122"/>
                <a:ea typeface="HYXingYuTiJ" pitchFamily="18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955731" y="570744"/>
              <a:ext cx="8227266" cy="2708434"/>
              <a:chOff x="2425434" y="619025"/>
              <a:chExt cx="8227266" cy="2708434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2425434" y="1032395"/>
                <a:ext cx="2391395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3800" dirty="0">
                    <a:ln>
                      <a:solidFill>
                        <a:schemeClr val="bg1"/>
                      </a:solidFill>
                    </a:ln>
                    <a:gradFill>
                      <a:gsLst>
                        <a:gs pos="76000">
                          <a:srgbClr val="2A9E4E"/>
                        </a:gs>
                        <a:gs pos="0">
                          <a:srgbClr val="2ABD94"/>
                        </a:gs>
                      </a:gsLst>
                      <a:lin ang="7200000" scaled="0"/>
                    </a:gradFill>
                    <a:effectLst>
                      <a:outerShdw blurRad="68795" dist="38100" dir="2700000" algn="tl" rotWithShape="0">
                        <a:srgbClr val="104F27">
                          <a:alpha val="64896"/>
                        </a:srgbClr>
                      </a:outerShdw>
                    </a:effectLst>
                    <a:latin typeface="汉仪行楷简" panose="02010609000101010101" pitchFamily="49" charset="-122"/>
                    <a:ea typeface="汉仪行楷简" panose="02010609000101010101" pitchFamily="49" charset="-122"/>
                  </a:rPr>
                  <a:t>春</a:t>
                </a: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3838334" y="886868"/>
                <a:ext cx="2391395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5000" dirty="0">
                    <a:ln>
                      <a:solidFill>
                        <a:schemeClr val="bg1"/>
                      </a:solidFill>
                    </a:ln>
                    <a:gradFill flip="none" rotWithShape="1">
                      <a:gsLst>
                        <a:gs pos="76000">
                          <a:srgbClr val="2A9E4E"/>
                        </a:gs>
                        <a:gs pos="0">
                          <a:srgbClr val="2ABD94"/>
                        </a:gs>
                      </a:gsLst>
                      <a:lin ang="7200000" scaled="0"/>
                    </a:gradFill>
                    <a:effectLst>
                      <a:outerShdw blurRad="68795" dist="38100" dir="2700000" algn="tl" rotWithShape="0">
                        <a:srgbClr val="104F27">
                          <a:alpha val="64896"/>
                        </a:srgbClr>
                      </a:outerShdw>
                    </a:effectLst>
                    <a:latin typeface="汉仪行楷简" panose="02010609000101010101" pitchFamily="49" charset="-122"/>
                    <a:ea typeface="汉仪行楷简" panose="02010609000101010101" pitchFamily="49" charset="-122"/>
                  </a:rPr>
                  <a:t>天</a:t>
                </a: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6511525" y="619025"/>
                <a:ext cx="2391395" cy="2708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7000" dirty="0">
                    <a:ln>
                      <a:solidFill>
                        <a:schemeClr val="bg1"/>
                      </a:solidFill>
                    </a:ln>
                    <a:gradFill>
                      <a:gsLst>
                        <a:gs pos="76000">
                          <a:srgbClr val="2A9E4E"/>
                        </a:gs>
                        <a:gs pos="0">
                          <a:srgbClr val="2ABD94"/>
                        </a:gs>
                      </a:gsLst>
                      <a:lin ang="7200000" scaled="0"/>
                    </a:gradFill>
                    <a:effectLst>
                      <a:outerShdw blurRad="68795" dist="38100" dir="2700000" algn="tl" rotWithShape="0">
                        <a:srgbClr val="104F27">
                          <a:alpha val="64896"/>
                        </a:srgbClr>
                      </a:outerShdw>
                    </a:effectLst>
                    <a:latin typeface="汉仪行楷简" panose="02010609000101010101" pitchFamily="49" charset="-122"/>
                    <a:ea typeface="汉仪行楷简" panose="02010609000101010101" pitchFamily="49" charset="-122"/>
                  </a:rPr>
                  <a:t>古</a:t>
                </a: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5377471" y="990133"/>
                <a:ext cx="2391395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3800" dirty="0">
                    <a:ln>
                      <a:solidFill>
                        <a:schemeClr val="bg1"/>
                      </a:solidFill>
                    </a:ln>
                    <a:gradFill flip="none" rotWithShape="1">
                      <a:gsLst>
                        <a:gs pos="76000">
                          <a:srgbClr val="2A9E4E"/>
                        </a:gs>
                        <a:gs pos="0">
                          <a:srgbClr val="2ABD94"/>
                        </a:gs>
                      </a:gsLst>
                      <a:lin ang="7200000" scaled="0"/>
                    </a:gradFill>
                    <a:effectLst>
                      <a:outerShdw blurRad="68795" dist="38100" dir="2700000" algn="tl" rotWithShape="0">
                        <a:srgbClr val="104F27">
                          <a:alpha val="64896"/>
                        </a:srgbClr>
                      </a:outerShdw>
                    </a:effectLst>
                    <a:latin typeface="汉仪行楷简" panose="02010609000101010101" pitchFamily="49" charset="-122"/>
                    <a:ea typeface="汉仪行楷简" panose="02010609000101010101" pitchFamily="49" charset="-122"/>
                  </a:rPr>
                  <a:t>的</a:t>
                </a: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8261305" y="945840"/>
                <a:ext cx="2391395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3800" dirty="0">
                    <a:ln>
                      <a:solidFill>
                        <a:schemeClr val="bg1"/>
                      </a:solidFill>
                    </a:ln>
                    <a:gradFill>
                      <a:gsLst>
                        <a:gs pos="76000">
                          <a:srgbClr val="2A9E4E"/>
                        </a:gs>
                        <a:gs pos="0">
                          <a:srgbClr val="2ABD94"/>
                        </a:gs>
                      </a:gsLst>
                      <a:lin ang="7200000" scaled="0"/>
                    </a:gradFill>
                    <a:effectLst>
                      <a:outerShdw blurRad="68795" dist="38100" dir="2700000" algn="tl" rotWithShape="0">
                        <a:srgbClr val="104F27">
                          <a:alpha val="64896"/>
                        </a:srgbClr>
                      </a:outerShdw>
                    </a:effectLst>
                    <a:latin typeface="汉仪行楷简" panose="02010609000101010101" pitchFamily="49" charset="-122"/>
                    <a:ea typeface="汉仪行楷简" panose="02010609000101010101" pitchFamily="49" charset="-122"/>
                  </a:rPr>
                  <a:t>诗</a:t>
                </a:r>
              </a:p>
            </p:txBody>
          </p:sp>
        </p:grpSp>
        <p:pic>
          <p:nvPicPr>
            <p:cNvPr id="19" name="图片 18" descr="图片包含 游戏机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92132" y="630468"/>
              <a:ext cx="852694" cy="852694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7707277" y="797544"/>
              <a:ext cx="461665" cy="7920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zh-CN" altLang="en-US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春天</a:t>
              </a:r>
            </a:p>
          </p:txBody>
        </p:sp>
        <p:pic>
          <p:nvPicPr>
            <p:cNvPr id="22" name="图片 21" descr="蓝色的鸟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26261" y="553773"/>
              <a:ext cx="1835352" cy="1529460"/>
            </a:xfrm>
            <a:prstGeom prst="rect">
              <a:avLst/>
            </a:prstGeom>
          </p:spPr>
        </p:pic>
        <p:pic>
          <p:nvPicPr>
            <p:cNvPr id="24" name="图片 23" descr="文本&#10;&#10;低可信度描述已自动生成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428390" y="32998"/>
              <a:ext cx="3562451" cy="1350946"/>
            </a:xfrm>
            <a:prstGeom prst="rect">
              <a:avLst/>
            </a:prstGeom>
          </p:spPr>
        </p:pic>
        <p:pic>
          <p:nvPicPr>
            <p:cNvPr id="25" name="图片 24" descr="文本&#10;&#10;低可信度描述已自动生成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454641" y="1762374"/>
              <a:ext cx="1827539" cy="1125973"/>
            </a:xfrm>
            <a:prstGeom prst="rect">
              <a:avLst/>
            </a:prstGeom>
          </p:spPr>
        </p:pic>
      </p:grpSp>
      <p:grpSp>
        <p:nvGrpSpPr>
          <p:cNvPr id="33" name="组合 32"/>
          <p:cNvGrpSpPr/>
          <p:nvPr/>
        </p:nvGrpSpPr>
        <p:grpSpPr>
          <a:xfrm>
            <a:off x="2801370" y="3820795"/>
            <a:ext cx="6732136" cy="512375"/>
            <a:chOff x="2557463" y="4355649"/>
            <a:chExt cx="6732136" cy="512375"/>
          </a:xfrm>
        </p:grpSpPr>
        <p:cxnSp>
          <p:nvCxnSpPr>
            <p:cNvPr id="30" name="直线连接符 29"/>
            <p:cNvCxnSpPr/>
            <p:nvPr/>
          </p:nvCxnSpPr>
          <p:spPr>
            <a:xfrm>
              <a:off x="2557463" y="4355649"/>
              <a:ext cx="6732136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2760092" y="4455665"/>
              <a:ext cx="6407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教师公开课｜示范课｜语文课件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cxnSp>
          <p:nvCxnSpPr>
            <p:cNvPr id="32" name="直线连接符 31"/>
            <p:cNvCxnSpPr/>
            <p:nvPr/>
          </p:nvCxnSpPr>
          <p:spPr>
            <a:xfrm>
              <a:off x="2557463" y="4868024"/>
              <a:ext cx="6732136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3852344" y="5166785"/>
            <a:ext cx="1950164" cy="408987"/>
            <a:chOff x="5107196" y="5250061"/>
            <a:chExt cx="1950164" cy="408987"/>
          </a:xfrm>
        </p:grpSpPr>
        <p:sp>
          <p:nvSpPr>
            <p:cNvPr id="34" name="圆角矩形 33"/>
            <p:cNvSpPr/>
            <p:nvPr/>
          </p:nvSpPr>
          <p:spPr>
            <a:xfrm>
              <a:off x="5107197" y="5250061"/>
              <a:ext cx="1950163" cy="401308"/>
            </a:xfrm>
            <a:prstGeom prst="roundRect">
              <a:avLst/>
            </a:prstGeom>
            <a:gradFill flip="none" rotWithShape="1">
              <a:gsLst>
                <a:gs pos="100000">
                  <a:srgbClr val="9ED4A8"/>
                </a:gs>
                <a:gs pos="31000">
                  <a:srgbClr val="2ABD94"/>
                </a:gs>
              </a:gsLst>
              <a:lin ang="2700000" scaled="1"/>
            </a:gradFill>
            <a:ln>
              <a:noFill/>
            </a:ln>
            <a:effectLst>
              <a:outerShdw blurRad="50800" dist="381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107196" y="5258938"/>
              <a:ext cx="195016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教师：第一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PPT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359512" y="5166785"/>
            <a:ext cx="1950163" cy="408987"/>
            <a:chOff x="5107197" y="5250061"/>
            <a:chExt cx="1950163" cy="408987"/>
          </a:xfrm>
        </p:grpSpPr>
        <p:sp>
          <p:nvSpPr>
            <p:cNvPr id="3" name="圆角矩形 2"/>
            <p:cNvSpPr/>
            <p:nvPr/>
          </p:nvSpPr>
          <p:spPr>
            <a:xfrm>
              <a:off x="5107197" y="5250061"/>
              <a:ext cx="1950163" cy="401308"/>
            </a:xfrm>
            <a:prstGeom prst="roundRect">
              <a:avLst/>
            </a:prstGeom>
            <a:gradFill flip="none" rotWithShape="1">
              <a:gsLst>
                <a:gs pos="100000">
                  <a:srgbClr val="9ED4A8"/>
                </a:gs>
                <a:gs pos="31000">
                  <a:srgbClr val="2ABD94"/>
                </a:gs>
              </a:gsLst>
              <a:lin ang="2700000" scaled="1"/>
            </a:gradFill>
            <a:ln>
              <a:noFill/>
            </a:ln>
            <a:effectLst>
              <a:outerShdw blurRad="50800" dist="381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259101" y="5258938"/>
              <a:ext cx="16737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时间：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202X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  <p:cond evt="onBegin" delay="0">
                          <p:tn val="9"/>
                        </p:cond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  <p:cond evt="onBegin" delay="0">
                          <p:tn val="16"/>
                        </p:cond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  <p:cond evt="onBegin" delay="0">
                          <p:tn val="2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  <p:cond evt="onBegin" delay="0">
                          <p:tn val="27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背景图案&#10;&#10;描述已自动生成"/>
          <p:cNvPicPr>
            <a:picLocks noChangeAspect="1"/>
          </p:cNvPicPr>
          <p:nvPr/>
        </p:nvPicPr>
        <p:blipFill>
          <a:blip r:embed="rId2" cstate="email">
            <a:alphaModFix amt="8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9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214414" cy="6858000"/>
          </a:xfrm>
          <a:prstGeom prst="rect">
            <a:avLst/>
          </a:prstGeom>
        </p:spPr>
      </p:pic>
      <p:grpSp>
        <p:nvGrpSpPr>
          <p:cNvPr id="11" name="组合 10"/>
          <p:cNvGrpSpPr/>
          <p:nvPr/>
        </p:nvGrpSpPr>
        <p:grpSpPr>
          <a:xfrm>
            <a:off x="-353499" y="203200"/>
            <a:ext cx="13160936" cy="6711952"/>
            <a:chOff x="1" y="728661"/>
            <a:chExt cx="12453937" cy="5667249"/>
          </a:xfrm>
        </p:grpSpPr>
        <p:pic>
          <p:nvPicPr>
            <p:cNvPr id="9" name="图片 8" descr="图片包含 正方形&#10;&#10;描述已自动生成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6200000">
              <a:off x="214376" y="514286"/>
              <a:ext cx="5667249" cy="6096000"/>
            </a:xfrm>
            <a:prstGeom prst="rect">
              <a:avLst/>
            </a:prstGeom>
          </p:spPr>
        </p:pic>
        <p:pic>
          <p:nvPicPr>
            <p:cNvPr id="10" name="图片 9" descr="图片包含 正方形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 rot="16200000">
              <a:off x="6441344" y="383317"/>
              <a:ext cx="5667249" cy="6357938"/>
            </a:xfrm>
            <a:prstGeom prst="rect">
              <a:avLst/>
            </a:prstGeom>
          </p:spPr>
        </p:pic>
      </p:grpSp>
      <p:sp>
        <p:nvSpPr>
          <p:cNvPr id="12" name="文本框 11"/>
          <p:cNvSpPr txBox="1"/>
          <p:nvPr/>
        </p:nvSpPr>
        <p:spPr>
          <a:xfrm>
            <a:off x="1334305" y="2247637"/>
            <a:ext cx="12466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8000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76000">
                      <a:srgbClr val="2A9E4E"/>
                    </a:gs>
                    <a:gs pos="0">
                      <a:srgbClr val="2ABD94"/>
                    </a:gs>
                  </a:gsLst>
                  <a:lin ang="7200000" scaled="0"/>
                </a:gradFill>
                <a:effectLst>
                  <a:outerShdw blurRad="68795" dist="38100" dir="2700000" algn="tl" rotWithShape="0">
                    <a:srgbClr val="104F27">
                      <a:alpha val="64896"/>
                    </a:srgbClr>
                  </a:outerShdw>
                </a:effectLst>
                <a:latin typeface="汉仪行楷简" panose="02010609000101010101" pitchFamily="49" charset="-122"/>
                <a:ea typeface="汉仪行楷简" panose="02010609000101010101" pitchFamily="49" charset="-122"/>
              </a:rPr>
              <a:t>目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1334305" y="3519225"/>
            <a:ext cx="124665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8000" b="1" dirty="0">
                <a:ln>
                  <a:solidFill>
                    <a:schemeClr val="bg1"/>
                  </a:solidFill>
                </a:ln>
                <a:gradFill flip="none" rotWithShape="1">
                  <a:gsLst>
                    <a:gs pos="76000">
                      <a:srgbClr val="2A9E4E"/>
                    </a:gs>
                    <a:gs pos="0">
                      <a:srgbClr val="2ABD94"/>
                    </a:gs>
                  </a:gsLst>
                  <a:lin ang="7200000" scaled="0"/>
                </a:gradFill>
                <a:effectLst>
                  <a:outerShdw blurRad="68795" dist="38100" dir="2700000" algn="tl" rotWithShape="0">
                    <a:srgbClr val="104F27">
                      <a:alpha val="64896"/>
                    </a:srgbClr>
                  </a:outerShdw>
                </a:effectLst>
                <a:latin typeface="汉仪行楷简" panose="02010609000101010101" pitchFamily="49" charset="-122"/>
                <a:ea typeface="汉仪行楷简" panose="02010609000101010101" pitchFamily="49" charset="-122"/>
              </a:rPr>
              <a:t>录</a:t>
            </a:r>
          </a:p>
        </p:txBody>
      </p:sp>
      <p:pic>
        <p:nvPicPr>
          <p:cNvPr id="15" name="图片 14" descr="红色的花&#10;&#10;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37273" y="-251221"/>
            <a:ext cx="2673618" cy="2673618"/>
          </a:xfrm>
          <a:prstGeom prst="rect">
            <a:avLst/>
          </a:prstGeom>
        </p:spPr>
      </p:pic>
      <p:pic>
        <p:nvPicPr>
          <p:cNvPr id="17" name="图片 16" descr="蓝色的鸟&#10;&#10;描述已自动生成"/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07273" y="4842664"/>
            <a:ext cx="2363641" cy="1969701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2816381" y="1779110"/>
            <a:ext cx="4216398" cy="595364"/>
            <a:chOff x="3303790" y="1579276"/>
            <a:chExt cx="4216398" cy="595364"/>
          </a:xfrm>
        </p:grpSpPr>
        <p:grpSp>
          <p:nvGrpSpPr>
            <p:cNvPr id="20" name="组合 19"/>
            <p:cNvGrpSpPr/>
            <p:nvPr/>
          </p:nvGrpSpPr>
          <p:grpSpPr>
            <a:xfrm>
              <a:off x="3303790" y="1579276"/>
              <a:ext cx="627450" cy="584774"/>
              <a:chOff x="3326551" y="1522126"/>
              <a:chExt cx="627450" cy="584774"/>
            </a:xfrm>
          </p:grpSpPr>
          <p:sp>
            <p:nvSpPr>
              <p:cNvPr id="18" name="椭圆 17"/>
              <p:cNvSpPr/>
              <p:nvPr/>
            </p:nvSpPr>
            <p:spPr>
              <a:xfrm>
                <a:off x="3326551" y="1522126"/>
                <a:ext cx="584774" cy="584774"/>
              </a:xfrm>
              <a:prstGeom prst="ellipse">
                <a:avLst/>
              </a:prstGeom>
              <a:gradFill>
                <a:gsLst>
                  <a:gs pos="97000">
                    <a:srgbClr val="2ABD94"/>
                  </a:gs>
                  <a:gs pos="0">
                    <a:srgbClr val="9ED4A8"/>
                  </a:gs>
                </a:gsLst>
                <a:lin ang="72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000" b="1"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  <p:sp>
            <p:nvSpPr>
              <p:cNvPr id="19" name="文本框 18"/>
              <p:cNvSpPr txBox="1"/>
              <p:nvPr/>
            </p:nvSpPr>
            <p:spPr>
              <a:xfrm>
                <a:off x="3332241" y="1594271"/>
                <a:ext cx="621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400" b="1">
                    <a:solidFill>
                      <a:schemeClr val="bg1"/>
                    </a:solidFill>
                    <a:latin typeface="思源黑体 CN Bold" panose="020B0800000000000000" pitchFamily="34" charset="-128"/>
                    <a:ea typeface="思源黑体 CN Bold" panose="020B0800000000000000" pitchFamily="34" charset="-128"/>
                  </a:rPr>
                  <a:t>01</a:t>
                </a:r>
                <a:endParaRPr kumimoji="1" lang="zh-CN" altLang="en-US" sz="2400" b="1">
                  <a:solidFill>
                    <a:schemeClr val="bg1"/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</p:grpSp>
        <p:sp>
          <p:nvSpPr>
            <p:cNvPr id="33" name="文本框 32"/>
            <p:cNvSpPr txBox="1"/>
            <p:nvPr/>
          </p:nvSpPr>
          <p:spPr>
            <a:xfrm>
              <a:off x="3962669" y="158986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n-ea"/>
                  <a:sym typeface="+mn-lt"/>
                </a:rPr>
                <a:t>最陶醉的江南词</a:t>
              </a:r>
            </a:p>
          </p:txBody>
        </p:sp>
      </p:grpSp>
      <p:grpSp>
        <p:nvGrpSpPr>
          <p:cNvPr id="89" name="组合 88"/>
          <p:cNvGrpSpPr/>
          <p:nvPr/>
        </p:nvGrpSpPr>
        <p:grpSpPr>
          <a:xfrm>
            <a:off x="2816381" y="2522811"/>
            <a:ext cx="4216398" cy="595364"/>
            <a:chOff x="3303790" y="1579276"/>
            <a:chExt cx="4216398" cy="595364"/>
          </a:xfrm>
        </p:grpSpPr>
        <p:grpSp>
          <p:nvGrpSpPr>
            <p:cNvPr id="90" name="组合 89"/>
            <p:cNvGrpSpPr/>
            <p:nvPr/>
          </p:nvGrpSpPr>
          <p:grpSpPr>
            <a:xfrm>
              <a:off x="3303790" y="1579276"/>
              <a:ext cx="627450" cy="584774"/>
              <a:chOff x="3326551" y="1522126"/>
              <a:chExt cx="627450" cy="584774"/>
            </a:xfrm>
          </p:grpSpPr>
          <p:sp>
            <p:nvSpPr>
              <p:cNvPr id="92" name="椭圆 91"/>
              <p:cNvSpPr/>
              <p:nvPr/>
            </p:nvSpPr>
            <p:spPr>
              <a:xfrm>
                <a:off x="3326551" y="1522126"/>
                <a:ext cx="584774" cy="584774"/>
              </a:xfrm>
              <a:prstGeom prst="ellipse">
                <a:avLst/>
              </a:prstGeom>
              <a:gradFill>
                <a:gsLst>
                  <a:gs pos="97000">
                    <a:srgbClr val="2ABD94"/>
                  </a:gs>
                  <a:gs pos="0">
                    <a:srgbClr val="9ED4A8"/>
                  </a:gs>
                </a:gsLst>
                <a:lin ang="72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000" b="1"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  <p:sp>
            <p:nvSpPr>
              <p:cNvPr id="93" name="文本框 92"/>
              <p:cNvSpPr txBox="1"/>
              <p:nvPr/>
            </p:nvSpPr>
            <p:spPr>
              <a:xfrm>
                <a:off x="3332241" y="1594271"/>
                <a:ext cx="621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400" b="1">
                    <a:solidFill>
                      <a:schemeClr val="bg1"/>
                    </a:solidFill>
                    <a:latin typeface="思源黑体 CN Bold" panose="020B0800000000000000" pitchFamily="34" charset="-128"/>
                    <a:ea typeface="思源黑体 CN Bold" panose="020B0800000000000000" pitchFamily="34" charset="-128"/>
                  </a:rPr>
                  <a:t>02</a:t>
                </a:r>
                <a:endParaRPr kumimoji="1" lang="zh-CN" altLang="en-US" sz="2400" b="1">
                  <a:solidFill>
                    <a:schemeClr val="bg1"/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</p:grpSp>
        <p:sp>
          <p:nvSpPr>
            <p:cNvPr id="91" name="文本框 90"/>
            <p:cNvSpPr txBox="1"/>
            <p:nvPr/>
          </p:nvSpPr>
          <p:spPr>
            <a:xfrm>
              <a:off x="3962669" y="158986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n-ea"/>
                  <a:sym typeface="+mn-lt"/>
                </a:rPr>
                <a:t>最活泼的春天诗</a:t>
              </a:r>
            </a:p>
          </p:txBody>
        </p:sp>
      </p:grpSp>
      <p:grpSp>
        <p:nvGrpSpPr>
          <p:cNvPr id="94" name="组合 93"/>
          <p:cNvGrpSpPr/>
          <p:nvPr/>
        </p:nvGrpSpPr>
        <p:grpSpPr>
          <a:xfrm>
            <a:off x="2816381" y="3266512"/>
            <a:ext cx="4216398" cy="595364"/>
            <a:chOff x="3303790" y="1579276"/>
            <a:chExt cx="4216398" cy="595364"/>
          </a:xfrm>
        </p:grpSpPr>
        <p:grpSp>
          <p:nvGrpSpPr>
            <p:cNvPr id="95" name="组合 94"/>
            <p:cNvGrpSpPr/>
            <p:nvPr/>
          </p:nvGrpSpPr>
          <p:grpSpPr>
            <a:xfrm>
              <a:off x="3303790" y="1579276"/>
              <a:ext cx="627450" cy="584774"/>
              <a:chOff x="3326551" y="1522126"/>
              <a:chExt cx="627450" cy="584774"/>
            </a:xfrm>
          </p:grpSpPr>
          <p:sp>
            <p:nvSpPr>
              <p:cNvPr id="97" name="椭圆 96"/>
              <p:cNvSpPr/>
              <p:nvPr/>
            </p:nvSpPr>
            <p:spPr>
              <a:xfrm>
                <a:off x="3326551" y="1522126"/>
                <a:ext cx="584774" cy="584774"/>
              </a:xfrm>
              <a:prstGeom prst="ellipse">
                <a:avLst/>
              </a:prstGeom>
              <a:gradFill>
                <a:gsLst>
                  <a:gs pos="97000">
                    <a:srgbClr val="2ABD94"/>
                  </a:gs>
                  <a:gs pos="0">
                    <a:srgbClr val="9ED4A8"/>
                  </a:gs>
                </a:gsLst>
                <a:lin ang="72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000" b="1"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  <p:sp>
            <p:nvSpPr>
              <p:cNvPr id="98" name="文本框 97"/>
              <p:cNvSpPr txBox="1"/>
              <p:nvPr/>
            </p:nvSpPr>
            <p:spPr>
              <a:xfrm>
                <a:off x="3332241" y="1594271"/>
                <a:ext cx="621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400" b="1">
                    <a:solidFill>
                      <a:schemeClr val="bg1"/>
                    </a:solidFill>
                    <a:latin typeface="思源黑体 CN Bold" panose="020B0800000000000000" pitchFamily="34" charset="-128"/>
                    <a:ea typeface="思源黑体 CN Bold" panose="020B0800000000000000" pitchFamily="34" charset="-128"/>
                  </a:rPr>
                  <a:t>03</a:t>
                </a:r>
                <a:endParaRPr kumimoji="1" lang="zh-CN" altLang="en-US" sz="2400" b="1">
                  <a:solidFill>
                    <a:schemeClr val="bg1"/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</p:grpSp>
        <p:sp>
          <p:nvSpPr>
            <p:cNvPr id="96" name="文本框 95"/>
            <p:cNvSpPr txBox="1"/>
            <p:nvPr/>
          </p:nvSpPr>
          <p:spPr>
            <a:xfrm>
              <a:off x="3962669" y="158986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n-ea"/>
                  <a:sym typeface="+mn-lt"/>
                </a:rPr>
                <a:t>最欣喜的春天诗</a:t>
              </a:r>
            </a:p>
          </p:txBody>
        </p:sp>
      </p:grpSp>
      <p:grpSp>
        <p:nvGrpSpPr>
          <p:cNvPr id="99" name="组合 98"/>
          <p:cNvGrpSpPr/>
          <p:nvPr/>
        </p:nvGrpSpPr>
        <p:grpSpPr>
          <a:xfrm>
            <a:off x="2816381" y="4010213"/>
            <a:ext cx="4216398" cy="595364"/>
            <a:chOff x="3303790" y="1579276"/>
            <a:chExt cx="4216398" cy="595364"/>
          </a:xfrm>
        </p:grpSpPr>
        <p:grpSp>
          <p:nvGrpSpPr>
            <p:cNvPr id="100" name="组合 99"/>
            <p:cNvGrpSpPr/>
            <p:nvPr/>
          </p:nvGrpSpPr>
          <p:grpSpPr>
            <a:xfrm>
              <a:off x="3303790" y="1579276"/>
              <a:ext cx="627450" cy="584774"/>
              <a:chOff x="3326551" y="1522126"/>
              <a:chExt cx="627450" cy="584774"/>
            </a:xfrm>
          </p:grpSpPr>
          <p:sp>
            <p:nvSpPr>
              <p:cNvPr id="102" name="椭圆 101"/>
              <p:cNvSpPr/>
              <p:nvPr/>
            </p:nvSpPr>
            <p:spPr>
              <a:xfrm>
                <a:off x="3326551" y="1522126"/>
                <a:ext cx="584774" cy="584774"/>
              </a:xfrm>
              <a:prstGeom prst="ellipse">
                <a:avLst/>
              </a:prstGeom>
              <a:gradFill>
                <a:gsLst>
                  <a:gs pos="97000">
                    <a:srgbClr val="2ABD94"/>
                  </a:gs>
                  <a:gs pos="0">
                    <a:srgbClr val="9ED4A8"/>
                  </a:gs>
                </a:gsLst>
                <a:lin ang="72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000" b="1"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  <p:sp>
            <p:nvSpPr>
              <p:cNvPr id="103" name="文本框 102"/>
              <p:cNvSpPr txBox="1"/>
              <p:nvPr/>
            </p:nvSpPr>
            <p:spPr>
              <a:xfrm>
                <a:off x="3332241" y="1594271"/>
                <a:ext cx="621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400" b="1">
                    <a:solidFill>
                      <a:schemeClr val="bg1"/>
                    </a:solidFill>
                    <a:latin typeface="思源黑体 CN Bold" panose="020B0800000000000000" pitchFamily="34" charset="-128"/>
                    <a:ea typeface="思源黑体 CN Bold" panose="020B0800000000000000" pitchFamily="34" charset="-128"/>
                  </a:rPr>
                  <a:t>04</a:t>
                </a:r>
                <a:endParaRPr kumimoji="1" lang="zh-CN" altLang="en-US" sz="2400" b="1">
                  <a:solidFill>
                    <a:schemeClr val="bg1"/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</p:grpSp>
        <p:sp>
          <p:nvSpPr>
            <p:cNvPr id="101" name="文本框 100"/>
            <p:cNvSpPr txBox="1"/>
            <p:nvPr/>
          </p:nvSpPr>
          <p:spPr>
            <a:xfrm>
              <a:off x="3962669" y="158986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n-ea"/>
                  <a:sym typeface="+mn-lt"/>
                </a:rPr>
                <a:t>最如诗如画的春天</a:t>
              </a:r>
            </a:p>
          </p:txBody>
        </p:sp>
      </p:grpSp>
      <p:grpSp>
        <p:nvGrpSpPr>
          <p:cNvPr id="104" name="组合 103"/>
          <p:cNvGrpSpPr/>
          <p:nvPr/>
        </p:nvGrpSpPr>
        <p:grpSpPr>
          <a:xfrm>
            <a:off x="2816381" y="4753914"/>
            <a:ext cx="4216398" cy="595364"/>
            <a:chOff x="3303790" y="1579276"/>
            <a:chExt cx="4216398" cy="595364"/>
          </a:xfrm>
        </p:grpSpPr>
        <p:grpSp>
          <p:nvGrpSpPr>
            <p:cNvPr id="105" name="组合 104"/>
            <p:cNvGrpSpPr/>
            <p:nvPr/>
          </p:nvGrpSpPr>
          <p:grpSpPr>
            <a:xfrm>
              <a:off x="3303790" y="1579276"/>
              <a:ext cx="627450" cy="584774"/>
              <a:chOff x="3326551" y="1522126"/>
              <a:chExt cx="627450" cy="584774"/>
            </a:xfrm>
          </p:grpSpPr>
          <p:sp>
            <p:nvSpPr>
              <p:cNvPr id="107" name="椭圆 106"/>
              <p:cNvSpPr/>
              <p:nvPr/>
            </p:nvSpPr>
            <p:spPr>
              <a:xfrm>
                <a:off x="3326551" y="1522126"/>
                <a:ext cx="584774" cy="584774"/>
              </a:xfrm>
              <a:prstGeom prst="ellipse">
                <a:avLst/>
              </a:prstGeom>
              <a:gradFill>
                <a:gsLst>
                  <a:gs pos="97000">
                    <a:srgbClr val="2ABD94"/>
                  </a:gs>
                  <a:gs pos="0">
                    <a:srgbClr val="9ED4A8"/>
                  </a:gs>
                </a:gsLst>
                <a:lin ang="72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000" b="1"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  <p:sp>
            <p:nvSpPr>
              <p:cNvPr id="108" name="文本框 107"/>
              <p:cNvSpPr txBox="1"/>
              <p:nvPr/>
            </p:nvSpPr>
            <p:spPr>
              <a:xfrm>
                <a:off x="3332241" y="1594271"/>
                <a:ext cx="621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400" b="1">
                    <a:solidFill>
                      <a:schemeClr val="bg1"/>
                    </a:solidFill>
                    <a:latin typeface="思源黑体 CN Bold" panose="020B0800000000000000" pitchFamily="34" charset="-128"/>
                    <a:ea typeface="思源黑体 CN Bold" panose="020B0800000000000000" pitchFamily="34" charset="-128"/>
                  </a:rPr>
                  <a:t>05</a:t>
                </a:r>
                <a:endParaRPr kumimoji="1" lang="zh-CN" altLang="en-US" sz="2400" b="1">
                  <a:solidFill>
                    <a:schemeClr val="bg1"/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</p:grpSp>
        <p:sp>
          <p:nvSpPr>
            <p:cNvPr id="106" name="文本框 105"/>
            <p:cNvSpPr txBox="1"/>
            <p:nvPr/>
          </p:nvSpPr>
          <p:spPr>
            <a:xfrm>
              <a:off x="3962669" y="158986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n-ea"/>
                  <a:sym typeface="+mn-lt"/>
                </a:rPr>
                <a:t>最有活力的春日诗</a:t>
              </a:r>
            </a:p>
          </p:txBody>
        </p:sp>
      </p:grpSp>
      <p:grpSp>
        <p:nvGrpSpPr>
          <p:cNvPr id="109" name="组合 108"/>
          <p:cNvGrpSpPr/>
          <p:nvPr/>
        </p:nvGrpSpPr>
        <p:grpSpPr>
          <a:xfrm>
            <a:off x="7064208" y="1779110"/>
            <a:ext cx="4216398" cy="595364"/>
            <a:chOff x="3303790" y="1579276"/>
            <a:chExt cx="4216398" cy="595364"/>
          </a:xfrm>
        </p:grpSpPr>
        <p:grpSp>
          <p:nvGrpSpPr>
            <p:cNvPr id="110" name="组合 109"/>
            <p:cNvGrpSpPr/>
            <p:nvPr/>
          </p:nvGrpSpPr>
          <p:grpSpPr>
            <a:xfrm>
              <a:off x="3303790" y="1579276"/>
              <a:ext cx="627450" cy="584774"/>
              <a:chOff x="3326551" y="1522126"/>
              <a:chExt cx="627450" cy="584774"/>
            </a:xfrm>
          </p:grpSpPr>
          <p:sp>
            <p:nvSpPr>
              <p:cNvPr id="112" name="椭圆 111"/>
              <p:cNvSpPr/>
              <p:nvPr/>
            </p:nvSpPr>
            <p:spPr>
              <a:xfrm>
                <a:off x="3326551" y="1522126"/>
                <a:ext cx="584774" cy="584774"/>
              </a:xfrm>
              <a:prstGeom prst="ellipse">
                <a:avLst/>
              </a:prstGeom>
              <a:gradFill>
                <a:gsLst>
                  <a:gs pos="97000">
                    <a:srgbClr val="2ABD94"/>
                  </a:gs>
                  <a:gs pos="0">
                    <a:srgbClr val="9ED4A8"/>
                  </a:gs>
                </a:gsLst>
                <a:lin ang="72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000" b="1"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  <p:sp>
            <p:nvSpPr>
              <p:cNvPr id="113" name="文本框 112"/>
              <p:cNvSpPr txBox="1"/>
              <p:nvPr/>
            </p:nvSpPr>
            <p:spPr>
              <a:xfrm>
                <a:off x="3332241" y="1594271"/>
                <a:ext cx="621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400" b="1">
                    <a:solidFill>
                      <a:schemeClr val="bg1"/>
                    </a:solidFill>
                    <a:latin typeface="思源黑体 CN Bold" panose="020B0800000000000000" pitchFamily="34" charset="-128"/>
                    <a:ea typeface="思源黑体 CN Bold" panose="020B0800000000000000" pitchFamily="34" charset="-128"/>
                  </a:rPr>
                  <a:t>06</a:t>
                </a:r>
                <a:endParaRPr kumimoji="1" lang="zh-CN" altLang="en-US" sz="2400" b="1">
                  <a:solidFill>
                    <a:schemeClr val="bg1"/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</p:grpSp>
        <p:sp>
          <p:nvSpPr>
            <p:cNvPr id="111" name="文本框 110"/>
            <p:cNvSpPr txBox="1"/>
            <p:nvPr/>
          </p:nvSpPr>
          <p:spPr>
            <a:xfrm>
              <a:off x="3962669" y="158986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n-ea"/>
                  <a:sym typeface="+mn-lt"/>
                </a:rPr>
                <a:t>最动人的春日诗</a:t>
              </a: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7064208" y="2522811"/>
            <a:ext cx="4216398" cy="595364"/>
            <a:chOff x="3303790" y="1579276"/>
            <a:chExt cx="4216398" cy="595364"/>
          </a:xfrm>
        </p:grpSpPr>
        <p:grpSp>
          <p:nvGrpSpPr>
            <p:cNvPr id="115" name="组合 114"/>
            <p:cNvGrpSpPr/>
            <p:nvPr/>
          </p:nvGrpSpPr>
          <p:grpSpPr>
            <a:xfrm>
              <a:off x="3303790" y="1579276"/>
              <a:ext cx="627450" cy="584774"/>
              <a:chOff x="3326551" y="1522126"/>
              <a:chExt cx="627450" cy="584774"/>
            </a:xfrm>
          </p:grpSpPr>
          <p:sp>
            <p:nvSpPr>
              <p:cNvPr id="117" name="椭圆 116"/>
              <p:cNvSpPr/>
              <p:nvPr/>
            </p:nvSpPr>
            <p:spPr>
              <a:xfrm>
                <a:off x="3326551" y="1522126"/>
                <a:ext cx="584774" cy="584774"/>
              </a:xfrm>
              <a:prstGeom prst="ellipse">
                <a:avLst/>
              </a:prstGeom>
              <a:gradFill>
                <a:gsLst>
                  <a:gs pos="97000">
                    <a:srgbClr val="2ABD94"/>
                  </a:gs>
                  <a:gs pos="0">
                    <a:srgbClr val="9ED4A8"/>
                  </a:gs>
                </a:gsLst>
                <a:lin ang="72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000" b="1"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  <p:sp>
            <p:nvSpPr>
              <p:cNvPr id="118" name="文本框 117"/>
              <p:cNvSpPr txBox="1"/>
              <p:nvPr/>
            </p:nvSpPr>
            <p:spPr>
              <a:xfrm>
                <a:off x="3332241" y="1594271"/>
                <a:ext cx="621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400" b="1">
                    <a:solidFill>
                      <a:schemeClr val="bg1"/>
                    </a:solidFill>
                    <a:latin typeface="思源黑体 CN Bold" panose="020B0800000000000000" pitchFamily="34" charset="-128"/>
                    <a:ea typeface="思源黑体 CN Bold" panose="020B0800000000000000" pitchFamily="34" charset="-128"/>
                  </a:rPr>
                  <a:t>07</a:t>
                </a:r>
                <a:endParaRPr kumimoji="1" lang="zh-CN" altLang="en-US" sz="2400" b="1">
                  <a:solidFill>
                    <a:schemeClr val="bg1"/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</p:grpSp>
        <p:sp>
          <p:nvSpPr>
            <p:cNvPr id="116" name="文本框 115"/>
            <p:cNvSpPr txBox="1"/>
            <p:nvPr/>
          </p:nvSpPr>
          <p:spPr>
            <a:xfrm>
              <a:off x="3962669" y="158986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n-ea"/>
                  <a:sym typeface="+mn-lt"/>
                </a:rPr>
                <a:t>最迷人的春日词</a:t>
              </a:r>
            </a:p>
          </p:txBody>
        </p:sp>
      </p:grpSp>
      <p:grpSp>
        <p:nvGrpSpPr>
          <p:cNvPr id="119" name="组合 118"/>
          <p:cNvGrpSpPr/>
          <p:nvPr/>
        </p:nvGrpSpPr>
        <p:grpSpPr>
          <a:xfrm>
            <a:off x="7064208" y="3266512"/>
            <a:ext cx="4216398" cy="595364"/>
            <a:chOff x="3303790" y="1579276"/>
            <a:chExt cx="4216398" cy="595364"/>
          </a:xfrm>
        </p:grpSpPr>
        <p:grpSp>
          <p:nvGrpSpPr>
            <p:cNvPr id="120" name="组合 119"/>
            <p:cNvGrpSpPr/>
            <p:nvPr/>
          </p:nvGrpSpPr>
          <p:grpSpPr>
            <a:xfrm>
              <a:off x="3303790" y="1579276"/>
              <a:ext cx="627450" cy="584774"/>
              <a:chOff x="3326551" y="1522126"/>
              <a:chExt cx="627450" cy="584774"/>
            </a:xfrm>
          </p:grpSpPr>
          <p:sp>
            <p:nvSpPr>
              <p:cNvPr id="122" name="椭圆 121"/>
              <p:cNvSpPr/>
              <p:nvPr/>
            </p:nvSpPr>
            <p:spPr>
              <a:xfrm>
                <a:off x="3326551" y="1522126"/>
                <a:ext cx="584774" cy="584774"/>
              </a:xfrm>
              <a:prstGeom prst="ellipse">
                <a:avLst/>
              </a:prstGeom>
              <a:gradFill>
                <a:gsLst>
                  <a:gs pos="97000">
                    <a:srgbClr val="2ABD94"/>
                  </a:gs>
                  <a:gs pos="0">
                    <a:srgbClr val="9ED4A8"/>
                  </a:gs>
                </a:gsLst>
                <a:lin ang="72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000" b="1"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  <p:sp>
            <p:nvSpPr>
              <p:cNvPr id="123" name="文本框 122"/>
              <p:cNvSpPr txBox="1"/>
              <p:nvPr/>
            </p:nvSpPr>
            <p:spPr>
              <a:xfrm>
                <a:off x="3332241" y="1594271"/>
                <a:ext cx="621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400" b="1">
                    <a:solidFill>
                      <a:schemeClr val="bg1"/>
                    </a:solidFill>
                    <a:latin typeface="思源黑体 CN Bold" panose="020B0800000000000000" pitchFamily="34" charset="-128"/>
                    <a:ea typeface="思源黑体 CN Bold" panose="020B0800000000000000" pitchFamily="34" charset="-128"/>
                  </a:rPr>
                  <a:t>08</a:t>
                </a:r>
                <a:endParaRPr kumimoji="1" lang="zh-CN" altLang="en-US" sz="2400" b="1">
                  <a:solidFill>
                    <a:schemeClr val="bg1"/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</p:grpSp>
        <p:sp>
          <p:nvSpPr>
            <p:cNvPr id="121" name="文本框 120"/>
            <p:cNvSpPr txBox="1"/>
            <p:nvPr/>
          </p:nvSpPr>
          <p:spPr>
            <a:xfrm>
              <a:off x="3962669" y="158986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n-ea"/>
                  <a:sym typeface="+mn-lt"/>
                </a:rPr>
                <a:t>最欢快的春日词</a:t>
              </a:r>
            </a:p>
          </p:txBody>
        </p:sp>
      </p:grpSp>
      <p:grpSp>
        <p:nvGrpSpPr>
          <p:cNvPr id="124" name="组合 123"/>
          <p:cNvGrpSpPr/>
          <p:nvPr/>
        </p:nvGrpSpPr>
        <p:grpSpPr>
          <a:xfrm>
            <a:off x="7064208" y="4010213"/>
            <a:ext cx="4216398" cy="595364"/>
            <a:chOff x="3303790" y="1579276"/>
            <a:chExt cx="4216398" cy="595364"/>
          </a:xfrm>
        </p:grpSpPr>
        <p:grpSp>
          <p:nvGrpSpPr>
            <p:cNvPr id="125" name="组合 124"/>
            <p:cNvGrpSpPr/>
            <p:nvPr/>
          </p:nvGrpSpPr>
          <p:grpSpPr>
            <a:xfrm>
              <a:off x="3303790" y="1579276"/>
              <a:ext cx="627450" cy="584774"/>
              <a:chOff x="3326551" y="1522126"/>
              <a:chExt cx="627450" cy="584774"/>
            </a:xfrm>
          </p:grpSpPr>
          <p:sp>
            <p:nvSpPr>
              <p:cNvPr id="127" name="椭圆 126"/>
              <p:cNvSpPr/>
              <p:nvPr/>
            </p:nvSpPr>
            <p:spPr>
              <a:xfrm>
                <a:off x="3326551" y="1522126"/>
                <a:ext cx="584774" cy="584774"/>
              </a:xfrm>
              <a:prstGeom prst="ellipse">
                <a:avLst/>
              </a:prstGeom>
              <a:gradFill>
                <a:gsLst>
                  <a:gs pos="97000">
                    <a:srgbClr val="2ABD94"/>
                  </a:gs>
                  <a:gs pos="0">
                    <a:srgbClr val="9ED4A8"/>
                  </a:gs>
                </a:gsLst>
                <a:lin ang="72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000" b="1"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  <p:sp>
            <p:nvSpPr>
              <p:cNvPr id="128" name="文本框 127"/>
              <p:cNvSpPr txBox="1"/>
              <p:nvPr/>
            </p:nvSpPr>
            <p:spPr>
              <a:xfrm>
                <a:off x="3332241" y="1594271"/>
                <a:ext cx="621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400" b="1">
                    <a:solidFill>
                      <a:schemeClr val="bg1"/>
                    </a:solidFill>
                    <a:latin typeface="思源黑体 CN Bold" panose="020B0800000000000000" pitchFamily="34" charset="-128"/>
                    <a:ea typeface="思源黑体 CN Bold" panose="020B0800000000000000" pitchFamily="34" charset="-128"/>
                  </a:rPr>
                  <a:t>09</a:t>
                </a:r>
                <a:endParaRPr kumimoji="1" lang="zh-CN" altLang="en-US" sz="2400" b="1">
                  <a:solidFill>
                    <a:schemeClr val="bg1"/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</p:grpSp>
        <p:sp>
          <p:nvSpPr>
            <p:cNvPr id="126" name="文本框 125"/>
            <p:cNvSpPr txBox="1"/>
            <p:nvPr/>
          </p:nvSpPr>
          <p:spPr>
            <a:xfrm>
              <a:off x="3962669" y="158986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n-ea"/>
                  <a:sym typeface="+mn-lt"/>
                </a:rPr>
                <a:t>最明秀的春日词</a:t>
              </a:r>
            </a:p>
          </p:txBody>
        </p:sp>
      </p:grpSp>
      <p:grpSp>
        <p:nvGrpSpPr>
          <p:cNvPr id="129" name="组合 128"/>
          <p:cNvGrpSpPr/>
          <p:nvPr/>
        </p:nvGrpSpPr>
        <p:grpSpPr>
          <a:xfrm>
            <a:off x="7064208" y="4753914"/>
            <a:ext cx="4216398" cy="595364"/>
            <a:chOff x="3303790" y="1579276"/>
            <a:chExt cx="4216398" cy="595364"/>
          </a:xfrm>
        </p:grpSpPr>
        <p:grpSp>
          <p:nvGrpSpPr>
            <p:cNvPr id="130" name="组合 129"/>
            <p:cNvGrpSpPr/>
            <p:nvPr/>
          </p:nvGrpSpPr>
          <p:grpSpPr>
            <a:xfrm>
              <a:off x="3303790" y="1579276"/>
              <a:ext cx="627450" cy="584774"/>
              <a:chOff x="3326551" y="1522126"/>
              <a:chExt cx="627450" cy="584774"/>
            </a:xfrm>
          </p:grpSpPr>
          <p:sp>
            <p:nvSpPr>
              <p:cNvPr id="132" name="椭圆 131"/>
              <p:cNvSpPr/>
              <p:nvPr/>
            </p:nvSpPr>
            <p:spPr>
              <a:xfrm>
                <a:off x="3326551" y="1522126"/>
                <a:ext cx="584774" cy="584774"/>
              </a:xfrm>
              <a:prstGeom prst="ellipse">
                <a:avLst/>
              </a:prstGeom>
              <a:gradFill>
                <a:gsLst>
                  <a:gs pos="97000">
                    <a:srgbClr val="2ABD94"/>
                  </a:gs>
                  <a:gs pos="0">
                    <a:srgbClr val="9ED4A8"/>
                  </a:gs>
                </a:gsLst>
                <a:lin ang="7200000" scaled="0"/>
              </a:gra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2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 sz="2000" b="1"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  <p:sp>
            <p:nvSpPr>
              <p:cNvPr id="133" name="文本框 132"/>
              <p:cNvSpPr txBox="1"/>
              <p:nvPr/>
            </p:nvSpPr>
            <p:spPr>
              <a:xfrm>
                <a:off x="3332241" y="1594271"/>
                <a:ext cx="62176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zh-CN" sz="2400" b="1">
                    <a:solidFill>
                      <a:schemeClr val="bg1"/>
                    </a:solidFill>
                    <a:latin typeface="思源黑体 CN Bold" panose="020B0800000000000000" pitchFamily="34" charset="-128"/>
                    <a:ea typeface="思源黑体 CN Bold" panose="020B0800000000000000" pitchFamily="34" charset="-128"/>
                  </a:rPr>
                  <a:t>10</a:t>
                </a:r>
                <a:endParaRPr kumimoji="1" lang="zh-CN" altLang="en-US" sz="2400" b="1">
                  <a:solidFill>
                    <a:schemeClr val="bg1"/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</a:endParaRPr>
              </a:p>
            </p:txBody>
          </p:sp>
        </p:grpSp>
        <p:sp>
          <p:nvSpPr>
            <p:cNvPr id="131" name="文本框 130"/>
            <p:cNvSpPr txBox="1"/>
            <p:nvPr/>
          </p:nvSpPr>
          <p:spPr>
            <a:xfrm>
              <a:off x="3962669" y="158986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b="1">
                  <a:solidFill>
                    <a:schemeClr val="tx1">
                      <a:lumMod val="85000"/>
                      <a:lumOff val="15000"/>
                    </a:schemeClr>
                  </a:solidFill>
                  <a:latin typeface="思源黑体 CN Bold" panose="020B0800000000000000" pitchFamily="34" charset="-128"/>
                  <a:ea typeface="思源黑体 CN Bold" panose="020B0800000000000000" pitchFamily="34" charset="-128"/>
                  <a:cs typeface="+mn-ea"/>
                  <a:sym typeface="+mn-lt"/>
                </a:rPr>
                <a:t>最治愈的春日词</a:t>
              </a:r>
            </a:p>
          </p:txBody>
        </p:sp>
      </p:grpSp>
      <p:pic>
        <p:nvPicPr>
          <p:cNvPr id="135" name="图片 134" descr="图片包含 背景图案&#10;&#10;描述已自动生成"/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8679" y="4667904"/>
            <a:ext cx="1214679" cy="1214679"/>
          </a:xfrm>
          <a:prstGeom prst="rect">
            <a:avLst/>
          </a:prstGeom>
        </p:spPr>
      </p:pic>
    </p:spTree>
  </p:cSld>
  <p:clrMapOvr>
    <a:masterClrMapping/>
  </p:clrMapOvr>
  <p:transition spd="slow" advTm="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桌子, 蛋糕, 华美&#10;&#10;描述已自动生成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84"/>
          <a:stretch>
            <a:fillRect/>
          </a:stretch>
        </p:blipFill>
        <p:spPr>
          <a:xfrm>
            <a:off x="-22411" y="0"/>
            <a:ext cx="1223682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08114" y="2300956"/>
            <a:ext cx="83620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ln w="3175">
                  <a:noFill/>
                </a:ln>
                <a:gradFill>
                  <a:gsLst>
                    <a:gs pos="100000">
                      <a:srgbClr val="016D59"/>
                    </a:gs>
                    <a:gs pos="0">
                      <a:srgbClr val="104F27"/>
                    </a:gs>
                  </a:gsLst>
                  <a:lin ang="7200000" scaled="0"/>
                </a:gradFill>
                <a:effectLst>
                  <a:outerShdw dist="38100" dir="18900000" algn="bl" rotWithShape="0">
                    <a:schemeClr val="bg1"/>
                  </a:outerShdw>
                </a:effectLst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rPr>
              <a:t>最陶醉的江南词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286969" y="3852652"/>
            <a:ext cx="6984791" cy="428035"/>
            <a:chOff x="3322234" y="3619024"/>
            <a:chExt cx="6984791" cy="428035"/>
          </a:xfrm>
        </p:grpSpPr>
        <p:sp>
          <p:nvSpPr>
            <p:cNvPr id="5" name="文本框 4"/>
            <p:cNvSpPr txBox="1"/>
            <p:nvPr/>
          </p:nvSpPr>
          <p:spPr>
            <a:xfrm>
              <a:off x="3509266" y="3635649"/>
              <a:ext cx="67977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写尽人间春色，共赴春日盛宴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cxnSp>
          <p:nvCxnSpPr>
            <p:cNvPr id="6" name="直线连接符 5"/>
            <p:cNvCxnSpPr/>
            <p:nvPr/>
          </p:nvCxnSpPr>
          <p:spPr>
            <a:xfrm>
              <a:off x="3322234" y="3619024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/>
          </p:nvCxnSpPr>
          <p:spPr>
            <a:xfrm>
              <a:off x="3322234" y="4047059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3108114" y="1305645"/>
            <a:ext cx="2967074" cy="943656"/>
            <a:chOff x="5199301" y="1144010"/>
            <a:chExt cx="2967074" cy="943656"/>
          </a:xfrm>
        </p:grpSpPr>
        <p:pic>
          <p:nvPicPr>
            <p:cNvPr id="10" name="图片 9" descr="图片包含 游戏机, 灯光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483"/>
            <a:stretch>
              <a:fillRect/>
            </a:stretch>
          </p:blipFill>
          <p:spPr>
            <a:xfrm>
              <a:off x="5199301" y="1144010"/>
              <a:ext cx="2967074" cy="943656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5750143" y="1432408"/>
              <a:ext cx="18297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第一章节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286968" y="4560724"/>
            <a:ext cx="776203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春天的象征是什么：桃花盛开，柳条垂拂。桃花盛开，垂柳依依，江南的春色很美。雨过天晴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split orient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包含 形状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19223" y="1474331"/>
            <a:ext cx="6030480" cy="430974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251169" y="1947523"/>
            <a:ext cx="3766589" cy="336335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《诉衷情·小桃灼灼柳鬖鬖》</a:t>
            </a:r>
            <a:endParaRPr lang="en-US" altLang="zh-CN" sz="2000" b="1" dirty="0">
              <a:solidFill>
                <a:srgbClr val="104F2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宋·黄庭坚</a:t>
            </a:r>
          </a:p>
          <a:p>
            <a:pPr algn="ctr">
              <a:lnSpc>
                <a:spcPct val="130000"/>
              </a:lnSpc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小桃灼灼柳鬖鬖，春色满江南。</a:t>
            </a: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雨晴风暖烟淡，天气正醺酣。</a:t>
            </a: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山泼黛，水挼蓝，翠相搀。</a:t>
            </a: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歌楼酒旆，故故招人，权典青衫。</a:t>
            </a:r>
          </a:p>
        </p:txBody>
      </p:sp>
      <p:grpSp>
        <p:nvGrpSpPr>
          <p:cNvPr id="8" name="组合 7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2" name="图片 1" descr="图片包含 背景图案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最陶醉的江南词</a:t>
              </a:r>
            </a:p>
          </p:txBody>
        </p:sp>
      </p:grpSp>
      <p:pic>
        <p:nvPicPr>
          <p:cNvPr id="12" name="图片 11" descr="人穿着裙子&#10;&#10;中度可信度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0010" y="1558638"/>
            <a:ext cx="4141126" cy="414112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4609052" y="1863940"/>
            <a:ext cx="6230743" cy="701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春天的象征是什么：桃花盛开，柳条垂拂。桃花盛开，垂柳依依，江南的春色很美。雨过天晴，春风温暖烟霭淡淡，让人陶醉。</a:t>
            </a:r>
          </a:p>
        </p:txBody>
      </p:sp>
      <p:sp>
        <p:nvSpPr>
          <p:cNvPr id="17" name="文本框 16"/>
          <p:cNvSpPr txBox="1"/>
          <p:nvPr/>
        </p:nvSpPr>
        <p:spPr>
          <a:xfrm>
            <a:off x="4609052" y="3316692"/>
            <a:ext cx="6230743" cy="7013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山峦黛绿，水波湛蓝，绿水与青山相互映衬着。歌楼酒旗飘动，招人前去。姑且把青衫典当了换酒吧。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4609052" y="4597656"/>
            <a:ext cx="6230744" cy="1021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黄庭坚这首小令，短短的四十四个字，江南春景层层叙写，逐步展现。桃柳、天气、山水、“歌楼酒旆”到结语，层层勾勒，上下呼应，脉理分明，语言沉着有力，意境风神曳，情景兼备，堪称佳作。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4" name="图片 3" descr="图片包含 背景图案&#10;&#10;描述已自动生成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最陶醉的江南词</a:t>
              </a: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609052" y="2695615"/>
            <a:ext cx="6144329" cy="380151"/>
            <a:chOff x="1500092" y="2861869"/>
            <a:chExt cx="6144329" cy="380151"/>
          </a:xfrm>
        </p:grpSpPr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00092" y="2861869"/>
              <a:ext cx="3096842" cy="380151"/>
            </a:xfrm>
            <a:prstGeom prst="rect">
              <a:avLst/>
            </a:prstGeom>
          </p:spPr>
        </p:pic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47579" y="2861869"/>
              <a:ext cx="3096842" cy="380151"/>
            </a:xfrm>
            <a:prstGeom prst="rect">
              <a:avLst/>
            </a:prstGeom>
          </p:spPr>
        </p:pic>
      </p:grpSp>
      <p:grpSp>
        <p:nvGrpSpPr>
          <p:cNvPr id="23" name="组合 22"/>
          <p:cNvGrpSpPr/>
          <p:nvPr/>
        </p:nvGrpSpPr>
        <p:grpSpPr>
          <a:xfrm>
            <a:off x="4609052" y="4116434"/>
            <a:ext cx="6144329" cy="380151"/>
            <a:chOff x="1500092" y="2861869"/>
            <a:chExt cx="6144329" cy="380151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500092" y="2861869"/>
              <a:ext cx="3096842" cy="380151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547579" y="2861869"/>
              <a:ext cx="3096842" cy="380151"/>
            </a:xfrm>
            <a:prstGeom prst="rect">
              <a:avLst/>
            </a:prstGeom>
          </p:spPr>
        </p:pic>
      </p:grpSp>
      <p:pic>
        <p:nvPicPr>
          <p:cNvPr id="27" name="图片 26" descr="图片包含 建筑, 桌子, 照片, 街道&#10;&#10;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8763" y="1682767"/>
            <a:ext cx="3954517" cy="395451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7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桌子, 蛋糕, 华美&#10;&#10;描述已自动生成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84"/>
          <a:stretch>
            <a:fillRect/>
          </a:stretch>
        </p:blipFill>
        <p:spPr>
          <a:xfrm>
            <a:off x="-22411" y="0"/>
            <a:ext cx="1223682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08114" y="2300956"/>
            <a:ext cx="83620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ln w="3175">
                  <a:noFill/>
                </a:ln>
                <a:gradFill>
                  <a:gsLst>
                    <a:gs pos="100000">
                      <a:srgbClr val="016D59"/>
                    </a:gs>
                    <a:gs pos="0">
                      <a:srgbClr val="104F27"/>
                    </a:gs>
                  </a:gsLst>
                  <a:lin ang="7200000" scaled="0"/>
                </a:gradFill>
                <a:effectLst>
                  <a:outerShdw dist="38100" dir="18900000" algn="bl" rotWithShape="0">
                    <a:schemeClr val="bg1"/>
                  </a:outerShdw>
                </a:effectLst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rPr>
              <a:t>最活泼的春天诗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286969" y="3852652"/>
            <a:ext cx="6984791" cy="428035"/>
            <a:chOff x="3322234" y="3619024"/>
            <a:chExt cx="6984791" cy="428035"/>
          </a:xfrm>
        </p:grpSpPr>
        <p:sp>
          <p:nvSpPr>
            <p:cNvPr id="5" name="文本框 4"/>
            <p:cNvSpPr txBox="1"/>
            <p:nvPr/>
          </p:nvSpPr>
          <p:spPr>
            <a:xfrm>
              <a:off x="3509266" y="3635649"/>
              <a:ext cx="67977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写尽人间春色，共赴春日盛宴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cxnSp>
          <p:nvCxnSpPr>
            <p:cNvPr id="6" name="直线连接符 5"/>
            <p:cNvCxnSpPr/>
            <p:nvPr/>
          </p:nvCxnSpPr>
          <p:spPr>
            <a:xfrm>
              <a:off x="3322234" y="3619024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/>
          </p:nvCxnSpPr>
          <p:spPr>
            <a:xfrm>
              <a:off x="3322234" y="4047059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3108114" y="1305645"/>
            <a:ext cx="2967074" cy="943656"/>
            <a:chOff x="5199301" y="1144010"/>
            <a:chExt cx="2967074" cy="943656"/>
          </a:xfrm>
        </p:grpSpPr>
        <p:pic>
          <p:nvPicPr>
            <p:cNvPr id="10" name="图片 9" descr="图片包含 游戏机, 灯光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483"/>
            <a:stretch>
              <a:fillRect/>
            </a:stretch>
          </p:blipFill>
          <p:spPr>
            <a:xfrm>
              <a:off x="5199301" y="1144010"/>
              <a:ext cx="2967074" cy="943656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5750143" y="1432408"/>
              <a:ext cx="18297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第二章节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286968" y="4560724"/>
            <a:ext cx="776203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春天的象征是什么：桃花盛开，柳条垂拂。桃花盛开，垂柳依依，江南的春色很美。雨过天晴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split orient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示, 示意图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9211" y="714202"/>
            <a:ext cx="5313218" cy="5313218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37250" y="1742705"/>
            <a:ext cx="2820488" cy="3372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000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《城东早春》</a:t>
            </a:r>
          </a:p>
          <a:p>
            <a:pPr algn="ctr">
              <a:lnSpc>
                <a:spcPct val="200000"/>
              </a:lnSpc>
            </a:pPr>
            <a:r>
              <a:rPr lang="zh-CN" altLang="en-US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唐·杨巨源</a:t>
            </a: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诗家清景在新春，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绿柳才黄半未匀。</a:t>
            </a: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若待上林花似锦，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出门俱是看花人。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5" name="图片 4" descr="图片包含 背景图案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最活泼的春天诗</a:t>
              </a:r>
            </a:p>
          </p:txBody>
        </p:sp>
      </p:grpSp>
      <p:pic>
        <p:nvPicPr>
          <p:cNvPr id="12" name="图片 11" descr="穿着西装笔挺的男子与配字&#10;&#10;中度可信度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7368" y="1243161"/>
            <a:ext cx="4685145" cy="468514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1411814" y="1418685"/>
            <a:ext cx="9177251" cy="4519861"/>
            <a:chOff x="1411814" y="1418685"/>
            <a:chExt cx="9177251" cy="4519861"/>
          </a:xfrm>
        </p:grpSpPr>
        <p:pic>
          <p:nvPicPr>
            <p:cNvPr id="13" name="图片 12" descr="绿色的叶子&#10;&#10;中度可信度描述已自动生成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433540" y="1500635"/>
              <a:ext cx="8060867" cy="4355960"/>
            </a:xfrm>
            <a:prstGeom prst="rect">
              <a:avLst/>
            </a:prstGeom>
          </p:spPr>
        </p:pic>
        <p:sp>
          <p:nvSpPr>
            <p:cNvPr id="11" name="矩形 10"/>
            <p:cNvSpPr/>
            <p:nvPr/>
          </p:nvSpPr>
          <p:spPr>
            <a:xfrm>
              <a:off x="1411814" y="1418685"/>
              <a:ext cx="9177251" cy="4519861"/>
            </a:xfrm>
            <a:prstGeom prst="rect">
              <a:avLst/>
            </a:prstGeom>
            <a:noFill/>
            <a:ln w="38100">
              <a:solidFill>
                <a:srgbClr val="2ABD9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6" name="文本框 5"/>
          <p:cNvSpPr txBox="1"/>
          <p:nvPr/>
        </p:nvSpPr>
        <p:spPr>
          <a:xfrm>
            <a:off x="1731303" y="3253512"/>
            <a:ext cx="3125405" cy="2282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春天在哪里？春天在那刚冒芽的柳条里。早春时，柳叶新萌，其色嫩黄，俗称“柳眼”。早春时节，气候寒冷，百花尚未绽开，唯柳枝新叶，冲寒而出，最富有生机，最早为人们带来春天的消息。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4" name="图片 3" descr="图片包含 背景图案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最活泼的春天诗</a:t>
              </a:r>
            </a:p>
          </p:txBody>
        </p:sp>
      </p:grpSp>
      <p:sp>
        <p:nvSpPr>
          <p:cNvPr id="5" name="矩形 4"/>
          <p:cNvSpPr/>
          <p:nvPr/>
        </p:nvSpPr>
        <p:spPr>
          <a:xfrm>
            <a:off x="5972505" y="1895316"/>
            <a:ext cx="5278833" cy="1658836"/>
          </a:xfrm>
          <a:prstGeom prst="rect">
            <a:avLst/>
          </a:prstGeom>
          <a:gradFill>
            <a:gsLst>
              <a:gs pos="100000">
                <a:srgbClr val="2A9E4E"/>
              </a:gs>
              <a:gs pos="0">
                <a:srgbClr val="016D59"/>
              </a:gs>
            </a:gsLst>
            <a:lin ang="7200000" scaled="0"/>
          </a:gradFill>
          <a:ln>
            <a:noFill/>
          </a:ln>
          <a:effectLst>
            <a:outerShdw blurRad="50800" dist="38100" dir="2700000" algn="tl" rotWithShape="0">
              <a:prstClr val="black">
                <a:alpha val="28235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27896" y="2251378"/>
            <a:ext cx="4919067" cy="1021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若是到了京城花开之际，那将满城便是赏花之人。全诗将清幽、秾艳之景并列而出，对比鲜明，色调明快；同时含蕴深刻，耐人寻味，堪称佳篇。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37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37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6" presetClass="entr" presetSubtype="37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" grpId="0" animBg="1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桌子, 蛋糕, 华美&#10;&#10;描述已自动生成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84"/>
          <a:stretch>
            <a:fillRect/>
          </a:stretch>
        </p:blipFill>
        <p:spPr>
          <a:xfrm>
            <a:off x="-22411" y="0"/>
            <a:ext cx="1223682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08114" y="2300956"/>
            <a:ext cx="83620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ln w="3175">
                  <a:noFill/>
                </a:ln>
                <a:gradFill>
                  <a:gsLst>
                    <a:gs pos="100000">
                      <a:srgbClr val="016D59"/>
                    </a:gs>
                    <a:gs pos="0">
                      <a:srgbClr val="104F27"/>
                    </a:gs>
                  </a:gsLst>
                  <a:lin ang="7200000" scaled="0"/>
                </a:gradFill>
                <a:effectLst>
                  <a:outerShdw dist="38100" dir="18900000" algn="bl" rotWithShape="0">
                    <a:schemeClr val="bg1"/>
                  </a:outerShdw>
                </a:effectLst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rPr>
              <a:t>最欣喜的春日诗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286969" y="3852652"/>
            <a:ext cx="6984791" cy="428035"/>
            <a:chOff x="3322234" y="3619024"/>
            <a:chExt cx="6984791" cy="428035"/>
          </a:xfrm>
        </p:grpSpPr>
        <p:sp>
          <p:nvSpPr>
            <p:cNvPr id="5" name="文本框 4"/>
            <p:cNvSpPr txBox="1"/>
            <p:nvPr/>
          </p:nvSpPr>
          <p:spPr>
            <a:xfrm>
              <a:off x="3509266" y="3635649"/>
              <a:ext cx="67977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写尽人间春色，共赴春日盛宴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cxnSp>
          <p:nvCxnSpPr>
            <p:cNvPr id="6" name="直线连接符 5"/>
            <p:cNvCxnSpPr/>
            <p:nvPr/>
          </p:nvCxnSpPr>
          <p:spPr>
            <a:xfrm>
              <a:off x="3322234" y="3619024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/>
          </p:nvCxnSpPr>
          <p:spPr>
            <a:xfrm>
              <a:off x="3322234" y="4047059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3108114" y="1305645"/>
            <a:ext cx="2967074" cy="943656"/>
            <a:chOff x="5199301" y="1144010"/>
            <a:chExt cx="2967074" cy="943656"/>
          </a:xfrm>
        </p:grpSpPr>
        <p:pic>
          <p:nvPicPr>
            <p:cNvPr id="10" name="图片 9" descr="图片包含 游戏机, 灯光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483"/>
            <a:stretch>
              <a:fillRect/>
            </a:stretch>
          </p:blipFill>
          <p:spPr>
            <a:xfrm>
              <a:off x="5199301" y="1144010"/>
              <a:ext cx="2967074" cy="943656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5750143" y="1432408"/>
              <a:ext cx="18297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第三章节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286968" y="4560724"/>
            <a:ext cx="776203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春天的象征是什么：桃花盛开，柳条垂拂。桃花盛开，垂柳依依，江南的春色很美。雨过天晴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split orient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图片包含 形状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95631" y="1543134"/>
            <a:ext cx="5277664" cy="3771732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119223" y="1891647"/>
            <a:ext cx="5905500" cy="294170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400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《春日郊外》</a:t>
            </a:r>
            <a:r>
              <a:rPr lang="zh-CN" altLang="en-US" sz="2000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宋·唐庚</a:t>
            </a: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城中未省有春光，城外榆槐已半黄。</a:t>
            </a: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山好更宜馀积雪，水生看欲倒垂杨。</a:t>
            </a: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莺边日暖如人语，草际风来作药香。</a:t>
            </a: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疑此江头有佳句，为君寻取却茫茫。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10" name="图片 9" descr="图片包含 背景图案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最欣喜的春天诗</a:t>
              </a:r>
            </a:p>
          </p:txBody>
        </p:sp>
      </p:grpSp>
      <p:pic>
        <p:nvPicPr>
          <p:cNvPr id="14" name="图片 13" descr="建筑的摆设布局&#10;&#10;低可信度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310076" y="1667553"/>
            <a:ext cx="4042071" cy="3536041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3" name="图片 2" descr="图片包含 背景图案&#10;&#10;描述已自动生成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4" name="文本框 3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最欣喜的春天诗</a:t>
              </a: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411814" y="1096353"/>
            <a:ext cx="9724014" cy="1566036"/>
            <a:chOff x="1411814" y="1096353"/>
            <a:chExt cx="9724014" cy="1566036"/>
          </a:xfrm>
        </p:grpSpPr>
        <p:grpSp>
          <p:nvGrpSpPr>
            <p:cNvPr id="6" name="组合 5"/>
            <p:cNvGrpSpPr/>
            <p:nvPr/>
          </p:nvGrpSpPr>
          <p:grpSpPr>
            <a:xfrm>
              <a:off x="1411814" y="1397795"/>
              <a:ext cx="9449060" cy="979645"/>
              <a:chOff x="1841064" y="3368610"/>
              <a:chExt cx="9449060" cy="979645"/>
            </a:xfrm>
          </p:grpSpPr>
          <p:sp>
            <p:nvSpPr>
              <p:cNvPr id="9" name="矩形: 圆角 8"/>
              <p:cNvSpPr/>
              <p:nvPr/>
            </p:nvSpPr>
            <p:spPr>
              <a:xfrm>
                <a:off x="1841064" y="3368610"/>
                <a:ext cx="9449060" cy="979645"/>
              </a:xfrm>
              <a:prstGeom prst="roundRect">
                <a:avLst/>
              </a:prstGeom>
              <a:solidFill>
                <a:srgbClr val="44B566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2857193" y="3509163"/>
                <a:ext cx="7416802" cy="698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面对美丽的春日风光，唐庚却说：我都想不好的诗句来形容了。住在城里，还丝毫没能感受到春光；今天漫步郊外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12" name="图片 11" descr="粉色的花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569792" y="1096353"/>
              <a:ext cx="1566036" cy="1566036"/>
            </a:xfrm>
            <a:prstGeom prst="rect">
              <a:avLst/>
            </a:prstGeom>
          </p:spPr>
        </p:pic>
        <p:sp>
          <p:nvSpPr>
            <p:cNvPr id="13" name="椭圆 12"/>
            <p:cNvSpPr/>
            <p:nvPr/>
          </p:nvSpPr>
          <p:spPr>
            <a:xfrm>
              <a:off x="1620620" y="1580112"/>
              <a:ext cx="631768" cy="6317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229515">
                <a:srgbClr val="104F27">
                  <a:alpha val="38449"/>
                </a:srgb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653870" y="1596737"/>
              <a:ext cx="6317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dirty="0">
                  <a:solidFill>
                    <a:srgbClr val="104F2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kumimoji="1" lang="zh-CN" altLang="en-US" sz="2800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136860" y="2261509"/>
            <a:ext cx="9724014" cy="1566036"/>
            <a:chOff x="1136860" y="1096353"/>
            <a:chExt cx="9724014" cy="1566036"/>
          </a:xfrm>
        </p:grpSpPr>
        <p:grpSp>
          <p:nvGrpSpPr>
            <p:cNvPr id="17" name="组合 16"/>
            <p:cNvGrpSpPr/>
            <p:nvPr/>
          </p:nvGrpSpPr>
          <p:grpSpPr>
            <a:xfrm>
              <a:off x="1411814" y="1397795"/>
              <a:ext cx="9449060" cy="979645"/>
              <a:chOff x="1841064" y="3368610"/>
              <a:chExt cx="9449060" cy="979645"/>
            </a:xfrm>
          </p:grpSpPr>
          <p:sp>
            <p:nvSpPr>
              <p:cNvPr id="21" name="矩形: 圆角 8"/>
              <p:cNvSpPr/>
              <p:nvPr/>
            </p:nvSpPr>
            <p:spPr>
              <a:xfrm>
                <a:off x="1841064" y="3368610"/>
                <a:ext cx="9449060" cy="979645"/>
              </a:xfrm>
              <a:prstGeom prst="roundRect">
                <a:avLst/>
              </a:prstGeom>
              <a:solidFill>
                <a:srgbClr val="44B566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文本框 21"/>
              <p:cNvSpPr txBox="1"/>
              <p:nvPr/>
            </p:nvSpPr>
            <p:spPr>
              <a:xfrm>
                <a:off x="2857193" y="3509163"/>
                <a:ext cx="7416802" cy="698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惊喜地发现，原来榆树槐树早已抽芽，半绿半黄。远处的青山婀娜多姿，我更喜爱它那峰顶还留存着皑皑白雪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18" name="图片 17" descr="粉色的花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36860" y="1096353"/>
              <a:ext cx="1566036" cy="1566036"/>
            </a:xfrm>
            <a:prstGeom prst="rect">
              <a:avLst/>
            </a:prstGeom>
          </p:spPr>
        </p:pic>
        <p:sp>
          <p:nvSpPr>
            <p:cNvPr id="19" name="椭圆 18"/>
            <p:cNvSpPr/>
            <p:nvPr/>
          </p:nvSpPr>
          <p:spPr>
            <a:xfrm>
              <a:off x="10020300" y="1580112"/>
              <a:ext cx="631768" cy="6317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229515">
                <a:srgbClr val="104F27">
                  <a:alpha val="38449"/>
                </a:srgb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0053550" y="1611980"/>
              <a:ext cx="6317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dirty="0">
                  <a:solidFill>
                    <a:srgbClr val="104F2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kumimoji="1" lang="zh-CN" altLang="en-US" sz="2800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1411814" y="3365513"/>
            <a:ext cx="9724014" cy="1566036"/>
            <a:chOff x="1411814" y="1096353"/>
            <a:chExt cx="9724014" cy="1566036"/>
          </a:xfrm>
        </p:grpSpPr>
        <p:grpSp>
          <p:nvGrpSpPr>
            <p:cNvPr id="24" name="组合 23"/>
            <p:cNvGrpSpPr/>
            <p:nvPr/>
          </p:nvGrpSpPr>
          <p:grpSpPr>
            <a:xfrm>
              <a:off x="1411814" y="1397795"/>
              <a:ext cx="9449060" cy="979645"/>
              <a:chOff x="1841064" y="3368610"/>
              <a:chExt cx="9449060" cy="979645"/>
            </a:xfrm>
          </p:grpSpPr>
          <p:sp>
            <p:nvSpPr>
              <p:cNvPr id="28" name="矩形: 圆角 8"/>
              <p:cNvSpPr/>
              <p:nvPr/>
            </p:nvSpPr>
            <p:spPr>
              <a:xfrm>
                <a:off x="1841064" y="3368610"/>
                <a:ext cx="9449060" cy="979645"/>
              </a:xfrm>
              <a:prstGeom prst="roundRect">
                <a:avLst/>
              </a:prstGeom>
              <a:solidFill>
                <a:srgbClr val="44B566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2857193" y="3509163"/>
                <a:ext cx="7416802" cy="698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池塘的水渐渐上涨，倒映出岸边的垂杨。暖和的日光照着，黄莺儿啼啭，似人在对谈；一阵风从草地吹来，夹杂着芬芳的药香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pic>
          <p:nvPicPr>
            <p:cNvPr id="25" name="图片 24" descr="粉色的花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9569792" y="1096353"/>
              <a:ext cx="1566036" cy="1566036"/>
            </a:xfrm>
            <a:prstGeom prst="rect">
              <a:avLst/>
            </a:prstGeom>
          </p:spPr>
        </p:pic>
        <p:sp>
          <p:nvSpPr>
            <p:cNvPr id="26" name="椭圆 25"/>
            <p:cNvSpPr/>
            <p:nvPr/>
          </p:nvSpPr>
          <p:spPr>
            <a:xfrm>
              <a:off x="1620620" y="1580112"/>
              <a:ext cx="631768" cy="6317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229515">
                <a:srgbClr val="104F27">
                  <a:alpha val="38449"/>
                </a:srgb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7" name="文本框 26"/>
            <p:cNvSpPr txBox="1"/>
            <p:nvPr/>
          </p:nvSpPr>
          <p:spPr>
            <a:xfrm>
              <a:off x="1653870" y="1596737"/>
              <a:ext cx="6317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dirty="0">
                  <a:solidFill>
                    <a:srgbClr val="104F2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kumimoji="1" lang="zh-CN" altLang="en-US" sz="2800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1136860" y="4509931"/>
            <a:ext cx="9724014" cy="1566036"/>
            <a:chOff x="1136860" y="1096353"/>
            <a:chExt cx="9724014" cy="1566036"/>
          </a:xfrm>
        </p:grpSpPr>
        <p:grpSp>
          <p:nvGrpSpPr>
            <p:cNvPr id="46" name="组合 45"/>
            <p:cNvGrpSpPr/>
            <p:nvPr/>
          </p:nvGrpSpPr>
          <p:grpSpPr>
            <a:xfrm>
              <a:off x="1411814" y="1397795"/>
              <a:ext cx="9449060" cy="979645"/>
              <a:chOff x="1841064" y="3368610"/>
              <a:chExt cx="9449060" cy="979645"/>
            </a:xfrm>
          </p:grpSpPr>
          <p:sp>
            <p:nvSpPr>
              <p:cNvPr id="50" name="矩形: 圆角 8"/>
              <p:cNvSpPr/>
              <p:nvPr/>
            </p:nvSpPr>
            <p:spPr>
              <a:xfrm>
                <a:off x="1841064" y="3368610"/>
                <a:ext cx="9449060" cy="979645"/>
              </a:xfrm>
              <a:prstGeom prst="roundRect">
                <a:avLst/>
              </a:prstGeom>
              <a:solidFill>
                <a:srgbClr val="44B566">
                  <a:alpha val="2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" name="文本框 50"/>
              <p:cNvSpPr txBox="1"/>
              <p:nvPr/>
            </p:nvSpPr>
            <p:spPr>
              <a:xfrm>
                <a:off x="2857193" y="3509163"/>
                <a:ext cx="7416802" cy="6987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3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统观全诗，清新之气，扑面而来；而辞意之流畅，形象之鲜明，一扫宋诗枯涩冷峭、偏重理趣之弊，堪称精品</a:t>
                </a:r>
                <a:endPara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pic>
          <p:nvPicPr>
            <p:cNvPr id="47" name="图片 46" descr="粉色的花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36860" y="1096353"/>
              <a:ext cx="1566036" cy="1566036"/>
            </a:xfrm>
            <a:prstGeom prst="rect">
              <a:avLst/>
            </a:prstGeom>
          </p:spPr>
        </p:pic>
        <p:sp>
          <p:nvSpPr>
            <p:cNvPr id="48" name="椭圆 47"/>
            <p:cNvSpPr/>
            <p:nvPr/>
          </p:nvSpPr>
          <p:spPr>
            <a:xfrm>
              <a:off x="10020300" y="1580112"/>
              <a:ext cx="631768" cy="63176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innerShdw blurRad="229515">
                <a:srgbClr val="104F27">
                  <a:alpha val="38449"/>
                </a:srgbClr>
              </a:inn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10053550" y="1611980"/>
              <a:ext cx="631768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CN" sz="2800" dirty="0">
                  <a:solidFill>
                    <a:srgbClr val="104F2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kumimoji="1" lang="zh-CN" altLang="en-US" sz="2800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桌子, 蛋糕, 华美&#10;&#10;描述已自动生成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84"/>
          <a:stretch>
            <a:fillRect/>
          </a:stretch>
        </p:blipFill>
        <p:spPr>
          <a:xfrm>
            <a:off x="-22411" y="0"/>
            <a:ext cx="1223682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08114" y="2373628"/>
            <a:ext cx="93582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ln w="3175">
                  <a:noFill/>
                </a:ln>
                <a:gradFill>
                  <a:gsLst>
                    <a:gs pos="100000">
                      <a:srgbClr val="016D59"/>
                    </a:gs>
                    <a:gs pos="0">
                      <a:srgbClr val="104F27"/>
                    </a:gs>
                  </a:gsLst>
                  <a:lin ang="7200000" scaled="0"/>
                </a:gradFill>
                <a:effectLst>
                  <a:outerShdw dist="38100" dir="18900000" algn="bl" rotWithShape="0">
                    <a:schemeClr val="bg1"/>
                  </a:outerShdw>
                </a:effectLst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rPr>
              <a:t>最如诗如画的春天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286969" y="3852652"/>
            <a:ext cx="6984791" cy="428035"/>
            <a:chOff x="3322234" y="3619024"/>
            <a:chExt cx="6984791" cy="428035"/>
          </a:xfrm>
        </p:grpSpPr>
        <p:sp>
          <p:nvSpPr>
            <p:cNvPr id="5" name="文本框 4"/>
            <p:cNvSpPr txBox="1"/>
            <p:nvPr/>
          </p:nvSpPr>
          <p:spPr>
            <a:xfrm>
              <a:off x="3509266" y="3635649"/>
              <a:ext cx="67977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写尽人间春色，共赴春日盛宴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cxnSp>
          <p:nvCxnSpPr>
            <p:cNvPr id="6" name="直线连接符 5"/>
            <p:cNvCxnSpPr/>
            <p:nvPr/>
          </p:nvCxnSpPr>
          <p:spPr>
            <a:xfrm>
              <a:off x="3322234" y="3619024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/>
          </p:nvCxnSpPr>
          <p:spPr>
            <a:xfrm>
              <a:off x="3322234" y="4047059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3108114" y="1305645"/>
            <a:ext cx="2967074" cy="943656"/>
            <a:chOff x="5199301" y="1144010"/>
            <a:chExt cx="2967074" cy="943656"/>
          </a:xfrm>
        </p:grpSpPr>
        <p:pic>
          <p:nvPicPr>
            <p:cNvPr id="10" name="图片 9" descr="图片包含 游戏机, 灯光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483"/>
            <a:stretch>
              <a:fillRect/>
            </a:stretch>
          </p:blipFill>
          <p:spPr>
            <a:xfrm>
              <a:off x="5199301" y="1144010"/>
              <a:ext cx="2967074" cy="943656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5750143" y="1432408"/>
              <a:ext cx="18297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第四章节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286968" y="4560724"/>
            <a:ext cx="776203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春天的象征是什么：桃花盛开，柳条垂拂。桃花盛开，垂柳依依，江南的春色很美。雨过天晴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split orient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示, 示意图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52902" y="714201"/>
            <a:ext cx="5569527" cy="556952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563591" y="1946630"/>
            <a:ext cx="2979420" cy="3437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《西湖杂咏·春》</a:t>
            </a: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元·薛昂夫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山光如淀，湖光如练，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一步一个生绡面。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叩逋仙，访坡仙，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拣西湖好处都游遍，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管甚月明归路远。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船，休放转；杯休放浅。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5" name="图片 4" descr="图片包含 背景图案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最如诗如画的春天</a:t>
              </a:r>
            </a:p>
          </p:txBody>
        </p:sp>
      </p:grpSp>
      <p:pic>
        <p:nvPicPr>
          <p:cNvPr id="11" name="图片 10" descr="图片包含 人, 男人, 桌子, 站&#10;&#10;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20085" y="1555331"/>
            <a:ext cx="4448435" cy="4448435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桌子上放着许多花&#10;&#10;中度可信度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32761" y="1338842"/>
            <a:ext cx="8260372" cy="4629439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5669280" y="3104791"/>
            <a:ext cx="6184670" cy="2426953"/>
          </a:xfrm>
          <a:prstGeom prst="rect">
            <a:avLst/>
          </a:prstGeom>
          <a:solidFill>
            <a:srgbClr val="2A9E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330953" y="3441584"/>
            <a:ext cx="4861324" cy="1753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薛昂夫的笔下，春天如诗如画。远山一片青翠，湖面就如白娟般光洁，每走一步都都如同一幅山水画。去寻访林逋的梅花仙鹤，再去苏堤游玩。把西湖美景都游个遍。明月高高升起天色已晚，回路还远也都不去管它。向前行水和船儿啊不要转头，对着如此美景，酒可不要斟浅了。面对如画的春日，又怎能放下酒杯呢？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4" name="图片 3" descr="图片包含 背景图案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最如诗如画的春天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桌子, 蛋糕, 华美&#10;&#10;描述已自动生成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84"/>
          <a:stretch>
            <a:fillRect/>
          </a:stretch>
        </p:blipFill>
        <p:spPr>
          <a:xfrm>
            <a:off x="-22411" y="0"/>
            <a:ext cx="1223682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08114" y="2373628"/>
            <a:ext cx="935820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0" dirty="0">
                <a:ln w="3175">
                  <a:noFill/>
                </a:ln>
                <a:gradFill>
                  <a:gsLst>
                    <a:gs pos="100000">
                      <a:srgbClr val="016D59"/>
                    </a:gs>
                    <a:gs pos="0">
                      <a:srgbClr val="104F27"/>
                    </a:gs>
                  </a:gsLst>
                  <a:lin ang="7200000" scaled="0"/>
                </a:gradFill>
                <a:effectLst>
                  <a:outerShdw dist="38100" dir="18900000" algn="bl" rotWithShape="0">
                    <a:schemeClr val="bg1"/>
                  </a:outerShdw>
                </a:effectLst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rPr>
              <a:t>最有活力的春日诗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286969" y="3852652"/>
            <a:ext cx="6984791" cy="428035"/>
            <a:chOff x="3322234" y="3619024"/>
            <a:chExt cx="6984791" cy="428035"/>
          </a:xfrm>
        </p:grpSpPr>
        <p:sp>
          <p:nvSpPr>
            <p:cNvPr id="5" name="文本框 4"/>
            <p:cNvSpPr txBox="1"/>
            <p:nvPr/>
          </p:nvSpPr>
          <p:spPr>
            <a:xfrm>
              <a:off x="3509266" y="3635649"/>
              <a:ext cx="67977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写尽人间春色，共赴春日盛宴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cxnSp>
          <p:nvCxnSpPr>
            <p:cNvPr id="6" name="直线连接符 5"/>
            <p:cNvCxnSpPr/>
            <p:nvPr/>
          </p:nvCxnSpPr>
          <p:spPr>
            <a:xfrm>
              <a:off x="3322234" y="3619024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/>
          </p:nvCxnSpPr>
          <p:spPr>
            <a:xfrm>
              <a:off x="3322234" y="4047059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3108114" y="1305645"/>
            <a:ext cx="2967074" cy="943656"/>
            <a:chOff x="5199301" y="1144010"/>
            <a:chExt cx="2967074" cy="943656"/>
          </a:xfrm>
        </p:grpSpPr>
        <p:pic>
          <p:nvPicPr>
            <p:cNvPr id="10" name="图片 9" descr="图片包含 游戏机, 灯光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483"/>
            <a:stretch>
              <a:fillRect/>
            </a:stretch>
          </p:blipFill>
          <p:spPr>
            <a:xfrm>
              <a:off x="5199301" y="1144010"/>
              <a:ext cx="2967074" cy="943656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5750143" y="1432408"/>
              <a:ext cx="18297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第五章节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286968" y="4560724"/>
            <a:ext cx="776203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春天的象征是什么：桃花盛开，柳条垂拂。桃花盛开，垂柳依依，江南的春色很美。雨过天晴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split orient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电脑屏幕的照片&#10;&#10;中度可信度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61263" y="1251519"/>
            <a:ext cx="6752948" cy="48310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25044" y="2297023"/>
            <a:ext cx="4458636" cy="260699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《南湖早春》</a:t>
            </a:r>
          </a:p>
          <a:p>
            <a:pPr algn="ctr">
              <a:lnSpc>
                <a:spcPct val="150000"/>
              </a:lnSpc>
            </a:pPr>
            <a:r>
              <a:rPr lang="zh-CN" altLang="en-US" sz="2000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唐·白居易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风回云断雨初晴，返照湖边暖复明。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乱点碎红山杏发，平铺新绿水蘋生。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翅低白雁飞仍重，舌涩黄鹂语未成。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不道江南春不好，年年衰病减心情。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5" name="图片 4" descr="图片包含 背景图案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最有活力的春日诗</a:t>
              </a:r>
            </a:p>
          </p:txBody>
        </p:sp>
      </p:grpSp>
      <p:pic>
        <p:nvPicPr>
          <p:cNvPr id="12" name="图片 11" descr="图片包含 桌子, 亮, 灯光, 笔记本&#10;&#10;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173624" y="1414939"/>
            <a:ext cx="4458636" cy="496988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382701" y="1663798"/>
            <a:ext cx="9623677" cy="775957"/>
          </a:xfrm>
          <a:prstGeom prst="roundRect">
            <a:avLst/>
          </a:prstGeom>
          <a:gradFill>
            <a:gsLst>
              <a:gs pos="100000">
                <a:srgbClr val="2A9E4E"/>
              </a:gs>
              <a:gs pos="0">
                <a:srgbClr val="2ABD94"/>
              </a:gs>
            </a:gsLst>
            <a:lin ang="7200000" scaled="0"/>
          </a:gradFill>
        </p:spPr>
        <p:txBody>
          <a:bodyPr wrap="square" rtlCol="0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早春时节，一切都是生机勃勃的。诗的前六句描绘了一幅清新美丽的春景图。诗人紧紧扣住一个“早”字铺写南湖春色。“乱点碎红”说明山杏是早发的；“平铺新绿”说明水苹是刚绿的。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4" name="图片 3" descr="图片包含 背景图案&#10;&#10;描述已自动生成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最有活力的春日诗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231393" y="2743199"/>
            <a:ext cx="4349217" cy="2876204"/>
            <a:chOff x="1231393" y="2743199"/>
            <a:chExt cx="4349217" cy="2876204"/>
          </a:xfrm>
        </p:grpSpPr>
        <p:sp>
          <p:nvSpPr>
            <p:cNvPr id="10" name="文本框 9"/>
            <p:cNvSpPr txBox="1"/>
            <p:nvPr/>
          </p:nvSpPr>
          <p:spPr>
            <a:xfrm>
              <a:off x="1336687" y="3058525"/>
              <a:ext cx="4138628" cy="22455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sz="1600" dirty="0"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早春犹寒、空气潮润，白雁翅重只能低飞，黄鹂舌涩仅是微啼。写植物是静景，写禽鸟是动态，动静相宜，情景交融，描绘了一幅江南早春图。全诗在写景状物时，善于抓住特征，令读者感受到早春的气息，早春的色彩，早春的声音，生动而形象。</a:t>
              </a:r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1231393" y="2743199"/>
              <a:ext cx="4349217" cy="2876204"/>
            </a:xfrm>
            <a:prstGeom prst="roundRect">
              <a:avLst>
                <a:gd name="adj" fmla="val 10887"/>
              </a:avLst>
            </a:prstGeom>
            <a:noFill/>
            <a:ln w="28575">
              <a:solidFill>
                <a:srgbClr val="2ABD94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pic>
        <p:nvPicPr>
          <p:cNvPr id="12" name="图片 11" descr="图片包含 桌子, 蛋糕, 充满, 许多&#10;&#10;描述已自动生成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74326" y="2743198"/>
            <a:ext cx="5132051" cy="287620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  <p:cond evt="onBegin" delay="0">
                          <p:tn val="7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  <p:cond evt="onBegin" delay="0">
                          <p:tn val="1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桌子, 蛋糕, 华美&#10;&#10;描述已自动生成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84"/>
          <a:stretch>
            <a:fillRect/>
          </a:stretch>
        </p:blipFill>
        <p:spPr>
          <a:xfrm>
            <a:off x="-22411" y="0"/>
            <a:ext cx="1223682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08114" y="2300956"/>
            <a:ext cx="83620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ln w="3175">
                  <a:noFill/>
                </a:ln>
                <a:gradFill>
                  <a:gsLst>
                    <a:gs pos="100000">
                      <a:srgbClr val="016D59"/>
                    </a:gs>
                    <a:gs pos="0">
                      <a:srgbClr val="104F27"/>
                    </a:gs>
                  </a:gsLst>
                  <a:lin ang="7200000" scaled="0"/>
                </a:gradFill>
                <a:effectLst>
                  <a:outerShdw dist="38100" dir="18900000" algn="bl" rotWithShape="0">
                    <a:schemeClr val="bg1"/>
                  </a:outerShdw>
                </a:effectLst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rPr>
              <a:t>最动人的春日诗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286969" y="3852652"/>
            <a:ext cx="6984791" cy="428035"/>
            <a:chOff x="3322234" y="3619024"/>
            <a:chExt cx="6984791" cy="428035"/>
          </a:xfrm>
        </p:grpSpPr>
        <p:sp>
          <p:nvSpPr>
            <p:cNvPr id="5" name="文本框 4"/>
            <p:cNvSpPr txBox="1"/>
            <p:nvPr/>
          </p:nvSpPr>
          <p:spPr>
            <a:xfrm>
              <a:off x="3509266" y="3635649"/>
              <a:ext cx="67977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写尽人间春色，共赴春日盛宴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cxnSp>
          <p:nvCxnSpPr>
            <p:cNvPr id="6" name="直线连接符 5"/>
            <p:cNvCxnSpPr/>
            <p:nvPr/>
          </p:nvCxnSpPr>
          <p:spPr>
            <a:xfrm>
              <a:off x="3322234" y="3619024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/>
          </p:nvCxnSpPr>
          <p:spPr>
            <a:xfrm>
              <a:off x="3322234" y="4047059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3108114" y="1305645"/>
            <a:ext cx="2967074" cy="943656"/>
            <a:chOff x="5199301" y="1144010"/>
            <a:chExt cx="2967074" cy="943656"/>
          </a:xfrm>
        </p:grpSpPr>
        <p:pic>
          <p:nvPicPr>
            <p:cNvPr id="10" name="图片 9" descr="图片包含 游戏机, 灯光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483"/>
            <a:stretch>
              <a:fillRect/>
            </a:stretch>
          </p:blipFill>
          <p:spPr>
            <a:xfrm>
              <a:off x="5199301" y="1144010"/>
              <a:ext cx="2967074" cy="943656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5750143" y="1432408"/>
              <a:ext cx="18297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第六章节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286968" y="4560724"/>
            <a:ext cx="776203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春天的象征是什么：桃花盛开，柳条垂拂。桃花盛开，垂柳依依，江南的春色很美。雨过天晴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split orient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包含 正方形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852160" y="607497"/>
            <a:ext cx="4621876" cy="6052457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94797" y="1711927"/>
            <a:ext cx="2536602" cy="34341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sz="2000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《春日杂咏》</a:t>
            </a:r>
          </a:p>
          <a:p>
            <a:pPr algn="ctr">
              <a:lnSpc>
                <a:spcPct val="200000"/>
              </a:lnSpc>
            </a:pPr>
            <a:r>
              <a:rPr lang="zh-CN" altLang="en-US" sz="2000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明·高珩</a:t>
            </a: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青山如黛远村东，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嫩绿长溪柳絮风。</a:t>
            </a: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鸟雀不知郊野好，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穿花翻恋小庭中。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5" name="图片 4" descr="图片包含 背景图案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最动人的春日诗</a:t>
              </a:r>
            </a:p>
          </p:txBody>
        </p:sp>
      </p:grpSp>
      <p:pic>
        <p:nvPicPr>
          <p:cNvPr id="12" name="图片 11" descr="图片包含 桌子, 黑暗, 食物, 女人&#10;&#10;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39670" y="1136790"/>
            <a:ext cx="5113713" cy="5113713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包含 别针, 物体, 桌子, 灯光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026749" y="1379913"/>
            <a:ext cx="7781120" cy="4682948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5126062" y="2196029"/>
            <a:ext cx="5582491" cy="2984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天最美丽的地方在哪里？诗人说：在野外。这首诗描写了春天郊野的美好景色。村东的青山，远远望去，呈现出一片墨绿的颜色，就像女孩子用来描眉的青黑色的黛墨一般漂亮。一条长溪，溪水蜿蜒曲折地向着远方流去。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岸边嫩绿的杨柳开花结籽，微风吹来，片片柳絮随风飘舞。鸟雀不知道郊野外如诗如画的风光这般美好，反而留恋那小小庭院，只是在院内的花丛中飞来飞去。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4" name="图片 3" descr="图片包含 背景图案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8" name="文本框 7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最动人的春日诗</a:t>
              </a:r>
            </a:p>
          </p:txBody>
        </p:sp>
      </p:grpSp>
      <p:pic>
        <p:nvPicPr>
          <p:cNvPr id="12" name="图片 11" descr="图片包含 桌子, 亮, 灯光, 笔记本&#10;&#10;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62267" y="1051014"/>
            <a:ext cx="3233764" cy="4682947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6" presetClass="entr" presetSubtype="0" dur="2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桌子, 蛋糕, 华美&#10;&#10;描述已自动生成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84"/>
          <a:stretch>
            <a:fillRect/>
          </a:stretch>
        </p:blipFill>
        <p:spPr>
          <a:xfrm>
            <a:off x="-22411" y="0"/>
            <a:ext cx="1223682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08114" y="2300956"/>
            <a:ext cx="83620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ln w="3175">
                  <a:noFill/>
                </a:ln>
                <a:gradFill>
                  <a:gsLst>
                    <a:gs pos="100000">
                      <a:srgbClr val="016D59"/>
                    </a:gs>
                    <a:gs pos="0">
                      <a:srgbClr val="104F27"/>
                    </a:gs>
                  </a:gsLst>
                  <a:lin ang="7200000" scaled="0"/>
                </a:gradFill>
                <a:effectLst>
                  <a:outerShdw dist="38100" dir="18900000" algn="bl" rotWithShape="0">
                    <a:schemeClr val="bg1"/>
                  </a:outerShdw>
                </a:effectLst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rPr>
              <a:t>最迷人的春日诗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286969" y="3852652"/>
            <a:ext cx="6984791" cy="428035"/>
            <a:chOff x="3322234" y="3619024"/>
            <a:chExt cx="6984791" cy="428035"/>
          </a:xfrm>
        </p:grpSpPr>
        <p:sp>
          <p:nvSpPr>
            <p:cNvPr id="5" name="文本框 4"/>
            <p:cNvSpPr txBox="1"/>
            <p:nvPr/>
          </p:nvSpPr>
          <p:spPr>
            <a:xfrm>
              <a:off x="3509266" y="3635649"/>
              <a:ext cx="67977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写尽人间春色，共赴春日盛宴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cxnSp>
          <p:nvCxnSpPr>
            <p:cNvPr id="6" name="直线连接符 5"/>
            <p:cNvCxnSpPr/>
            <p:nvPr/>
          </p:nvCxnSpPr>
          <p:spPr>
            <a:xfrm>
              <a:off x="3322234" y="3619024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/>
          </p:nvCxnSpPr>
          <p:spPr>
            <a:xfrm>
              <a:off x="3322234" y="4047059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3108114" y="1305645"/>
            <a:ext cx="2967074" cy="943656"/>
            <a:chOff x="5199301" y="1144010"/>
            <a:chExt cx="2967074" cy="943656"/>
          </a:xfrm>
        </p:grpSpPr>
        <p:pic>
          <p:nvPicPr>
            <p:cNvPr id="10" name="图片 9" descr="图片包含 游戏机, 灯光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483"/>
            <a:stretch>
              <a:fillRect/>
            </a:stretch>
          </p:blipFill>
          <p:spPr>
            <a:xfrm>
              <a:off x="5199301" y="1144010"/>
              <a:ext cx="2967074" cy="943656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5750143" y="1432408"/>
              <a:ext cx="18297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第七章节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286968" y="4560724"/>
            <a:ext cx="776203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春天的象征是什么：桃花盛开，柳条垂拂。桃花盛开，垂柳依依，江南的春色很美。雨过天晴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split orient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片包含 正方形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403272" y="409451"/>
            <a:ext cx="5519652" cy="64485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471227" y="1677969"/>
            <a:ext cx="3637050" cy="37165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《行香子·树绕村庄》</a:t>
            </a:r>
          </a:p>
          <a:p>
            <a:pPr algn="ctr">
              <a:lnSpc>
                <a:spcPct val="130000"/>
              </a:lnSpc>
            </a:pPr>
            <a:r>
              <a:rPr lang="zh-CN" altLang="en-US" sz="2000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宋·秦观</a:t>
            </a: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树绕村庄，水满陂塘。</a:t>
            </a: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倚东风，豪兴徜徉。</a:t>
            </a: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小园几许，收尽春光。</a:t>
            </a: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有桃花红，李花白，菜花黄。</a:t>
            </a: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远远围墙，隐隐茅堂。</a:t>
            </a: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飏青旗，流水桥旁。</a:t>
            </a: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偶然乘兴，步过东冈。</a:t>
            </a:r>
          </a:p>
          <a:p>
            <a:pPr algn="ctr">
              <a:lnSpc>
                <a:spcPct val="13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正莺儿啼，燕儿舞，蝶儿忙。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5" name="图片 4" descr="图片包含 背景图案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最迷人的春日诗</a:t>
              </a:r>
            </a:p>
          </p:txBody>
        </p:sp>
      </p:grpSp>
      <p:pic>
        <p:nvPicPr>
          <p:cNvPr id="11" name="图片 10" descr="树上的叶子&#10;&#10;中度可信度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83545" y="1243161"/>
            <a:ext cx="4748968" cy="474896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/>
        </p:nvSpPr>
        <p:spPr>
          <a:xfrm>
            <a:off x="6096000" y="2003121"/>
            <a:ext cx="4900488" cy="784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在秦观笔下，春光明媚，万物竞发，是春天的主题。绿树绕着村庄，春水溢满池塘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096000" y="3165213"/>
            <a:ext cx="4784109" cy="69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沐浴着东风，带着豪兴我信步而行。小园很小，却收尽春光。桃花正红，李花雪白，菜花金黄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6095999" y="4479282"/>
            <a:ext cx="4784109" cy="69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远远一带围墙，隐约有几间茅草屋。青色的旗帜在风中飞扬，小桥矗立在溪水旁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4" name="图片 3" descr="图片包含 背景图案&#10;&#10;描述已自动生成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最迷人的春日诗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5885582" y="2779578"/>
            <a:ext cx="5293785" cy="437381"/>
            <a:chOff x="1422898" y="2563448"/>
            <a:chExt cx="5293785" cy="437381"/>
          </a:xfrm>
        </p:grpSpPr>
        <p:pic>
          <p:nvPicPr>
            <p:cNvPr id="15" name="图片 14" descr="电脑萤幕&#10;&#10;中度可信度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22898" y="2563448"/>
              <a:ext cx="2750091" cy="437381"/>
            </a:xfrm>
            <a:prstGeom prst="rect">
              <a:avLst/>
            </a:prstGeom>
          </p:spPr>
        </p:pic>
        <p:pic>
          <p:nvPicPr>
            <p:cNvPr id="16" name="图片 15" descr="电脑萤幕&#10;&#10;中度可信度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966592" y="2563448"/>
              <a:ext cx="2750091" cy="437381"/>
            </a:xfrm>
            <a:prstGeom prst="rect">
              <a:avLst/>
            </a:prstGeom>
          </p:spPr>
        </p:pic>
      </p:grpSp>
      <p:grpSp>
        <p:nvGrpSpPr>
          <p:cNvPr id="18" name="组合 17"/>
          <p:cNvGrpSpPr/>
          <p:nvPr/>
        </p:nvGrpSpPr>
        <p:grpSpPr>
          <a:xfrm>
            <a:off x="5885582" y="3944580"/>
            <a:ext cx="5293785" cy="437381"/>
            <a:chOff x="1422898" y="2563448"/>
            <a:chExt cx="5293785" cy="437381"/>
          </a:xfrm>
        </p:grpSpPr>
        <p:pic>
          <p:nvPicPr>
            <p:cNvPr id="19" name="图片 18" descr="电脑萤幕&#10;&#10;中度可信度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22898" y="2563448"/>
              <a:ext cx="2750091" cy="437381"/>
            </a:xfrm>
            <a:prstGeom prst="rect">
              <a:avLst/>
            </a:prstGeom>
          </p:spPr>
        </p:pic>
        <p:pic>
          <p:nvPicPr>
            <p:cNvPr id="20" name="图片 19" descr="电脑萤幕&#10;&#10;中度可信度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966592" y="2563448"/>
              <a:ext cx="2750091" cy="437381"/>
            </a:xfrm>
            <a:prstGeom prst="rect">
              <a:avLst/>
            </a:prstGeom>
          </p:spPr>
        </p:pic>
      </p:grpSp>
      <p:pic>
        <p:nvPicPr>
          <p:cNvPr id="22" name="图片 21" descr="一棵大树&#10;&#10;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flipH="1">
            <a:off x="1012633" y="2003121"/>
            <a:ext cx="4784108" cy="341643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7" grpId="0"/>
      <p:bldP spid="3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4" name="图片 3" descr="图片包含 背景图案&#10;&#10;描述已自动生成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最迷人的春日诗</a:t>
              </a: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555572" y="2192512"/>
            <a:ext cx="5083367" cy="69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偶然乘着游兴，走过东面的山冈。莺儿鸣啼，燕儿飞舞，蝶儿匆忙，一派大好春光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55573" y="3354604"/>
            <a:ext cx="5083367" cy="69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词的上片表现的是小园和色彩缤纷的春花的静态风景，下片则描写农家乡院以及莺歌燕舞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555572" y="4668673"/>
            <a:ext cx="5083368" cy="698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蝶儿翻飞的迷人春色。全词以白描的手法、浅近的语言，勾勒出了一幅春光明媚、万物竞发的田园风光图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345155" y="2968969"/>
            <a:ext cx="5293785" cy="437381"/>
            <a:chOff x="1422898" y="2563448"/>
            <a:chExt cx="5293785" cy="437381"/>
          </a:xfrm>
        </p:grpSpPr>
        <p:pic>
          <p:nvPicPr>
            <p:cNvPr id="12" name="图片 11" descr="电脑萤幕&#10;&#10;中度可信度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22898" y="2563448"/>
              <a:ext cx="2750091" cy="437381"/>
            </a:xfrm>
            <a:prstGeom prst="rect">
              <a:avLst/>
            </a:prstGeom>
          </p:spPr>
        </p:pic>
        <p:pic>
          <p:nvPicPr>
            <p:cNvPr id="13" name="图片 12" descr="电脑萤幕&#10;&#10;中度可信度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966592" y="2563448"/>
              <a:ext cx="2750091" cy="437381"/>
            </a:xfrm>
            <a:prstGeom prst="rect">
              <a:avLst/>
            </a:prstGeom>
          </p:spPr>
        </p:pic>
      </p:grpSp>
      <p:grpSp>
        <p:nvGrpSpPr>
          <p:cNvPr id="14" name="组合 13"/>
          <p:cNvGrpSpPr/>
          <p:nvPr/>
        </p:nvGrpSpPr>
        <p:grpSpPr>
          <a:xfrm>
            <a:off x="1345155" y="4133971"/>
            <a:ext cx="5293785" cy="437381"/>
            <a:chOff x="1422898" y="2563448"/>
            <a:chExt cx="5293785" cy="437381"/>
          </a:xfrm>
        </p:grpSpPr>
        <p:pic>
          <p:nvPicPr>
            <p:cNvPr id="15" name="图片 14" descr="电脑萤幕&#10;&#10;中度可信度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22898" y="2563448"/>
              <a:ext cx="2750091" cy="437381"/>
            </a:xfrm>
            <a:prstGeom prst="rect">
              <a:avLst/>
            </a:prstGeom>
          </p:spPr>
        </p:pic>
        <p:pic>
          <p:nvPicPr>
            <p:cNvPr id="16" name="图片 15" descr="电脑萤幕&#10;&#10;中度可信度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966592" y="2563448"/>
              <a:ext cx="2750091" cy="437381"/>
            </a:xfrm>
            <a:prstGeom prst="rect">
              <a:avLst/>
            </a:prstGeom>
          </p:spPr>
        </p:pic>
      </p:grpSp>
      <p:pic>
        <p:nvPicPr>
          <p:cNvPr id="18" name="图片 17" descr="图片包含 窗户, 大, 桌子, 绿色&#10;&#10;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996215" y="2164037"/>
            <a:ext cx="3951999" cy="3386484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桌子, 蛋糕, 华美&#10;&#10;描述已自动生成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84"/>
          <a:stretch>
            <a:fillRect/>
          </a:stretch>
        </p:blipFill>
        <p:spPr>
          <a:xfrm>
            <a:off x="-22411" y="0"/>
            <a:ext cx="1223682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08114" y="2300956"/>
            <a:ext cx="83620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ln w="3175">
                  <a:noFill/>
                </a:ln>
                <a:gradFill>
                  <a:gsLst>
                    <a:gs pos="100000">
                      <a:srgbClr val="016D59"/>
                    </a:gs>
                    <a:gs pos="0">
                      <a:srgbClr val="104F27"/>
                    </a:gs>
                  </a:gsLst>
                  <a:lin ang="7200000" scaled="0"/>
                </a:gradFill>
                <a:effectLst>
                  <a:outerShdw dist="38100" dir="18900000" algn="bl" rotWithShape="0">
                    <a:schemeClr val="bg1"/>
                  </a:outerShdw>
                </a:effectLst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rPr>
              <a:t>最欢快的春日词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286969" y="3852652"/>
            <a:ext cx="6984791" cy="428035"/>
            <a:chOff x="3322234" y="3619024"/>
            <a:chExt cx="6984791" cy="428035"/>
          </a:xfrm>
        </p:grpSpPr>
        <p:sp>
          <p:nvSpPr>
            <p:cNvPr id="5" name="文本框 4"/>
            <p:cNvSpPr txBox="1"/>
            <p:nvPr/>
          </p:nvSpPr>
          <p:spPr>
            <a:xfrm>
              <a:off x="3509266" y="3635649"/>
              <a:ext cx="67977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写尽人间春色，共赴春日盛宴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cxnSp>
          <p:nvCxnSpPr>
            <p:cNvPr id="6" name="直线连接符 5"/>
            <p:cNvCxnSpPr/>
            <p:nvPr/>
          </p:nvCxnSpPr>
          <p:spPr>
            <a:xfrm>
              <a:off x="3322234" y="3619024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/>
          </p:nvCxnSpPr>
          <p:spPr>
            <a:xfrm>
              <a:off x="3322234" y="4047059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3108114" y="1305645"/>
            <a:ext cx="2967074" cy="943656"/>
            <a:chOff x="5199301" y="1144010"/>
            <a:chExt cx="2967074" cy="943656"/>
          </a:xfrm>
        </p:grpSpPr>
        <p:pic>
          <p:nvPicPr>
            <p:cNvPr id="10" name="图片 9" descr="图片包含 游戏机, 灯光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483"/>
            <a:stretch>
              <a:fillRect/>
            </a:stretch>
          </p:blipFill>
          <p:spPr>
            <a:xfrm>
              <a:off x="5199301" y="1144010"/>
              <a:ext cx="2967074" cy="943656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5750143" y="1432408"/>
              <a:ext cx="18297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第八章节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286968" y="4560724"/>
            <a:ext cx="776203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春天的象征是什么：桃花盛开，柳条垂拂。桃花盛开，垂柳依依，江南的春色很美。雨过天晴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split orient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 descr="形状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86453" y="1978114"/>
            <a:ext cx="6056952" cy="3607723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081783" y="2508018"/>
            <a:ext cx="3466292" cy="2514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《春光好·迎春》</a:t>
            </a: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清·吴绮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春来也，是何时？没人知。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先到玉儿头上，袅花枝。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十二画楼帘卷，红妆笑语参差。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争向彩幡成队去，看朱衣。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5" name="图片 4" descr="图片包含 背景图案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最欢快的春日词</a:t>
              </a:r>
            </a:p>
          </p:txBody>
        </p:sp>
      </p:grpSp>
      <p:pic>
        <p:nvPicPr>
          <p:cNvPr id="14" name="图片 13" descr="卡通人物&#10;&#10;中度可信度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174" y="1243094"/>
            <a:ext cx="3678437" cy="519927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图片包含 建筑, 草, 街道, 桌子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contrast="20000"/>
                    </a14:imgEffect>
                    <a14:imgEffect>
                      <a14:colorTemperature colorTemp="88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4969" y="1243161"/>
            <a:ext cx="8362604" cy="4686734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044427" y="2118902"/>
            <a:ext cx="7334802" cy="868394"/>
          </a:xfrm>
          <a:prstGeom prst="roundRect">
            <a:avLst/>
          </a:prstGeom>
          <a:solidFill>
            <a:srgbClr val="2ABD94"/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春天的使者是谁？是燕子，还是春风呢？春已悄悄来到人间。来是何时？却无人知。词中不言陌头杨柳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44427" y="3269380"/>
            <a:ext cx="7334802" cy="868394"/>
          </a:xfrm>
          <a:prstGeom prst="roundRect">
            <a:avLst/>
          </a:prstGeom>
          <a:solidFill>
            <a:srgbClr val="2A9E4E"/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枝上杏花，却说年轻女子头上先已花枝袅袅。她们一边打扮，一边说笑，成群结队地争着去看那些新考中的青年才士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4427" y="4419858"/>
            <a:ext cx="7334802" cy="868394"/>
          </a:xfrm>
          <a:prstGeom prst="roundRect">
            <a:avLst/>
          </a:prstGeom>
          <a:solidFill>
            <a:srgbClr val="016D59"/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此词以欢快而又含蓄、热闹而又风雅的情趣，烘衬出春已降临人间，读来，让人兴味盎然，不觉莞尔</a:t>
            </a:r>
            <a:endParaRPr lang="en-US" altLang="zh-CN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4" name="图片 3" descr="图片包含 背景图案&#10;&#10;描述已自动生成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最欢快的春日词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2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桌子, 蛋糕, 华美&#10;&#10;描述已自动生成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84"/>
          <a:stretch>
            <a:fillRect/>
          </a:stretch>
        </p:blipFill>
        <p:spPr>
          <a:xfrm>
            <a:off x="-22411" y="0"/>
            <a:ext cx="1223682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08114" y="2300956"/>
            <a:ext cx="83620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ln w="3175">
                  <a:noFill/>
                </a:ln>
                <a:gradFill>
                  <a:gsLst>
                    <a:gs pos="100000">
                      <a:srgbClr val="016D59"/>
                    </a:gs>
                    <a:gs pos="0">
                      <a:srgbClr val="104F27"/>
                    </a:gs>
                  </a:gsLst>
                  <a:lin ang="7200000" scaled="0"/>
                </a:gradFill>
                <a:effectLst>
                  <a:outerShdw dist="38100" dir="18900000" algn="bl" rotWithShape="0">
                    <a:schemeClr val="bg1"/>
                  </a:outerShdw>
                </a:effectLst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rPr>
              <a:t>最明秀的春日词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286969" y="3852652"/>
            <a:ext cx="6984791" cy="428035"/>
            <a:chOff x="3322234" y="3619024"/>
            <a:chExt cx="6984791" cy="428035"/>
          </a:xfrm>
        </p:grpSpPr>
        <p:sp>
          <p:nvSpPr>
            <p:cNvPr id="5" name="文本框 4"/>
            <p:cNvSpPr txBox="1"/>
            <p:nvPr/>
          </p:nvSpPr>
          <p:spPr>
            <a:xfrm>
              <a:off x="3509266" y="3635649"/>
              <a:ext cx="67977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写尽人间春色，共赴春日盛宴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cxnSp>
          <p:nvCxnSpPr>
            <p:cNvPr id="6" name="直线连接符 5"/>
            <p:cNvCxnSpPr/>
            <p:nvPr/>
          </p:nvCxnSpPr>
          <p:spPr>
            <a:xfrm>
              <a:off x="3322234" y="3619024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/>
          </p:nvCxnSpPr>
          <p:spPr>
            <a:xfrm>
              <a:off x="3322234" y="4047059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3108114" y="1305645"/>
            <a:ext cx="2967074" cy="943656"/>
            <a:chOff x="5199301" y="1144010"/>
            <a:chExt cx="2967074" cy="943656"/>
          </a:xfrm>
        </p:grpSpPr>
        <p:pic>
          <p:nvPicPr>
            <p:cNvPr id="10" name="图片 9" descr="图片包含 游戏机, 灯光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483"/>
            <a:stretch>
              <a:fillRect/>
            </a:stretch>
          </p:blipFill>
          <p:spPr>
            <a:xfrm>
              <a:off x="5199301" y="1144010"/>
              <a:ext cx="2967074" cy="943656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5750143" y="1432408"/>
              <a:ext cx="18297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第九章节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286968" y="4560724"/>
            <a:ext cx="776203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春天的象征是什么：桃花盛开，柳条垂拂。桃花盛开，垂柳依依，江南的春色很美。雨过天晴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split orient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电脑屏幕的照片&#10;&#10;中度可信度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461370" y="1446414"/>
            <a:ext cx="6858000" cy="4389121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572711" y="2383642"/>
            <a:ext cx="4635318" cy="25146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《浣溪沙·水涨鱼天拍柳桥》</a:t>
            </a: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宋·周邦彦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水涨鱼天拍柳桥。云鸠拖雨过江皋。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一番春信入东郊。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闲碾凤团消短梦，静看燕子垒新巢。</a:t>
            </a:r>
          </a:p>
          <a:p>
            <a:pPr algn="ctr"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又移日影上花梢。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5" name="图片 4" descr="图片包含 背景图案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最明秀的春日词</a:t>
              </a:r>
            </a:p>
          </p:txBody>
        </p:sp>
      </p:grpSp>
      <p:pic>
        <p:nvPicPr>
          <p:cNvPr id="14" name="图片 13" descr="山上的风景&#10;&#10;低可信度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1163" y="1761984"/>
            <a:ext cx="4169209" cy="4169209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dur="2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5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背景图案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67442" y="1318184"/>
            <a:ext cx="8323811" cy="4664993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1226757" y="3777581"/>
            <a:ext cx="5107541" cy="1658836"/>
          </a:xfrm>
          <a:prstGeom prst="roundRect">
            <a:avLst/>
          </a:prstGeom>
          <a:solidFill>
            <a:srgbClr val="016D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226756" y="2198045"/>
            <a:ext cx="5107541" cy="1130097"/>
          </a:xfrm>
          <a:prstGeom prst="roundRect">
            <a:avLst/>
          </a:prstGeom>
          <a:solidFill>
            <a:schemeClr val="bg1">
              <a:alpha val="82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春日的风光，适合泡一杯茶，细细观赏。春来潮涨，鱼儿浮起，潮水拍打着柳桥。墨云行雨，起色如鸠，在江水之上，给郊外带来了春的消息。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1394087" y="3945888"/>
            <a:ext cx="4701913" cy="13415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我闲坐在屋内，沏一杯风团茶，想提一提神。看燕子飞来飞去重新筑着巢，日头升起，又看到了花的影子，每天空对着春光，时光白白流失。这是一首笔触细致而风格明秀的春日之作。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4" name="图片 3" descr="图片包含 背景图案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最明秀的春日词</a:t>
              </a: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" presetID="16" presetClass="entr" presetSubtype="37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6" presetClass="entr" presetSubtype="37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6" presetClass="entr" presetSubtype="37" dur="5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室内, 桌子, 蛋糕, 华美&#10;&#10;描述已自动生成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84"/>
          <a:stretch>
            <a:fillRect/>
          </a:stretch>
        </p:blipFill>
        <p:spPr>
          <a:xfrm>
            <a:off x="-22411" y="0"/>
            <a:ext cx="12236825" cy="6858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108114" y="2300956"/>
            <a:ext cx="836206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800" dirty="0">
                <a:ln w="3175">
                  <a:noFill/>
                </a:ln>
                <a:gradFill>
                  <a:gsLst>
                    <a:gs pos="100000">
                      <a:srgbClr val="016D59"/>
                    </a:gs>
                    <a:gs pos="0">
                      <a:srgbClr val="104F27"/>
                    </a:gs>
                  </a:gsLst>
                  <a:lin ang="7200000" scaled="0"/>
                </a:gradFill>
                <a:effectLst>
                  <a:outerShdw dist="38100" dir="18900000" algn="bl" rotWithShape="0">
                    <a:schemeClr val="bg1"/>
                  </a:outerShdw>
                </a:effectLst>
                <a:latin typeface="汉仪行楷简" panose="02010609000101010101" pitchFamily="49" charset="-122"/>
                <a:ea typeface="汉仪行楷简" panose="02010609000101010101" pitchFamily="49" charset="-122"/>
                <a:cs typeface="+mn-ea"/>
                <a:sym typeface="+mn-lt"/>
              </a:rPr>
              <a:t>最治愈的春日诗</a:t>
            </a:r>
          </a:p>
        </p:txBody>
      </p:sp>
      <p:grpSp>
        <p:nvGrpSpPr>
          <p:cNvPr id="14" name="组合 13"/>
          <p:cNvGrpSpPr/>
          <p:nvPr/>
        </p:nvGrpSpPr>
        <p:grpSpPr>
          <a:xfrm>
            <a:off x="3286969" y="3852652"/>
            <a:ext cx="6984791" cy="428035"/>
            <a:chOff x="3322234" y="3619024"/>
            <a:chExt cx="6984791" cy="428035"/>
          </a:xfrm>
        </p:grpSpPr>
        <p:sp>
          <p:nvSpPr>
            <p:cNvPr id="5" name="文本框 4"/>
            <p:cNvSpPr txBox="1"/>
            <p:nvPr/>
          </p:nvSpPr>
          <p:spPr>
            <a:xfrm>
              <a:off x="3509266" y="3635649"/>
              <a:ext cx="679775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写尽人间春色，共赴春日盛宴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cxnSp>
          <p:nvCxnSpPr>
            <p:cNvPr id="6" name="直线连接符 5"/>
            <p:cNvCxnSpPr/>
            <p:nvPr/>
          </p:nvCxnSpPr>
          <p:spPr>
            <a:xfrm>
              <a:off x="3322234" y="3619024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线连接符 7"/>
            <p:cNvCxnSpPr/>
            <p:nvPr/>
          </p:nvCxnSpPr>
          <p:spPr>
            <a:xfrm>
              <a:off x="3322234" y="4047059"/>
              <a:ext cx="6984791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3" name="组合 12"/>
          <p:cNvGrpSpPr/>
          <p:nvPr/>
        </p:nvGrpSpPr>
        <p:grpSpPr>
          <a:xfrm>
            <a:off x="3108114" y="1305645"/>
            <a:ext cx="2967074" cy="943656"/>
            <a:chOff x="5199301" y="1144010"/>
            <a:chExt cx="2967074" cy="943656"/>
          </a:xfrm>
        </p:grpSpPr>
        <p:pic>
          <p:nvPicPr>
            <p:cNvPr id="10" name="图片 9" descr="图片包含 游戏机, 灯光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 r="-483"/>
            <a:stretch>
              <a:fillRect/>
            </a:stretch>
          </p:blipFill>
          <p:spPr>
            <a:xfrm>
              <a:off x="5199301" y="1144010"/>
              <a:ext cx="2967074" cy="943656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5750143" y="1432408"/>
              <a:ext cx="182971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第十章节</a:t>
              </a:r>
              <a:endParaRPr lang="zh-CN" altLang="en-US" sz="24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3286968" y="4560724"/>
            <a:ext cx="7762031" cy="3774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春天的象征是什么：桃花盛开，柳条垂拂。桃花盛开，垂柳依依，江南的春色很美。雨过天晴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0">
        <p:split orient="vert"/>
      </p:transition>
    </mc:Choice>
    <mc:Fallback xmlns:p159="http://schemas.microsoft.com/office/powerpoint/2015/09/main" xmlns:p15="http://schemas.microsoft.com/office/powerpoint/2012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文本, 白板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77414" y="644146"/>
            <a:ext cx="5820829" cy="5820829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882339" y="1899042"/>
            <a:ext cx="3210978" cy="33110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>
              <a:lnSpc>
                <a:spcPct val="200000"/>
              </a:lnSpc>
            </a:pPr>
            <a:r>
              <a:rPr lang="zh-CN" altLang="en-US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《立春偶成》</a:t>
            </a:r>
          </a:p>
          <a:p>
            <a:pPr algn="ctr">
              <a:lnSpc>
                <a:spcPct val="200000"/>
              </a:lnSpc>
            </a:pPr>
            <a:r>
              <a:rPr lang="zh-CN" altLang="en-US" b="1" dirty="0">
                <a:solidFill>
                  <a:srgbClr val="104F2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宋·张栻</a:t>
            </a: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律回岁晚冰霜少，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春到人间草木知。</a:t>
            </a: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便觉眼前生意满，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algn="ctr"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东风吹水绿参差。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5" name="图片 4" descr="图片包含 背景图案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最治愈的春日诗</a:t>
              </a:r>
            </a:p>
          </p:txBody>
        </p:sp>
      </p:grpSp>
      <p:pic>
        <p:nvPicPr>
          <p:cNvPr id="14" name="图片 13" descr="图片包含 桌子, 蛋糕, 游戏机, 显示器&#10;&#10;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39874" y="1667554"/>
            <a:ext cx="4269028" cy="4269028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片 23" descr="文本&#10;&#10;描述已自动生成"/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37953" y="1243162"/>
            <a:ext cx="6975763" cy="5050884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180248" y="2495300"/>
            <a:ext cx="4519810" cy="1154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立春之时，北方仍是冰天雪地，南方已是冰霜稀少，草木发青，略见春意了，风也暖了，水也绿了。这首诗是诗人在立春日无限兴奋喜悦时所作。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180248" y="4116770"/>
            <a:ext cx="4519810" cy="784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作者描写了一派生机勃勃的春日图景，表现出对欣欣向荣之景的渴望。首句写立春时刻冰雪消融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4" name="图片 3" descr="图片包含 背景图案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最治愈的春日诗</a:t>
              </a:r>
            </a:p>
          </p:txBody>
        </p:sp>
      </p:grpSp>
      <p:pic>
        <p:nvPicPr>
          <p:cNvPr id="28" name="图片 27" descr="卡通人物&#10;&#10;中度可信度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73238" y="1777754"/>
            <a:ext cx="3981700" cy="39817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13785" y="45132"/>
            <a:ext cx="4755548" cy="1198029"/>
            <a:chOff x="213785" y="45132"/>
            <a:chExt cx="4755548" cy="1198029"/>
          </a:xfrm>
        </p:grpSpPr>
        <p:pic>
          <p:nvPicPr>
            <p:cNvPr id="4" name="图片 3" descr="图片包含 背景图案&#10;&#10;描述已自动生成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13785" y="45132"/>
              <a:ext cx="1198029" cy="1198029"/>
            </a:xfrm>
            <a:prstGeom prst="rect">
              <a:avLst/>
            </a:prstGeom>
          </p:spPr>
        </p:pic>
        <p:sp>
          <p:nvSpPr>
            <p:cNvPr id="22" name="文本框 21"/>
            <p:cNvSpPr txBox="1"/>
            <p:nvPr/>
          </p:nvSpPr>
          <p:spPr>
            <a:xfrm>
              <a:off x="1411814" y="563955"/>
              <a:ext cx="3557519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2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行楷简" panose="02010609000101010101" pitchFamily="49" charset="-122"/>
                  <a:ea typeface="汉仪行楷简" panose="02010609000101010101" pitchFamily="49" charset="-122"/>
                  <a:cs typeface="+mn-ea"/>
                  <a:sym typeface="+mn-lt"/>
                </a:rPr>
                <a:t>最治愈的春日诗</a:t>
              </a:r>
            </a:p>
          </p:txBody>
        </p:sp>
      </p:grpSp>
      <p:pic>
        <p:nvPicPr>
          <p:cNvPr id="2" name="图片 1" descr="文本&#10;&#10;描述已自动生成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362797" y="1243162"/>
            <a:ext cx="6975763" cy="5050884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605092" y="2495300"/>
            <a:ext cx="4519810" cy="11568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年终时候春回大地，冰霜渐渐减少，春天到来草木是最先知晓。只觉得眼前已是一片生机盎然，东风吹来水面绿波荡摇。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5605092" y="3892142"/>
            <a:ext cx="4519810" cy="1154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次句以拟人手法写树木感觉到春天的气息。后两句是诗人的想象，诗人仿佛看到眼前处处春风明媚，碧波荡漾。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25" name="图片 24" descr="徽标&#10;&#10;描述已自动生成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7404" y="1631762"/>
            <a:ext cx="4520760" cy="4520760"/>
          </a:xfrm>
          <a:prstGeom prst="rect">
            <a:avLst/>
          </a:prstGeom>
        </p:spPr>
      </p:pic>
      <p:sp>
        <p:nvSpPr>
          <p:cNvPr id="8" name="TextBox 4"/>
          <p:cNvSpPr txBox="1"/>
          <p:nvPr/>
        </p:nvSpPr>
        <p:spPr>
          <a:xfrm>
            <a:off x="0" y="5"/>
            <a:ext cx="604867" cy="1332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35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ageCurlDouble"/>
      </p:transition>
    </mc:Choice>
    <mc:Fallback xmlns:p159="http://schemas.microsoft.com/office/powerpoint/2015/09/main" xmlns:p14="http://schemas.microsoft.com/office/powerpoint/2010/main" xmlns:a14="http://schemas.microsoft.com/office/drawing/2010/main" xmlns:wp="http://schemas.openxmlformats.org/drawingml/2006/wordprocessingDrawing" xmlns:w="http://schemas.openxmlformats.org/wordprocessingml/2006/main" xmlns:m="http://schemas.openxmlformats.org/officeDocument/2006/math"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在水里&#10;&#10;中度可信度描述已自动生成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12192001" cy="6857999"/>
          </a:xfrm>
          <a:prstGeom prst="rect">
            <a:avLst/>
          </a:prstGeom>
          <a:effectLst>
            <a:outerShdw blurRad="50800" dist="38100" dir="2700000" algn="tl" rotWithShape="0">
              <a:schemeClr val="bg2">
                <a:lumMod val="25000"/>
                <a:alpha val="40000"/>
              </a:schemeClr>
            </a:outerShdw>
          </a:effectLst>
        </p:spPr>
      </p:pic>
      <p:sp>
        <p:nvSpPr>
          <p:cNvPr id="7" name="文本框 6"/>
          <p:cNvSpPr txBox="1"/>
          <p:nvPr/>
        </p:nvSpPr>
        <p:spPr>
          <a:xfrm>
            <a:off x="2801370" y="4566217"/>
            <a:ext cx="6867528" cy="308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春天的象征是什么：桃花盛开，柳条垂拂。桃花盛开，垂柳依依，江南的春色很美。雨过天晴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1451499" y="317136"/>
            <a:ext cx="9056736" cy="3297675"/>
            <a:chOff x="1126261" y="32998"/>
            <a:chExt cx="9056736" cy="3297675"/>
          </a:xfrm>
        </p:grpSpPr>
        <p:sp>
          <p:nvSpPr>
            <p:cNvPr id="6" name="文本框 5"/>
            <p:cNvSpPr txBox="1"/>
            <p:nvPr/>
          </p:nvSpPr>
          <p:spPr>
            <a:xfrm>
              <a:off x="3824555" y="2961341"/>
              <a:ext cx="414117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>
                  <a:solidFill>
                    <a:schemeClr val="tx1">
                      <a:lumMod val="85000"/>
                      <a:lumOff val="15000"/>
                    </a:schemeClr>
                  </a:solidFill>
                  <a:latin typeface="HYXingYuTiJ" pitchFamily="18" charset="-122"/>
                  <a:ea typeface="HYXingYuTiJ" pitchFamily="18" charset="-122"/>
                  <a:cs typeface="+mn-ea"/>
                  <a:sym typeface="+mn-lt"/>
                </a:rPr>
                <a:t>写尽人间春色，共赴春日盛宴</a:t>
              </a:r>
              <a:endParaRPr lang="zh-CN" altLang="en-US">
                <a:solidFill>
                  <a:schemeClr val="tx1">
                    <a:lumMod val="85000"/>
                    <a:lumOff val="15000"/>
                  </a:schemeClr>
                </a:solidFill>
                <a:latin typeface="HYXingYuTiJ" pitchFamily="18" charset="-122"/>
                <a:ea typeface="HYXingYuTiJ" pitchFamily="18" charset="-122"/>
              </a:endParaRPr>
            </a:p>
          </p:txBody>
        </p:sp>
        <p:grpSp>
          <p:nvGrpSpPr>
            <p:cNvPr id="13" name="组合 12"/>
            <p:cNvGrpSpPr/>
            <p:nvPr/>
          </p:nvGrpSpPr>
          <p:grpSpPr>
            <a:xfrm>
              <a:off x="1955731" y="570744"/>
              <a:ext cx="8227266" cy="2708434"/>
              <a:chOff x="2425434" y="619025"/>
              <a:chExt cx="8227266" cy="2708434"/>
            </a:xfrm>
          </p:grpSpPr>
          <p:sp>
            <p:nvSpPr>
              <p:cNvPr id="8" name="文本框 7"/>
              <p:cNvSpPr txBox="1"/>
              <p:nvPr/>
            </p:nvSpPr>
            <p:spPr>
              <a:xfrm>
                <a:off x="2425434" y="1032395"/>
                <a:ext cx="2391395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3800" dirty="0">
                    <a:ln>
                      <a:solidFill>
                        <a:schemeClr val="bg1"/>
                      </a:solidFill>
                    </a:ln>
                    <a:gradFill>
                      <a:gsLst>
                        <a:gs pos="76000">
                          <a:srgbClr val="2A9E4E"/>
                        </a:gs>
                        <a:gs pos="0">
                          <a:srgbClr val="2ABD94"/>
                        </a:gs>
                      </a:gsLst>
                      <a:lin ang="7200000" scaled="0"/>
                    </a:gradFill>
                    <a:effectLst>
                      <a:outerShdw blurRad="68795" dist="38100" dir="2700000" algn="tl" rotWithShape="0">
                        <a:srgbClr val="104F27">
                          <a:alpha val="64896"/>
                        </a:srgbClr>
                      </a:outerShdw>
                    </a:effectLst>
                    <a:latin typeface="汉仪行楷简" panose="02010609000101010101" pitchFamily="49" charset="-122"/>
                    <a:ea typeface="汉仪行楷简" panose="02010609000101010101" pitchFamily="49" charset="-122"/>
                  </a:rPr>
                  <a:t>春</a:t>
                </a:r>
              </a:p>
            </p:txBody>
          </p:sp>
          <p:sp>
            <p:nvSpPr>
              <p:cNvPr id="9" name="文本框 8"/>
              <p:cNvSpPr txBox="1"/>
              <p:nvPr/>
            </p:nvSpPr>
            <p:spPr>
              <a:xfrm>
                <a:off x="3838334" y="886868"/>
                <a:ext cx="2391395" cy="24006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5000" dirty="0">
                    <a:ln>
                      <a:solidFill>
                        <a:schemeClr val="bg1"/>
                      </a:solidFill>
                    </a:ln>
                    <a:gradFill flip="none" rotWithShape="1">
                      <a:gsLst>
                        <a:gs pos="76000">
                          <a:srgbClr val="2A9E4E"/>
                        </a:gs>
                        <a:gs pos="0">
                          <a:srgbClr val="2ABD94"/>
                        </a:gs>
                      </a:gsLst>
                      <a:lin ang="7200000" scaled="0"/>
                    </a:gradFill>
                    <a:effectLst>
                      <a:outerShdw blurRad="68795" dist="38100" dir="2700000" algn="tl" rotWithShape="0">
                        <a:srgbClr val="104F27">
                          <a:alpha val="64896"/>
                        </a:srgbClr>
                      </a:outerShdw>
                    </a:effectLst>
                    <a:latin typeface="汉仪行楷简" panose="02010609000101010101" pitchFamily="49" charset="-122"/>
                    <a:ea typeface="汉仪行楷简" panose="02010609000101010101" pitchFamily="49" charset="-122"/>
                  </a:rPr>
                  <a:t>天</a:t>
                </a:r>
              </a:p>
            </p:txBody>
          </p:sp>
          <p:sp>
            <p:nvSpPr>
              <p:cNvPr id="11" name="文本框 10"/>
              <p:cNvSpPr txBox="1"/>
              <p:nvPr/>
            </p:nvSpPr>
            <p:spPr>
              <a:xfrm>
                <a:off x="6511525" y="619025"/>
                <a:ext cx="2391395" cy="270843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7000" dirty="0">
                    <a:ln>
                      <a:solidFill>
                        <a:schemeClr val="bg1"/>
                      </a:solidFill>
                    </a:ln>
                    <a:gradFill>
                      <a:gsLst>
                        <a:gs pos="76000">
                          <a:srgbClr val="2A9E4E"/>
                        </a:gs>
                        <a:gs pos="0">
                          <a:srgbClr val="2ABD94"/>
                        </a:gs>
                      </a:gsLst>
                      <a:lin ang="7200000" scaled="0"/>
                    </a:gradFill>
                    <a:effectLst>
                      <a:outerShdw blurRad="68795" dist="38100" dir="2700000" algn="tl" rotWithShape="0">
                        <a:srgbClr val="104F27">
                          <a:alpha val="64896"/>
                        </a:srgbClr>
                      </a:outerShdw>
                    </a:effectLst>
                    <a:latin typeface="汉仪行楷简" panose="02010609000101010101" pitchFamily="49" charset="-122"/>
                    <a:ea typeface="汉仪行楷简" panose="02010609000101010101" pitchFamily="49" charset="-122"/>
                  </a:rPr>
                  <a:t>古</a:t>
                </a:r>
              </a:p>
            </p:txBody>
          </p:sp>
          <p:sp>
            <p:nvSpPr>
              <p:cNvPr id="10" name="文本框 9"/>
              <p:cNvSpPr txBox="1"/>
              <p:nvPr/>
            </p:nvSpPr>
            <p:spPr>
              <a:xfrm>
                <a:off x="5377471" y="990133"/>
                <a:ext cx="2391395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3800" dirty="0">
                    <a:ln>
                      <a:solidFill>
                        <a:schemeClr val="bg1"/>
                      </a:solidFill>
                    </a:ln>
                    <a:gradFill flip="none" rotWithShape="1">
                      <a:gsLst>
                        <a:gs pos="76000">
                          <a:srgbClr val="2A9E4E"/>
                        </a:gs>
                        <a:gs pos="0">
                          <a:srgbClr val="2ABD94"/>
                        </a:gs>
                      </a:gsLst>
                      <a:lin ang="7200000" scaled="0"/>
                    </a:gradFill>
                    <a:effectLst>
                      <a:outerShdw blurRad="68795" dist="38100" dir="2700000" algn="tl" rotWithShape="0">
                        <a:srgbClr val="104F27">
                          <a:alpha val="64896"/>
                        </a:srgbClr>
                      </a:outerShdw>
                    </a:effectLst>
                    <a:latin typeface="汉仪行楷简" panose="02010609000101010101" pitchFamily="49" charset="-122"/>
                    <a:ea typeface="汉仪行楷简" panose="02010609000101010101" pitchFamily="49" charset="-122"/>
                  </a:rPr>
                  <a:t>的</a:t>
                </a:r>
              </a:p>
            </p:txBody>
          </p:sp>
          <p:sp>
            <p:nvSpPr>
              <p:cNvPr id="12" name="文本框 11"/>
              <p:cNvSpPr txBox="1"/>
              <p:nvPr/>
            </p:nvSpPr>
            <p:spPr>
              <a:xfrm>
                <a:off x="8261305" y="945840"/>
                <a:ext cx="2391395" cy="22159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zh-CN" altLang="en-US" sz="13800" dirty="0">
                    <a:ln>
                      <a:solidFill>
                        <a:schemeClr val="bg1"/>
                      </a:solidFill>
                    </a:ln>
                    <a:gradFill>
                      <a:gsLst>
                        <a:gs pos="76000">
                          <a:srgbClr val="2A9E4E"/>
                        </a:gs>
                        <a:gs pos="0">
                          <a:srgbClr val="2ABD94"/>
                        </a:gs>
                      </a:gsLst>
                      <a:lin ang="7200000" scaled="0"/>
                    </a:gradFill>
                    <a:effectLst>
                      <a:outerShdw blurRad="68795" dist="38100" dir="2700000" algn="tl" rotWithShape="0">
                        <a:srgbClr val="104F27">
                          <a:alpha val="64896"/>
                        </a:srgbClr>
                      </a:outerShdw>
                    </a:effectLst>
                    <a:latin typeface="汉仪行楷简" panose="02010609000101010101" pitchFamily="49" charset="-122"/>
                    <a:ea typeface="汉仪行楷简" panose="02010609000101010101" pitchFamily="49" charset="-122"/>
                  </a:rPr>
                  <a:t>诗</a:t>
                </a:r>
              </a:p>
            </p:txBody>
          </p:sp>
        </p:grpSp>
        <p:pic>
          <p:nvPicPr>
            <p:cNvPr id="19" name="图片 18" descr="图片包含 游戏机&#10;&#10;描述已自动生成"/>
            <p:cNvPicPr>
              <a:picLocks noChangeAspect="1"/>
            </p:cNvPicPr>
            <p:nvPr/>
          </p:nvPicPr>
          <p:blipFill>
            <a:blip r:embed="rId3" cstate="email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92132" y="630468"/>
              <a:ext cx="852694" cy="852694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/>
          </p:nvSpPr>
          <p:spPr>
            <a:xfrm>
              <a:off x="7707277" y="797544"/>
              <a:ext cx="461665" cy="792000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r>
                <a:rPr kumimoji="1" lang="zh-CN" altLang="en-US" dirty="0">
                  <a:solidFill>
                    <a:schemeClr val="bg1"/>
                  </a:solidFill>
                  <a:latin typeface="华文新魏" panose="02010800040101010101" pitchFamily="2" charset="-122"/>
                  <a:ea typeface="华文新魏" panose="02010800040101010101" pitchFamily="2" charset="-122"/>
                </a:rPr>
                <a:t>春天</a:t>
              </a:r>
            </a:p>
          </p:txBody>
        </p:sp>
        <p:pic>
          <p:nvPicPr>
            <p:cNvPr id="22" name="图片 21" descr="蓝色的鸟&#10;&#10;描述已自动生成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126261" y="553773"/>
              <a:ext cx="1835352" cy="1529460"/>
            </a:xfrm>
            <a:prstGeom prst="rect">
              <a:avLst/>
            </a:prstGeom>
          </p:spPr>
        </p:pic>
        <p:pic>
          <p:nvPicPr>
            <p:cNvPr id="24" name="图片 23" descr="文本&#10;&#10;低可信度描述已自动生成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3428390" y="32998"/>
              <a:ext cx="3562451" cy="1350946"/>
            </a:xfrm>
            <a:prstGeom prst="rect">
              <a:avLst/>
            </a:prstGeom>
          </p:spPr>
        </p:pic>
        <p:pic>
          <p:nvPicPr>
            <p:cNvPr id="25" name="图片 24" descr="文本&#10;&#10;低可信度描述已自动生成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6454641" y="1762374"/>
              <a:ext cx="1827539" cy="1125973"/>
            </a:xfrm>
            <a:prstGeom prst="rect">
              <a:avLst/>
            </a:prstGeom>
          </p:spPr>
        </p:pic>
      </p:grpSp>
      <p:grpSp>
        <p:nvGrpSpPr>
          <p:cNvPr id="33" name="组合 32"/>
          <p:cNvGrpSpPr/>
          <p:nvPr/>
        </p:nvGrpSpPr>
        <p:grpSpPr>
          <a:xfrm>
            <a:off x="2801370" y="3836035"/>
            <a:ext cx="6732136" cy="512375"/>
            <a:chOff x="2557463" y="4355649"/>
            <a:chExt cx="6732136" cy="512375"/>
          </a:xfrm>
        </p:grpSpPr>
        <p:cxnSp>
          <p:nvCxnSpPr>
            <p:cNvPr id="30" name="直线连接符 29"/>
            <p:cNvCxnSpPr/>
            <p:nvPr/>
          </p:nvCxnSpPr>
          <p:spPr>
            <a:xfrm>
              <a:off x="2557463" y="4355649"/>
              <a:ext cx="6732136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文本框 30"/>
            <p:cNvSpPr txBox="1"/>
            <p:nvPr/>
          </p:nvSpPr>
          <p:spPr>
            <a:xfrm>
              <a:off x="2760092" y="4455665"/>
              <a:ext cx="64079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华文新魏" panose="02010800040101010101" pitchFamily="2" charset="-122"/>
                  <a:ea typeface="华文新魏" panose="02010800040101010101" pitchFamily="2" charset="-122"/>
                  <a:cs typeface="+mn-ea"/>
                  <a:sym typeface="+mn-lt"/>
                </a:rPr>
                <a:t>教师公开课｜示范课｜语文课件</a:t>
              </a:r>
              <a:endPara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华文新魏" panose="02010800040101010101" pitchFamily="2" charset="-122"/>
                <a:ea typeface="华文新魏" panose="02010800040101010101" pitchFamily="2" charset="-122"/>
              </a:endParaRPr>
            </a:p>
          </p:txBody>
        </p:sp>
        <p:cxnSp>
          <p:nvCxnSpPr>
            <p:cNvPr id="32" name="直线连接符 31"/>
            <p:cNvCxnSpPr/>
            <p:nvPr/>
          </p:nvCxnSpPr>
          <p:spPr>
            <a:xfrm>
              <a:off x="2557463" y="4868024"/>
              <a:ext cx="6732136" cy="0"/>
            </a:xfrm>
            <a:prstGeom prst="line">
              <a:avLst/>
            </a:prstGeom>
            <a:ln>
              <a:solidFill>
                <a:srgbClr val="104F27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3852345" y="5182025"/>
            <a:ext cx="1980144" cy="408987"/>
            <a:chOff x="5107197" y="5250061"/>
            <a:chExt cx="1980144" cy="408987"/>
          </a:xfrm>
        </p:grpSpPr>
        <p:sp>
          <p:nvSpPr>
            <p:cNvPr id="34" name="圆角矩形 33"/>
            <p:cNvSpPr/>
            <p:nvPr/>
          </p:nvSpPr>
          <p:spPr>
            <a:xfrm>
              <a:off x="5107197" y="5250061"/>
              <a:ext cx="1950163" cy="401308"/>
            </a:xfrm>
            <a:prstGeom prst="roundRect">
              <a:avLst/>
            </a:prstGeom>
            <a:gradFill flip="none" rotWithShape="1">
              <a:gsLst>
                <a:gs pos="100000">
                  <a:srgbClr val="9ED4A8"/>
                </a:gs>
                <a:gs pos="31000">
                  <a:srgbClr val="2ABD94"/>
                </a:gs>
              </a:gsLst>
              <a:lin ang="2700000" scaled="1"/>
            </a:gradFill>
            <a:ln>
              <a:noFill/>
            </a:ln>
            <a:effectLst>
              <a:outerShdw blurRad="50800" dist="381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5107197" y="5258938"/>
              <a:ext cx="19801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教师：第一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PPT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359512" y="5182025"/>
            <a:ext cx="1950163" cy="408987"/>
            <a:chOff x="5107197" y="5250061"/>
            <a:chExt cx="1950163" cy="408987"/>
          </a:xfrm>
        </p:grpSpPr>
        <p:sp>
          <p:nvSpPr>
            <p:cNvPr id="3" name="圆角矩形 2"/>
            <p:cNvSpPr/>
            <p:nvPr/>
          </p:nvSpPr>
          <p:spPr>
            <a:xfrm>
              <a:off x="5107197" y="5250061"/>
              <a:ext cx="1950163" cy="401308"/>
            </a:xfrm>
            <a:prstGeom prst="roundRect">
              <a:avLst/>
            </a:prstGeom>
            <a:gradFill flip="none" rotWithShape="1">
              <a:gsLst>
                <a:gs pos="100000">
                  <a:srgbClr val="9ED4A8"/>
                </a:gs>
                <a:gs pos="31000">
                  <a:srgbClr val="2ABD94"/>
                </a:gs>
              </a:gsLst>
              <a:lin ang="2700000" scaled="1"/>
            </a:gradFill>
            <a:ln>
              <a:noFill/>
            </a:ln>
            <a:effectLst>
              <a:outerShdw blurRad="50800" dist="38100" dir="2700000" algn="tl" rotWithShape="0">
                <a:schemeClr val="bg2">
                  <a:lumMod val="25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5259101" y="5258938"/>
              <a:ext cx="16737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时间：</a:t>
              </a:r>
              <a:r>
                <a:rPr lang="en-US" altLang="zh-CN" sz="20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202X</a:t>
              </a:r>
              <a:endParaRPr lang="zh-CN" altLang="en-US" sz="2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 advTm="9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dur="1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063552" y="4437112"/>
            <a:ext cx="9025003" cy="21602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FFFFFF"/>
                </a:solidFill>
                <a:latin typeface="Calibri"/>
                <a:ea typeface="+mn-ea"/>
                <a:cs typeface="+mn-cs"/>
              </a:defRPr>
            </a:lvl9pPr>
          </a:lstStyle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www.1ppt.com/moban/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3"/>
              </a:rPr>
              <a:t>www.1ppt.com/hangye/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节日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4"/>
              </a:rPr>
              <a:t>www.1ppt.com/jieri/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素材：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5"/>
              </a:rPr>
              <a:t>www.1ppt.com/sucai/</a:t>
            </a:r>
            <a:endParaRPr lang="en-US" altLang="zh-CN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背景图片：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6"/>
              </a:rPr>
              <a:t>www.1ppt.com/beijing/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7"/>
              </a:rPr>
              <a:t>www.1ppt.com/tubiao/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优秀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下载：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8"/>
              </a:rPr>
              <a:t>www.1ppt.com/xiazai/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教程：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9"/>
              </a:rPr>
              <a:t>www.1ppt.com/powerpoint/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</a:t>
            </a:r>
          </a:p>
          <a:p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Word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0"/>
              </a:rPr>
              <a:t>www.1ppt.com/word/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Excel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模板：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1"/>
              </a:rPr>
              <a:t>www.1ppt.com/excel/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个人简历：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2"/>
              </a:rPr>
              <a:t>www.1ppt.com/jianli/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  PPT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课件：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3"/>
              </a:rPr>
              <a:t>www.1ppt.com/kejian/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手抄报：    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4"/>
              </a:rPr>
              <a:t>www.1ppt.com/shouchaobao/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试题下载：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5"/>
              </a:rPr>
              <a:t>www.1ppt.com/shiti/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</a:p>
          <a:p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教案下载：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6"/>
              </a:rPr>
              <a:t>www.1ppt.com/jiaoan/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     </a:t>
            </a:r>
            <a:r>
              <a:rPr lang="zh-CN" altLang="en-US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字体下载：      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17"/>
              </a:rPr>
              <a:t>www.1ppt.com/ziti/</a:t>
            </a:r>
            <a:r>
              <a:rPr lang="en-US" altLang="zh-CN" sz="1465">
                <a:solidFill>
                  <a:srgbClr val="EEECE1">
                    <a:lumMod val="2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</a:t>
            </a:r>
            <a:endParaRPr lang="zh-CN" altLang="en-US" sz="1465">
              <a:solidFill>
                <a:srgbClr val="EEECE1">
                  <a:lumMod val="25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ectangle 17"/>
          <p:cNvSpPr>
            <a:spLocks noChangeArrowheads="1"/>
          </p:cNvSpPr>
          <p:nvPr/>
        </p:nvSpPr>
        <p:spPr bwMode="gray">
          <a:xfrm>
            <a:off x="0" y="2998276"/>
            <a:ext cx="12192000" cy="136682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  <a:miter lim="800000"/>
          </a:ln>
        </p:spPr>
        <p:txBody>
          <a:bodyPr wrap="none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endParaRPr lang="zh-CN" altLang="en-US" sz="2400" kern="0">
              <a:solidFill>
                <a:srgbClr val="005397"/>
              </a:solidFill>
              <a:latin typeface="Arial"/>
              <a:ea typeface="微软雅黑" panose="020B0503020204020204" pitchFamily="34" charset="-122"/>
            </a:endParaRPr>
          </a:p>
        </p:txBody>
      </p:sp>
      <p:sp>
        <p:nvSpPr>
          <p:cNvPr id="15" name="Rectangle 3"/>
          <p:cNvSpPr>
            <a:spLocks noChangeArrowheads="1"/>
          </p:cNvSpPr>
          <p:nvPr/>
        </p:nvSpPr>
        <p:spPr bwMode="auto">
          <a:xfrm>
            <a:off x="540251" y="3097353"/>
            <a:ext cx="5471583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可以在下列情况使用</a:t>
            </a:r>
            <a:endParaRPr lang="zh-CN" altLang="en-US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个人学习、研究。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拷贝模板中的内容用于其它幻灯片母版中使用。</a:t>
            </a:r>
          </a:p>
        </p:txBody>
      </p:sp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6107840" y="3097353"/>
            <a:ext cx="5471584" cy="1195751"/>
          </a:xfrm>
          <a:prstGeom prst="rect">
            <a:avLst/>
          </a:prstGeom>
          <a:noFill/>
          <a:ln w="3175" algn="ctr">
            <a:noFill/>
            <a:prstDash val="dash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20000"/>
              </a:spcBef>
              <a:buClr>
                <a:srgbClr val="5B8CC1"/>
              </a:buClr>
              <a:buFont typeface="Wingdings" panose="05000000000000000000" pitchFamily="2" charset="2"/>
              <a:buNone/>
              <a:defRPr/>
            </a:pPr>
            <a:r>
              <a:rPr lang="zh-CN" altLang="en-US" sz="2400" b="1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不可以在以下情况使用</a:t>
            </a:r>
            <a:endParaRPr lang="zh-CN" altLang="en-US" sz="1335" b="1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任何形式的在线付费下载。</a:t>
            </a:r>
          </a:p>
          <a:p>
            <a:pPr>
              <a:lnSpc>
                <a:spcPct val="150000"/>
              </a:lnSpc>
              <a:buClr>
                <a:srgbClr val="5B8CC1"/>
              </a:buClr>
              <a:buFont typeface="Wingdings" panose="05000000000000000000" pitchFamily="2" charset="2"/>
              <a:buChar char="n"/>
              <a:defRPr/>
            </a:pPr>
            <a:r>
              <a:rPr lang="zh-CN" altLang="en-US" sz="1465" kern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网络转载、线上线下传播。</a:t>
            </a:r>
            <a:endParaRPr lang="zh-CN" altLang="en-GB" sz="1465" kern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1947382" y="-404505"/>
            <a:ext cx="7893049" cy="34027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墨迹 6"/>
          <p:cNvPicPr/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715569" y="629060"/>
            <a:ext cx="48000" cy="21600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11.14"/>
  <p:tag name="AS_TITLE" val="Aspose.Slides for .NET 4.0 Client Profile"/>
  <p:tag name="AS_VERSION" val="22.1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SLIDE_ID" val="150995295"/>
  <p:tag name="KSO_WM_SLIDE_INDEX" val="48"/>
  <p:tag name="KSO_WM_SLIDE_ITEM_CNT" val="1"/>
  <p:tag name="KSO_WM_SLIDE_LAYOUT" val="f"/>
  <p:tag name="KSO_WM_SLIDE_LAYOUT_CNT" val="1"/>
  <p:tag name="KSO_WM_SLIDE_POSITION" val="87*63"/>
  <p:tag name="KSO_WM_SLIDE_SIZE" val="785*407"/>
  <p:tag name="KSO_WM_SLIDE_TYPE" val="text"/>
  <p:tag name="KSO_WM_TAG_VERSION" val="1.0"/>
  <p:tag name="KSO_WM_TEMPLATE_CATEGORY" val="preset"/>
  <p:tag name="KSO_WM_TEMPLATE_INDEX" val="201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第一PPT，www.1ppt.com 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宋体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等线 Light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等线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</Template>
  <TotalTime>15</TotalTime>
  <Words>2702</Words>
  <Application>Microsoft Office PowerPoint</Application>
  <PresentationFormat>宽屏</PresentationFormat>
  <Paragraphs>222</Paragraphs>
  <Slides>36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HYXingYuTiJ</vt:lpstr>
      <vt:lpstr>汉仪行楷简</vt:lpstr>
      <vt:lpstr>华文新魏</vt:lpstr>
      <vt:lpstr>思源黑体 CN Bold</vt:lpstr>
      <vt:lpstr>微软雅黑</vt:lpstr>
      <vt:lpstr>Arial</vt:lpstr>
      <vt:lpstr>Wingdings</vt:lpstr>
      <vt:lpstr>第一PPT，www.1ppt.com</vt:lpstr>
      <vt:lpstr>第一PPT，www.1ppt.com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春天主题</dc:title>
  <dc:creator>第一PPT</dc:creator>
  <cp:keywords>www.1ppt.com</cp:keywords>
  <dc:description>www.1ppt.com</dc:description>
  <cp:lastModifiedBy>PC</cp:lastModifiedBy>
  <cp:revision>19</cp:revision>
  <dcterms:created xsi:type="dcterms:W3CDTF">2025-02-14T14:06:00Z</dcterms:created>
  <dcterms:modified xsi:type="dcterms:W3CDTF">2026-08-06T01:43:57Z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E9D34DC293514B5CB1F7DACCD979EB9D_12</vt:lpwstr>
  </property>
  <property fmtid="{D5CDD505-2E9C-101B-9397-08002B2CF9AE}" pid="3" name="KSOProductBuildVer">
    <vt:lpwstr>2052-12.1.0.26375</vt:lpwstr>
  </property>
</Properties>
</file>